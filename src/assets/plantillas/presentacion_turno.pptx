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0" r:id="rId2"/>
  </p:sldMasterIdLst>
  <p:notesMasterIdLst>
    <p:notesMasterId r:id="rId34"/>
  </p:notesMasterIdLst>
  <p:sldIdLst>
    <p:sldId id="267" r:id="rId3"/>
    <p:sldId id="268" r:id="rId4"/>
    <p:sldId id="1680" r:id="rId5"/>
    <p:sldId id="1679" r:id="rId6"/>
    <p:sldId id="270" r:id="rId7"/>
    <p:sldId id="1664" r:id="rId8"/>
    <p:sldId id="1668" r:id="rId9"/>
    <p:sldId id="1667" r:id="rId10"/>
    <p:sldId id="1671" r:id="rId11"/>
    <p:sldId id="1672" r:id="rId12"/>
    <p:sldId id="1731" r:id="rId13"/>
    <p:sldId id="1734" r:id="rId14"/>
    <p:sldId id="1670" r:id="rId15"/>
    <p:sldId id="1676" r:id="rId16"/>
    <p:sldId id="1685" r:id="rId17"/>
    <p:sldId id="1691" r:id="rId18"/>
    <p:sldId id="1697" r:id="rId19"/>
    <p:sldId id="1732" r:id="rId20"/>
    <p:sldId id="1733" r:id="rId21"/>
    <p:sldId id="272" r:id="rId22"/>
    <p:sldId id="1713" r:id="rId23"/>
    <p:sldId id="274" r:id="rId24"/>
    <p:sldId id="1714" r:id="rId25"/>
    <p:sldId id="1715" r:id="rId26"/>
    <p:sldId id="1719" r:id="rId27"/>
    <p:sldId id="1721" r:id="rId28"/>
    <p:sldId id="1723" r:id="rId29"/>
    <p:sldId id="1720" r:id="rId30"/>
    <p:sldId id="1724" r:id="rId31"/>
    <p:sldId id="1722" r:id="rId32"/>
    <p:sldId id="366" r:id="rId33"/>
  </p:sldIdLst>
  <p:sldSz cx="12192000" cy="6858000"/>
  <p:notesSz cx="7104063" cy="10234613"/>
  <p:embeddedFontLst>
    <p:embeddedFont>
      <p:font typeface="ADLaM Display" panose="02010000000000000000" pitchFamily="2" charset="0"/>
      <p:regular r:id="rId35"/>
    </p:embeddedFont>
    <p:embeddedFont>
      <p:font typeface="Aptos Narrow" panose="020B0004020202020204" pitchFamily="34" charset="0"/>
      <p:regular r:id="rId36"/>
      <p:bold r:id="rId37"/>
      <p:italic r:id="rId38"/>
      <p:boldItalic r:id="rId39"/>
    </p:embeddedFont>
    <p:embeddedFont>
      <p:font typeface="Raleway" pitchFamily="2" charset="0"/>
      <p:regular r:id="rId40"/>
      <p:bold r:id="rId41"/>
      <p:italic r:id="rId42"/>
      <p:boldItalic r:id="rId43"/>
    </p:embeddedFont>
    <p:embeddedFont>
      <p:font typeface="Raleway Black" pitchFamily="2" charset="0"/>
      <p:bold r:id="rId44"/>
      <p:boldItalic r:id="rId45"/>
    </p:embeddedFont>
    <p:embeddedFont>
      <p:font typeface="Trebuchet MS" panose="020B0603020202020204" pitchFamily="34" charset="0"/>
      <p:regular r:id="rId46"/>
      <p:bold r:id="rId47"/>
      <p:italic r:id="rId48"/>
      <p:boldItalic r:id="rId49"/>
    </p:embeddedFont>
  </p:embeddedFontLst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 Slide" id="{C41E965D-1BB0-6E42-80C1-B0CE61D34D0F}">
          <p14:sldIdLst>
            <p14:sldId id="267"/>
          </p14:sldIdLst>
        </p14:section>
        <p14:section name="RESUMEN TURNOS" id="{2FE6B519-480C-434A-96D0-B06036B49864}">
          <p14:sldIdLst>
            <p14:sldId id="268"/>
            <p14:sldId id="1680"/>
            <p14:sldId id="1679"/>
          </p14:sldIdLst>
        </p14:section>
        <p14:section name="ACTIVIDADES DIARIAS" id="{DBB0F080-D76F-2449-A8A8-97428CE5CDE4}">
          <p14:sldIdLst>
            <p14:sldId id="270"/>
            <p14:sldId id="1664"/>
          </p14:sldIdLst>
        </p14:section>
        <p14:section name="Mantenimiento Preventivo" id="{C0FC1212-70F8-499D-A5A1-1AECFA75D0F8}">
          <p14:sldIdLst>
            <p14:sldId id="1668"/>
            <p14:sldId id="1667"/>
          </p14:sldIdLst>
        </p14:section>
        <p14:section name="REPORTABILIDAD" id="{0EE20D05-537A-4B50-9B8A-AC4069C25E74}">
          <p14:sldIdLst>
            <p14:sldId id="1671"/>
            <p14:sldId id="1672"/>
            <p14:sldId id="1731"/>
          </p14:sldIdLst>
        </p14:section>
        <p14:section name="DIFUSIONES" id="{663C72DC-B12D-4C31-88E5-BA5A135B2E35}">
          <p14:sldIdLst>
            <p14:sldId id="1734"/>
            <p14:sldId id="1670"/>
            <p14:sldId id="1676"/>
            <p14:sldId id="1685"/>
            <p14:sldId id="1691"/>
            <p14:sldId id="1697"/>
            <p14:sldId id="1732"/>
            <p14:sldId id="1733"/>
          </p14:sldIdLst>
        </p14:section>
        <p14:section name="MANTENIMIENTO GG" id="{D01103C6-D9B4-874A-903D-1D54C47D2E73}">
          <p14:sldIdLst>
            <p14:sldId id="272"/>
            <p14:sldId id="1713"/>
          </p14:sldIdLst>
        </p14:section>
        <p14:section name="AVANCES" id="{17ED8106-7472-CA40-A9D6-5927206203E6}">
          <p14:sldIdLst>
            <p14:sldId id="274"/>
            <p14:sldId id="1714"/>
            <p14:sldId id="1715"/>
          </p14:sldIdLst>
        </p14:section>
        <p14:section name="CPE" id="{7911C804-55D1-4777-8047-D6F6E12CFC8D}">
          <p14:sldIdLst>
            <p14:sldId id="1719"/>
            <p14:sldId id="1721"/>
          </p14:sldIdLst>
        </p14:section>
        <p14:section name="CPE DOCUMENTACION" id="{CB682FA2-4B36-4F95-A693-DD000D89DC4D}">
          <p14:sldIdLst>
            <p14:sldId id="1723"/>
            <p14:sldId id="1720"/>
          </p14:sldIdLst>
        </p14:section>
        <p14:section name="CPE OBSERVACIONES Y PRÓXIMOS PASOS" id="{CE686DF3-A404-4BF4-8439-3E22BA5D4CA5}">
          <p14:sldIdLst>
            <p14:sldId id="1724"/>
            <p14:sldId id="1722"/>
            <p14:sldId id="3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F42C"/>
    <a:srgbClr val="FF6E01"/>
    <a:srgbClr val="0F6FC6"/>
    <a:srgbClr val="EF8426"/>
    <a:srgbClr val="34B4D6"/>
    <a:srgbClr val="180928"/>
    <a:srgbClr val="12231D"/>
    <a:srgbClr val="101519"/>
    <a:srgbClr val="273E32"/>
    <a:srgbClr val="0D1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1616" autoAdjust="0"/>
  </p:normalViewPr>
  <p:slideViewPr>
    <p:cSldViewPr snapToGrid="0" snapToObjects="1">
      <p:cViewPr varScale="1">
        <p:scale>
          <a:sx n="101" d="100"/>
          <a:sy n="101" d="100"/>
        </p:scale>
        <p:origin x="990" y="72"/>
      </p:cViewPr>
      <p:guideLst>
        <p:guide orient="horz" pos="218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nes\OneDrive\Escritorio\PSINET\PRESENTACION%20TURNO\GRAFICO%203D\graficos_semanales_semana_m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anes\OneDrive\Escritorio\PSINET\CPE\DATOS_CPE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CUMPLIMIENTO POR DÍA – SEMANA (MIÉRCOLES A MARTES)</a:t>
            </a:r>
          </a:p>
        </c:rich>
      </c:tx>
      <c:layout>
        <c:manualLayout>
          <c:xMode val="edge"/>
          <c:yMode val="edge"/>
          <c:x val="0.2335691736242905"/>
          <c:y val="1.5338395809115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1854873181086715E-2"/>
          <c:y val="0.10361086369057505"/>
          <c:w val="0.77777717027189941"/>
          <c:h val="0.73007382357825445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Resumen_Semanal!$B$5</c:f>
              <c:strCache>
                <c:ptCount val="1"/>
                <c:pt idx="0">
                  <c:v>Mant. O&amp;M (solo planificados)</c:v>
                </c:pt>
              </c:strCache>
            </c:strRef>
          </c:tx>
          <c:spPr>
            <a:solidFill>
              <a:srgbClr val="00B0F0">
                <a:alpha val="78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40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Resumen_Semanal!$A$6:$A$12</c:f>
              <c:numCache>
                <c:formatCode>m/d/yyyy</c:formatCode>
                <c:ptCount val="7"/>
                <c:pt idx="0">
                  <c:v>46176</c:v>
                </c:pt>
                <c:pt idx="1">
                  <c:v>46177</c:v>
                </c:pt>
                <c:pt idx="2">
                  <c:v>46178</c:v>
                </c:pt>
                <c:pt idx="3">
                  <c:v>46179</c:v>
                </c:pt>
                <c:pt idx="4">
                  <c:v>46180</c:v>
                </c:pt>
                <c:pt idx="5">
                  <c:v>46181</c:v>
                </c:pt>
                <c:pt idx="6">
                  <c:v>46182</c:v>
                </c:pt>
              </c:numCache>
            </c:numRef>
          </c:cat>
          <c:val>
            <c:numRef>
              <c:f>Resumen_Semanal!$B$6:$B$12</c:f>
              <c:numCache>
                <c:formatCode>0%</c:formatCode>
                <c:ptCount val="7"/>
                <c:pt idx="0">
                  <c:v>1</c:v>
                </c:pt>
                <c:pt idx="1">
                  <c:v>0.5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6E-4A8A-9C56-1511BCB228E7}"/>
            </c:ext>
          </c:extLst>
        </c:ser>
        <c:ser>
          <c:idx val="1"/>
          <c:order val="1"/>
          <c:tx>
            <c:strRef>
              <c:f>Resumen_Semanal!$C$5</c:f>
              <c:strCache>
                <c:ptCount val="1"/>
                <c:pt idx="0">
                  <c:v>Reportabilidad (todos)</c:v>
                </c:pt>
              </c:strCache>
            </c:strRef>
          </c:tx>
          <c:spPr>
            <a:solidFill>
              <a:srgbClr val="FF6E01">
                <a:alpha val="85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numRef>
              <c:f>Resumen_Semanal!$A$6:$A$12</c:f>
              <c:numCache>
                <c:formatCode>m/d/yyyy</c:formatCode>
                <c:ptCount val="7"/>
                <c:pt idx="0">
                  <c:v>46176</c:v>
                </c:pt>
                <c:pt idx="1">
                  <c:v>46177</c:v>
                </c:pt>
                <c:pt idx="2">
                  <c:v>46178</c:v>
                </c:pt>
                <c:pt idx="3">
                  <c:v>46179</c:v>
                </c:pt>
                <c:pt idx="4">
                  <c:v>46180</c:v>
                </c:pt>
                <c:pt idx="5">
                  <c:v>46181</c:v>
                </c:pt>
                <c:pt idx="6">
                  <c:v>46182</c:v>
                </c:pt>
              </c:numCache>
            </c:numRef>
          </c:cat>
          <c:val>
            <c:numRef>
              <c:f>Resumen_Semanal!$C$6:$C$12</c:f>
              <c:numCache>
                <c:formatCode>0%</c:formatCode>
                <c:ptCount val="7"/>
                <c:pt idx="0">
                  <c:v>0.92307692307692313</c:v>
                </c:pt>
                <c:pt idx="1">
                  <c:v>0.92307692307692313</c:v>
                </c:pt>
                <c:pt idx="2">
                  <c:v>0.92307692307692313</c:v>
                </c:pt>
                <c:pt idx="3">
                  <c:v>0.92307692307692313</c:v>
                </c:pt>
                <c:pt idx="4">
                  <c:v>0.69230769230769229</c:v>
                </c:pt>
                <c:pt idx="5">
                  <c:v>0.84615384615384615</c:v>
                </c:pt>
                <c:pt idx="6">
                  <c:v>0.53846153846153844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6E-4A8A-9C56-1511BCB228E7}"/>
            </c:ext>
          </c:extLst>
        </c:ser>
        <c:ser>
          <c:idx val="2"/>
          <c:order val="2"/>
          <c:tx>
            <c:strRef>
              <c:f>Resumen_Semanal!$D$5</c:f>
              <c:strCache>
                <c:ptCount val="1"/>
                <c:pt idx="0">
                  <c:v>Mant. GG (solo planificados)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2-233D-4B25-B48C-1FA08EA24891}"/>
              </c:ext>
            </c:extLst>
          </c:dPt>
          <c:dPt>
            <c:idx val="5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233D-4B25-B48C-1FA08EA24891}"/>
              </c:ext>
            </c:extLst>
          </c:dPt>
          <c:dPt>
            <c:idx val="6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8F6E-4A8A-9C56-1511BCB228E7}"/>
              </c:ext>
            </c:extLst>
          </c:dPt>
          <c:cat>
            <c:numRef>
              <c:f>Resumen_Semanal!$A$6:$A$12</c:f>
              <c:numCache>
                <c:formatCode>m/d/yyyy</c:formatCode>
                <c:ptCount val="7"/>
                <c:pt idx="0">
                  <c:v>46176</c:v>
                </c:pt>
                <c:pt idx="1">
                  <c:v>46177</c:v>
                </c:pt>
                <c:pt idx="2">
                  <c:v>46178</c:v>
                </c:pt>
                <c:pt idx="3">
                  <c:v>46179</c:v>
                </c:pt>
                <c:pt idx="4">
                  <c:v>46180</c:v>
                </c:pt>
                <c:pt idx="5">
                  <c:v>46181</c:v>
                </c:pt>
                <c:pt idx="6">
                  <c:v>46182</c:v>
                </c:pt>
              </c:numCache>
            </c:numRef>
          </c:cat>
          <c:val>
            <c:numRef>
              <c:f>Resumen_Semanal!$D$6:$D$12</c:f>
              <c:numCache>
                <c:formatCode>0%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6E-4A8A-9C56-1511BCB228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"/>
        <c:gapDepth val="158"/>
        <c:shape val="box"/>
        <c:axId val="50010001"/>
        <c:axId val="50010002"/>
        <c:axId val="1384887616"/>
      </c:bar3DChart>
      <c:dateAx>
        <c:axId val="5001000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Día</a:t>
                </a:r>
              </a:p>
            </c:rich>
          </c:tx>
          <c:layout>
            <c:manualLayout>
              <c:xMode val="edge"/>
              <c:yMode val="edge"/>
              <c:x val="3.7763132404296851E-2"/>
              <c:y val="0.662203557888597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0010002"/>
        <c:crossesAt val="0"/>
        <c:auto val="1"/>
        <c:lblOffset val="100"/>
        <c:baseTimeUnit val="days"/>
      </c:dateAx>
      <c:valAx>
        <c:axId val="50010002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Porcentaje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0010001"/>
        <c:crosses val="autoZero"/>
        <c:crossBetween val="between"/>
        <c:majorUnit val="0.2"/>
      </c:valAx>
      <c:serAx>
        <c:axId val="13848876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0010002"/>
        <c:crossesAt val="0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[DATOS_CPE.xlsx]CPE!TablaDinámica2</c:name>
    <c:fmtId val="38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CPE!$D$87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01600" prst="ribl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CPE!$C$88:$C$98</c:f>
              <c:strCache>
                <c:ptCount val="10"/>
                <c:pt idx="0">
                  <c:v>ALJIBE</c:v>
                </c:pt>
                <c:pt idx="1">
                  <c:v>BULLDOZER</c:v>
                </c:pt>
                <c:pt idx="2">
                  <c:v>CAEX</c:v>
                </c:pt>
                <c:pt idx="3">
                  <c:v>CARGADOR FRONTAL </c:v>
                </c:pt>
                <c:pt idx="4">
                  <c:v>EXCAVADORA</c:v>
                </c:pt>
                <c:pt idx="5">
                  <c:v>HEXAGON TEST</c:v>
                </c:pt>
                <c:pt idx="6">
                  <c:v>MOTONIVELADORA</c:v>
                </c:pt>
                <c:pt idx="7">
                  <c:v>PALA</c:v>
                </c:pt>
                <c:pt idx="8">
                  <c:v>PERFORADORA</c:v>
                </c:pt>
                <c:pt idx="9">
                  <c:v>WHEELDOZER</c:v>
                </c:pt>
              </c:strCache>
            </c:strRef>
          </c:cat>
          <c:val>
            <c:numRef>
              <c:f>CPE!$D$88:$D$98</c:f>
              <c:numCache>
                <c:formatCode>General</c:formatCode>
                <c:ptCount val="10"/>
                <c:pt idx="0">
                  <c:v>2</c:v>
                </c:pt>
                <c:pt idx="1">
                  <c:v>6</c:v>
                </c:pt>
                <c:pt idx="2">
                  <c:v>44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E9-446A-939B-BA6F36E8E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37716271"/>
        <c:axId val="2037716751"/>
      </c:barChart>
      <c:valAx>
        <c:axId val="20377167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 dirty="0"/>
                  <a:t>CANTIDAD DE EQUIPO</a:t>
                </a:r>
                <a:r>
                  <a:rPr lang="es-CL" baseline="0" dirty="0"/>
                  <a:t> MINERO</a:t>
                </a:r>
                <a:endParaRPr lang="es-CL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2037716271"/>
        <c:crosses val="autoZero"/>
        <c:crossBetween val="between"/>
      </c:valAx>
      <c:catAx>
        <c:axId val="203771627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 dirty="0"/>
                  <a:t>NOMBRE DE EQUIPO</a:t>
                </a:r>
                <a:r>
                  <a:rPr lang="es-CL" baseline="0" dirty="0"/>
                  <a:t> MINERO</a:t>
                </a:r>
                <a:endParaRPr lang="es-CL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20377167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CL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Hoja2!$C$1</c:f>
              <c:strCache>
                <c:ptCount val="1"/>
                <c:pt idx="0">
                  <c:v>Desinstalados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Hoja2!$A$2:$A$4</c:f>
              <c:strCache>
                <c:ptCount val="3"/>
                <c:pt idx="0">
                  <c:v>CAEX</c:v>
                </c:pt>
                <c:pt idx="1">
                  <c:v>PALA</c:v>
                </c:pt>
                <c:pt idx="2">
                  <c:v>PERFO</c:v>
                </c:pt>
              </c:strCache>
            </c:strRef>
          </c:cat>
          <c:val>
            <c:numRef>
              <c:f>Hoja2!$C$2:$C$4</c:f>
              <c:numCache>
                <c:formatCode>General</c:formatCode>
                <c:ptCount val="3"/>
                <c:pt idx="0">
                  <c:v>12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E9-4B75-A400-B6E89E64A189}"/>
            </c:ext>
          </c:extLst>
        </c:ser>
        <c:ser>
          <c:idx val="1"/>
          <c:order val="1"/>
          <c:tx>
            <c:strRef>
              <c:f>Hoja2!$D$1</c:f>
              <c:strCache>
                <c:ptCount val="1"/>
                <c:pt idx="0">
                  <c:v>Pendientes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Hoja2!$A$2:$A$4</c:f>
              <c:strCache>
                <c:ptCount val="3"/>
                <c:pt idx="0">
                  <c:v>CAEX</c:v>
                </c:pt>
                <c:pt idx="1">
                  <c:v>PALA</c:v>
                </c:pt>
                <c:pt idx="2">
                  <c:v>PERFO</c:v>
                </c:pt>
              </c:strCache>
            </c:strRef>
          </c:cat>
          <c:val>
            <c:numRef>
              <c:f>Hoja2!$D$2:$D$4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E9-4B75-A400-B6E89E64A1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982195407"/>
        <c:axId val="1982195887"/>
      </c:barChart>
      <c:lineChart>
        <c:grouping val="standard"/>
        <c:varyColors val="0"/>
        <c:ser>
          <c:idx val="2"/>
          <c:order val="2"/>
          <c:tx>
            <c:strRef>
              <c:f>Hoja2!$E$1</c:f>
              <c:strCache>
                <c:ptCount val="1"/>
                <c:pt idx="0">
                  <c:v>% Desinstalación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numRef>
              <c:f>Hoja2!$E$2:$E$4</c:f>
              <c:numCache>
                <c:formatCode>0%</c:formatCode>
                <c:ptCount val="3"/>
                <c:pt idx="0">
                  <c:v>1</c:v>
                </c:pt>
                <c:pt idx="1">
                  <c:v>0.66666666666666663</c:v>
                </c:pt>
                <c:pt idx="2">
                  <c:v>1</c:v>
                </c:pt>
              </c:numCache>
            </c:numRef>
          </c:cat>
          <c:val>
            <c:numRef>
              <c:f>Hoja2!$E$2:$E$4</c:f>
              <c:numCache>
                <c:formatCode>0%</c:formatCode>
                <c:ptCount val="3"/>
                <c:pt idx="0">
                  <c:v>1</c:v>
                </c:pt>
                <c:pt idx="1">
                  <c:v>0.66666666666666663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9E9-4B75-A400-B6E89E64A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3764543"/>
        <c:axId val="323769823"/>
      </c:lineChart>
      <c:catAx>
        <c:axId val="198219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982195887"/>
        <c:crosses val="autoZero"/>
        <c:auto val="1"/>
        <c:lblAlgn val="ctr"/>
        <c:lblOffset val="100"/>
        <c:noMultiLvlLbl val="0"/>
      </c:catAx>
      <c:valAx>
        <c:axId val="1982195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982195407"/>
        <c:crosses val="autoZero"/>
        <c:crossBetween val="between"/>
      </c:valAx>
      <c:valAx>
        <c:axId val="323769823"/>
        <c:scaling>
          <c:orientation val="minMax"/>
          <c:max val="1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323764543"/>
        <c:crosses val="max"/>
        <c:crossBetween val="between"/>
      </c:valAx>
      <c:catAx>
        <c:axId val="323764543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323769823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CL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HISTORIAL DE FALLAS CPE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Hoja3!$B$1</c:f>
              <c:strCache>
                <c:ptCount val="1"/>
                <c:pt idx="0">
                  <c:v>Energía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Hoja3!$A$2:$A$10</c:f>
              <c:numCache>
                <c:formatCode>mmm\-yy</c:formatCode>
                <c:ptCount val="9"/>
                <c:pt idx="0">
                  <c:v>45474</c:v>
                </c:pt>
                <c:pt idx="1">
                  <c:v>45870</c:v>
                </c:pt>
                <c:pt idx="2">
                  <c:v>45717</c:v>
                </c:pt>
                <c:pt idx="3">
                  <c:v>45839</c:v>
                </c:pt>
                <c:pt idx="4">
                  <c:v>45901</c:v>
                </c:pt>
                <c:pt idx="5">
                  <c:v>45931</c:v>
                </c:pt>
                <c:pt idx="6">
                  <c:v>45962</c:v>
                </c:pt>
                <c:pt idx="7">
                  <c:v>46082</c:v>
                </c:pt>
                <c:pt idx="8">
                  <c:v>46143</c:v>
                </c:pt>
              </c:numCache>
            </c:numRef>
          </c:cat>
          <c:val>
            <c:numRef>
              <c:f>Hoja3!$B$2:$B$10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C-49BD-A2BC-043AEEBBE651}"/>
            </c:ext>
          </c:extLst>
        </c:ser>
        <c:ser>
          <c:idx val="1"/>
          <c:order val="1"/>
          <c:tx>
            <c:strRef>
              <c:f>Hoja3!$C$1</c:f>
              <c:strCache>
                <c:ptCount val="1"/>
                <c:pt idx="0">
                  <c:v>Conectividad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Hoja3!$A$2:$A$10</c:f>
              <c:numCache>
                <c:formatCode>mmm\-yy</c:formatCode>
                <c:ptCount val="9"/>
                <c:pt idx="0">
                  <c:v>45474</c:v>
                </c:pt>
                <c:pt idx="1">
                  <c:v>45870</c:v>
                </c:pt>
                <c:pt idx="2">
                  <c:v>45717</c:v>
                </c:pt>
                <c:pt idx="3">
                  <c:v>45839</c:v>
                </c:pt>
                <c:pt idx="4">
                  <c:v>45901</c:v>
                </c:pt>
                <c:pt idx="5">
                  <c:v>45931</c:v>
                </c:pt>
                <c:pt idx="6">
                  <c:v>45962</c:v>
                </c:pt>
                <c:pt idx="7">
                  <c:v>46082</c:v>
                </c:pt>
                <c:pt idx="8">
                  <c:v>46143</c:v>
                </c:pt>
              </c:numCache>
            </c:numRef>
          </c:cat>
          <c:val>
            <c:numRef>
              <c:f>Hoja3!$C$2:$C$10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C-49BD-A2BC-043AEEBBE651}"/>
            </c:ext>
          </c:extLst>
        </c:ser>
        <c:ser>
          <c:idx val="2"/>
          <c:order val="2"/>
          <c:tx>
            <c:strRef>
              <c:f>Hoja3!$D$1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Hoja3!$A$2:$A$10</c:f>
              <c:numCache>
                <c:formatCode>mmm\-yy</c:formatCode>
                <c:ptCount val="9"/>
                <c:pt idx="0">
                  <c:v>45474</c:v>
                </c:pt>
                <c:pt idx="1">
                  <c:v>45870</c:v>
                </c:pt>
                <c:pt idx="2">
                  <c:v>45717</c:v>
                </c:pt>
                <c:pt idx="3">
                  <c:v>45839</c:v>
                </c:pt>
                <c:pt idx="4">
                  <c:v>45901</c:v>
                </c:pt>
                <c:pt idx="5">
                  <c:v>45931</c:v>
                </c:pt>
                <c:pt idx="6">
                  <c:v>45962</c:v>
                </c:pt>
                <c:pt idx="7">
                  <c:v>46082</c:v>
                </c:pt>
                <c:pt idx="8">
                  <c:v>46143</c:v>
                </c:pt>
              </c:numCache>
            </c:numRef>
          </c:cat>
          <c:val>
            <c:numRef>
              <c:f>Hoja3!$D$2:$D$10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FC-49BD-A2BC-043AEEBBE651}"/>
            </c:ext>
          </c:extLst>
        </c:ser>
        <c:ser>
          <c:idx val="3"/>
          <c:order val="3"/>
          <c:tx>
            <c:strRef>
              <c:f>Hoja3!$E$1</c:f>
              <c:strCache>
                <c:ptCount val="1"/>
                <c:pt idx="0">
                  <c:v>Otros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Hoja3!$A$2:$A$10</c:f>
              <c:numCache>
                <c:formatCode>mmm\-yy</c:formatCode>
                <c:ptCount val="9"/>
                <c:pt idx="0">
                  <c:v>45474</c:v>
                </c:pt>
                <c:pt idx="1">
                  <c:v>45870</c:v>
                </c:pt>
                <c:pt idx="2">
                  <c:v>45717</c:v>
                </c:pt>
                <c:pt idx="3">
                  <c:v>45839</c:v>
                </c:pt>
                <c:pt idx="4">
                  <c:v>45901</c:v>
                </c:pt>
                <c:pt idx="5">
                  <c:v>45931</c:v>
                </c:pt>
                <c:pt idx="6">
                  <c:v>45962</c:v>
                </c:pt>
                <c:pt idx="7">
                  <c:v>46082</c:v>
                </c:pt>
                <c:pt idx="8">
                  <c:v>46143</c:v>
                </c:pt>
              </c:numCache>
            </c:numRef>
          </c:cat>
          <c:val>
            <c:numRef>
              <c:f>Hoja3!$E$2:$E$10</c:f>
              <c:numCache>
                <c:formatCode>General</c:formatCode>
                <c:ptCount val="9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EFC-49BD-A2BC-043AEEBBE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393903"/>
        <c:axId val="155391983"/>
      </c:barChart>
      <c:dateAx>
        <c:axId val="155393903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55391983"/>
        <c:crosses val="autoZero"/>
        <c:auto val="1"/>
        <c:lblOffset val="100"/>
        <c:baseTimeUnit val="months"/>
      </c:dateAx>
      <c:valAx>
        <c:axId val="155391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55393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s-CL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92D075-EA37-427A-A8DA-DEF5A1DDC574}" type="doc">
      <dgm:prSet loTypeId="urn:microsoft.com/office/officeart/2005/8/layout/process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CL"/>
        </a:p>
      </dgm:t>
    </dgm:pt>
    <dgm:pt modelId="{C98D81BA-5759-4042-9FA1-6C7FD18E98A1}">
      <dgm:prSet phldrT="[Texto]" phldr="0"/>
      <dgm:spPr/>
      <dgm:t>
        <a:bodyPr/>
        <a:lstStyle/>
        <a:p>
          <a:r>
            <a:rPr lang="es-CL" dirty="0"/>
            <a:t>INDICADORES </a:t>
          </a:r>
        </a:p>
      </dgm:t>
    </dgm:pt>
    <dgm:pt modelId="{7F1A8421-797B-48DD-A97C-B6B6FE442105}" type="parTrans" cxnId="{E232225B-617F-4ACF-B395-81BCF0F77609}">
      <dgm:prSet/>
      <dgm:spPr/>
      <dgm:t>
        <a:bodyPr/>
        <a:lstStyle/>
        <a:p>
          <a:endParaRPr lang="es-CL"/>
        </a:p>
      </dgm:t>
    </dgm:pt>
    <dgm:pt modelId="{1119225C-6AA5-4EED-9345-7B0B342E4C62}" type="sibTrans" cxnId="{E232225B-617F-4ACF-B395-81BCF0F77609}">
      <dgm:prSet/>
      <dgm:spPr/>
      <dgm:t>
        <a:bodyPr/>
        <a:lstStyle/>
        <a:p>
          <a:endParaRPr lang="es-CL"/>
        </a:p>
      </dgm:t>
    </dgm:pt>
    <dgm:pt modelId="{4449E83F-AAC4-4FB6-BEB3-474341E5894D}">
      <dgm:prSet phldrT="[Texto]" phldr="0" custT="1"/>
      <dgm:spPr/>
      <dgm:t>
        <a:bodyPr/>
        <a:lstStyle/>
        <a:p>
          <a:r>
            <a:rPr lang="es-CL" sz="1050" b="1" dirty="0"/>
            <a:t>FALLAS ATENDIDAS</a:t>
          </a:r>
        </a:p>
      </dgm:t>
    </dgm:pt>
    <dgm:pt modelId="{400F4747-22FC-4EFA-9DB4-CE3234FC44DB}" type="parTrans" cxnId="{2DC94697-481B-44A4-B822-99AE5182DEB5}">
      <dgm:prSet/>
      <dgm:spPr/>
      <dgm:t>
        <a:bodyPr/>
        <a:lstStyle/>
        <a:p>
          <a:endParaRPr lang="es-CL"/>
        </a:p>
      </dgm:t>
    </dgm:pt>
    <dgm:pt modelId="{F4EF5A71-A393-4B1B-96A0-7019A2E93553}" type="sibTrans" cxnId="{2DC94697-481B-44A4-B822-99AE5182DEB5}">
      <dgm:prSet/>
      <dgm:spPr/>
      <dgm:t>
        <a:bodyPr/>
        <a:lstStyle/>
        <a:p>
          <a:endParaRPr lang="es-CL"/>
        </a:p>
      </dgm:t>
    </dgm:pt>
    <dgm:pt modelId="{4640EF4C-51EE-4A90-A08C-CBB8FB5A33AB}">
      <dgm:prSet phldrT="[Texto]" phldr="0" custT="1"/>
      <dgm:spPr/>
      <dgm:t>
        <a:bodyPr/>
        <a:lstStyle/>
        <a:p>
          <a:r>
            <a:rPr lang="es-CL" sz="1050" b="1" dirty="0"/>
            <a:t>16</a:t>
          </a:r>
        </a:p>
      </dgm:t>
    </dgm:pt>
    <dgm:pt modelId="{B8291A44-998B-4632-B30A-A5BC162F12E5}" type="parTrans" cxnId="{F929A5C7-640E-4018-83AC-96FFB81D5625}">
      <dgm:prSet/>
      <dgm:spPr/>
      <dgm:t>
        <a:bodyPr/>
        <a:lstStyle/>
        <a:p>
          <a:endParaRPr lang="es-CL"/>
        </a:p>
      </dgm:t>
    </dgm:pt>
    <dgm:pt modelId="{55830217-B48B-44BF-B987-DE406C90E663}" type="sibTrans" cxnId="{F929A5C7-640E-4018-83AC-96FFB81D5625}">
      <dgm:prSet/>
      <dgm:spPr/>
      <dgm:t>
        <a:bodyPr/>
        <a:lstStyle/>
        <a:p>
          <a:endParaRPr lang="es-CL"/>
        </a:p>
      </dgm:t>
    </dgm:pt>
    <dgm:pt modelId="{EC20E03B-E553-49C9-B50B-8A323D867879}">
      <dgm:prSet phldrT="[Texto]" phldr="0" custT="1"/>
      <dgm:spPr/>
      <dgm:t>
        <a:bodyPr/>
        <a:lstStyle/>
        <a:p>
          <a:r>
            <a:rPr lang="es-CL" sz="1050" b="1" dirty="0">
              <a:solidFill>
                <a:srgbClr val="0F6FC6"/>
              </a:solidFill>
            </a:rPr>
            <a:t>.</a:t>
          </a:r>
        </a:p>
      </dgm:t>
    </dgm:pt>
    <dgm:pt modelId="{64651949-EA11-4DB5-BCE5-0402A32BBF6D}" type="parTrans" cxnId="{B62DA7C4-49AB-42E2-B40B-B3B52384AB80}">
      <dgm:prSet/>
      <dgm:spPr/>
      <dgm:t>
        <a:bodyPr/>
        <a:lstStyle/>
        <a:p>
          <a:endParaRPr lang="es-CL"/>
        </a:p>
      </dgm:t>
    </dgm:pt>
    <dgm:pt modelId="{D80C6CCD-C3E3-45DA-A61E-16C5BCAE5848}" type="sibTrans" cxnId="{B62DA7C4-49AB-42E2-B40B-B3B52384AB80}">
      <dgm:prSet/>
      <dgm:spPr/>
      <dgm:t>
        <a:bodyPr/>
        <a:lstStyle/>
        <a:p>
          <a:endParaRPr lang="es-CL"/>
        </a:p>
      </dgm:t>
    </dgm:pt>
    <dgm:pt modelId="{920CAFC2-152D-4217-A2C1-0891C3BF6063}">
      <dgm:prSet phldrT="[Texto]" phldr="0" custT="1"/>
      <dgm:spPr/>
      <dgm:t>
        <a:bodyPr/>
        <a:lstStyle/>
        <a:p>
          <a:r>
            <a:rPr lang="es-CL" sz="1050" b="1" dirty="0"/>
            <a:t>0</a:t>
          </a:r>
        </a:p>
      </dgm:t>
    </dgm:pt>
    <dgm:pt modelId="{04609955-DFB8-4C4E-86FE-B8A9B43B4CB7}" type="parTrans" cxnId="{37FEC896-25F8-493D-87F4-05C2939D40E6}">
      <dgm:prSet/>
      <dgm:spPr/>
      <dgm:t>
        <a:bodyPr/>
        <a:lstStyle/>
        <a:p>
          <a:endParaRPr lang="es-CL"/>
        </a:p>
      </dgm:t>
    </dgm:pt>
    <dgm:pt modelId="{CBA26FFD-756C-48C4-89A9-F54F79D0180A}" type="sibTrans" cxnId="{37FEC896-25F8-493D-87F4-05C2939D40E6}">
      <dgm:prSet/>
      <dgm:spPr/>
      <dgm:t>
        <a:bodyPr/>
        <a:lstStyle/>
        <a:p>
          <a:endParaRPr lang="es-CL"/>
        </a:p>
      </dgm:t>
    </dgm:pt>
    <dgm:pt modelId="{AD1C9877-BC16-4789-81E1-1D05455E7F84}">
      <dgm:prSet phldrT="[Texto]" phldr="0" custT="1"/>
      <dgm:spPr/>
      <dgm:t>
        <a:bodyPr/>
        <a:lstStyle/>
        <a:p>
          <a:r>
            <a:rPr lang="es-CL" sz="1050" b="1" dirty="0">
              <a:solidFill>
                <a:srgbClr val="0F6FC6"/>
              </a:solidFill>
            </a:rPr>
            <a:t>.</a:t>
          </a:r>
        </a:p>
      </dgm:t>
    </dgm:pt>
    <dgm:pt modelId="{2BB3C67A-1EEB-43E0-95D0-29D39C54B308}" type="parTrans" cxnId="{1053472D-FEA9-498A-80AA-D732ECFEFC77}">
      <dgm:prSet/>
      <dgm:spPr/>
      <dgm:t>
        <a:bodyPr/>
        <a:lstStyle/>
        <a:p>
          <a:endParaRPr lang="es-CL"/>
        </a:p>
      </dgm:t>
    </dgm:pt>
    <dgm:pt modelId="{1FC2FEBB-84D3-489E-8A43-D7461ECB861B}" type="sibTrans" cxnId="{1053472D-FEA9-498A-80AA-D732ECFEFC77}">
      <dgm:prSet/>
      <dgm:spPr/>
      <dgm:t>
        <a:bodyPr/>
        <a:lstStyle/>
        <a:p>
          <a:endParaRPr lang="es-CL"/>
        </a:p>
      </dgm:t>
    </dgm:pt>
    <dgm:pt modelId="{A100612E-95AB-4010-A7CC-BFC336EB4008}">
      <dgm:prSet phldrT="[Texto]" phldr="0" custT="1"/>
      <dgm:spPr/>
      <dgm:t>
        <a:bodyPr/>
        <a:lstStyle/>
        <a:p>
          <a:r>
            <a:rPr lang="es-CL" sz="1050" b="1" dirty="0"/>
            <a:t>1H 45 MIN</a:t>
          </a:r>
        </a:p>
      </dgm:t>
    </dgm:pt>
    <dgm:pt modelId="{76847032-0206-48E8-B18A-02A1FC5CE751}" type="parTrans" cxnId="{6524354C-A726-488B-B09E-39E6A9F2418A}">
      <dgm:prSet/>
      <dgm:spPr/>
      <dgm:t>
        <a:bodyPr/>
        <a:lstStyle/>
        <a:p>
          <a:endParaRPr lang="es-CL"/>
        </a:p>
      </dgm:t>
    </dgm:pt>
    <dgm:pt modelId="{8CE0DB7B-DEA9-4BDA-8297-3FAB3AB48F63}" type="sibTrans" cxnId="{6524354C-A726-488B-B09E-39E6A9F2418A}">
      <dgm:prSet/>
      <dgm:spPr/>
      <dgm:t>
        <a:bodyPr/>
        <a:lstStyle/>
        <a:p>
          <a:endParaRPr lang="es-CL"/>
        </a:p>
      </dgm:t>
    </dgm:pt>
    <dgm:pt modelId="{80C6ABAB-7EBA-487C-9C15-4FA6BCB14A30}">
      <dgm:prSet phldrT="[Texto]" phldr="0" custT="1"/>
      <dgm:spPr/>
      <dgm:t>
        <a:bodyPr/>
        <a:lstStyle/>
        <a:p>
          <a:r>
            <a:rPr lang="es-CL" sz="1050" b="1" dirty="0"/>
            <a:t>FALLAS PENDIENTES</a:t>
          </a:r>
        </a:p>
      </dgm:t>
    </dgm:pt>
    <dgm:pt modelId="{976C1BDC-F03C-42F8-9CA5-3EFC8ACAD164}" type="parTrans" cxnId="{98EF2F53-A382-4FDE-AAF1-9A1A3187E90F}">
      <dgm:prSet/>
      <dgm:spPr/>
      <dgm:t>
        <a:bodyPr/>
        <a:lstStyle/>
        <a:p>
          <a:endParaRPr lang="es-CL"/>
        </a:p>
      </dgm:t>
    </dgm:pt>
    <dgm:pt modelId="{4B9E5C1A-1F3D-4C11-9977-4488D3EBCF0F}" type="sibTrans" cxnId="{98EF2F53-A382-4FDE-AAF1-9A1A3187E90F}">
      <dgm:prSet/>
      <dgm:spPr/>
      <dgm:t>
        <a:bodyPr/>
        <a:lstStyle/>
        <a:p>
          <a:endParaRPr lang="es-CL"/>
        </a:p>
      </dgm:t>
    </dgm:pt>
    <dgm:pt modelId="{17905D2D-831D-48DE-B616-F9ADFB34C869}">
      <dgm:prSet phldrT="[Texto]" phldr="0" custT="1"/>
      <dgm:spPr/>
      <dgm:t>
        <a:bodyPr/>
        <a:lstStyle/>
        <a:p>
          <a:r>
            <a:rPr lang="es-CL" sz="1050" b="1" dirty="0"/>
            <a:t>PROMEDIO DE RESPUESTA</a:t>
          </a:r>
        </a:p>
      </dgm:t>
    </dgm:pt>
    <dgm:pt modelId="{885A07F5-C550-4F60-89E5-79A0F71BB57D}" type="parTrans" cxnId="{5985AE57-7C04-4359-80D2-3DCCDD00F2ED}">
      <dgm:prSet/>
      <dgm:spPr/>
      <dgm:t>
        <a:bodyPr/>
        <a:lstStyle/>
        <a:p>
          <a:endParaRPr lang="es-CL"/>
        </a:p>
      </dgm:t>
    </dgm:pt>
    <dgm:pt modelId="{636A4E84-9A28-4CC2-9DB7-4A62A035DCB7}" type="sibTrans" cxnId="{5985AE57-7C04-4359-80D2-3DCCDD00F2ED}">
      <dgm:prSet/>
      <dgm:spPr/>
      <dgm:t>
        <a:bodyPr/>
        <a:lstStyle/>
        <a:p>
          <a:endParaRPr lang="es-CL"/>
        </a:p>
      </dgm:t>
    </dgm:pt>
    <dgm:pt modelId="{A44F6BD0-6419-41CB-8F74-F44369B4A799}" type="pres">
      <dgm:prSet presAssocID="{0792D075-EA37-427A-A8DA-DEF5A1DDC574}" presName="Name0" presStyleCnt="0">
        <dgm:presLayoutVars>
          <dgm:dir/>
          <dgm:animLvl val="lvl"/>
          <dgm:resizeHandles val="exact"/>
        </dgm:presLayoutVars>
      </dgm:prSet>
      <dgm:spPr/>
    </dgm:pt>
    <dgm:pt modelId="{1C108E6B-8CF8-4E48-BC63-F28B550DB274}" type="pres">
      <dgm:prSet presAssocID="{AD1C9877-BC16-4789-81E1-1D05455E7F84}" presName="boxAndChildren" presStyleCnt="0"/>
      <dgm:spPr/>
    </dgm:pt>
    <dgm:pt modelId="{6EF6B43F-19D7-4524-8F8F-85AE339EFCD0}" type="pres">
      <dgm:prSet presAssocID="{AD1C9877-BC16-4789-81E1-1D05455E7F84}" presName="parentTextBox" presStyleLbl="node1" presStyleIdx="0" presStyleCnt="3"/>
      <dgm:spPr/>
    </dgm:pt>
    <dgm:pt modelId="{4F0AB2AA-4135-495D-80C6-F2F1CB3987B0}" type="pres">
      <dgm:prSet presAssocID="{AD1C9877-BC16-4789-81E1-1D05455E7F84}" presName="entireBox" presStyleLbl="node1" presStyleIdx="0" presStyleCnt="3"/>
      <dgm:spPr/>
    </dgm:pt>
    <dgm:pt modelId="{802391D7-1291-4AFC-A024-4174852EC039}" type="pres">
      <dgm:prSet presAssocID="{AD1C9877-BC16-4789-81E1-1D05455E7F84}" presName="descendantBox" presStyleCnt="0"/>
      <dgm:spPr/>
    </dgm:pt>
    <dgm:pt modelId="{C71AAB09-4778-47A1-8BA2-6A918A70B97E}" type="pres">
      <dgm:prSet presAssocID="{17905D2D-831D-48DE-B616-F9ADFB34C869}" presName="childTextBox" presStyleLbl="fgAccFollowNode1" presStyleIdx="0" presStyleCnt="6">
        <dgm:presLayoutVars>
          <dgm:bulletEnabled val="1"/>
        </dgm:presLayoutVars>
      </dgm:prSet>
      <dgm:spPr/>
    </dgm:pt>
    <dgm:pt modelId="{664A2E4F-B401-4422-B801-38F05853C704}" type="pres">
      <dgm:prSet presAssocID="{A100612E-95AB-4010-A7CC-BFC336EB4008}" presName="childTextBox" presStyleLbl="fgAccFollowNode1" presStyleIdx="1" presStyleCnt="6">
        <dgm:presLayoutVars>
          <dgm:bulletEnabled val="1"/>
        </dgm:presLayoutVars>
      </dgm:prSet>
      <dgm:spPr/>
    </dgm:pt>
    <dgm:pt modelId="{19AFE87B-A835-4C90-934F-8414CD542B99}" type="pres">
      <dgm:prSet presAssocID="{D80C6CCD-C3E3-45DA-A61E-16C5BCAE5848}" presName="sp" presStyleCnt="0"/>
      <dgm:spPr/>
    </dgm:pt>
    <dgm:pt modelId="{701FDEEC-953A-4003-96A7-88C19198D951}" type="pres">
      <dgm:prSet presAssocID="{EC20E03B-E553-49C9-B50B-8A323D867879}" presName="arrowAndChildren" presStyleCnt="0"/>
      <dgm:spPr/>
    </dgm:pt>
    <dgm:pt modelId="{BB90E7DF-6C99-42E3-9C89-1D6FE1151D26}" type="pres">
      <dgm:prSet presAssocID="{EC20E03B-E553-49C9-B50B-8A323D867879}" presName="parentTextArrow" presStyleLbl="node1" presStyleIdx="0" presStyleCnt="3"/>
      <dgm:spPr/>
    </dgm:pt>
    <dgm:pt modelId="{8BA995DE-4990-4DD2-81F0-608D2E70E4D8}" type="pres">
      <dgm:prSet presAssocID="{EC20E03B-E553-49C9-B50B-8A323D867879}" presName="arrow" presStyleLbl="node1" presStyleIdx="1" presStyleCnt="3"/>
      <dgm:spPr/>
    </dgm:pt>
    <dgm:pt modelId="{E6CEE178-1788-47FC-B900-6507C03C4850}" type="pres">
      <dgm:prSet presAssocID="{EC20E03B-E553-49C9-B50B-8A323D867879}" presName="descendantArrow" presStyleCnt="0"/>
      <dgm:spPr/>
    </dgm:pt>
    <dgm:pt modelId="{3D47C148-3E43-41D1-8098-E3618F068159}" type="pres">
      <dgm:prSet presAssocID="{80C6ABAB-7EBA-487C-9C15-4FA6BCB14A30}" presName="childTextArrow" presStyleLbl="fgAccFollowNode1" presStyleIdx="2" presStyleCnt="6">
        <dgm:presLayoutVars>
          <dgm:bulletEnabled val="1"/>
        </dgm:presLayoutVars>
      </dgm:prSet>
      <dgm:spPr/>
    </dgm:pt>
    <dgm:pt modelId="{AD2851AF-CB2A-401A-86EA-DA51C4C4608D}" type="pres">
      <dgm:prSet presAssocID="{920CAFC2-152D-4217-A2C1-0891C3BF6063}" presName="childTextArrow" presStyleLbl="fgAccFollowNode1" presStyleIdx="3" presStyleCnt="6">
        <dgm:presLayoutVars>
          <dgm:bulletEnabled val="1"/>
        </dgm:presLayoutVars>
      </dgm:prSet>
      <dgm:spPr/>
    </dgm:pt>
    <dgm:pt modelId="{AE9FD3DA-A146-4E56-8678-0021E5F76C84}" type="pres">
      <dgm:prSet presAssocID="{1119225C-6AA5-4EED-9345-7B0B342E4C62}" presName="sp" presStyleCnt="0"/>
      <dgm:spPr/>
    </dgm:pt>
    <dgm:pt modelId="{D7254C31-67F4-4C82-B2A5-0EFD1DA6C4DC}" type="pres">
      <dgm:prSet presAssocID="{C98D81BA-5759-4042-9FA1-6C7FD18E98A1}" presName="arrowAndChildren" presStyleCnt="0"/>
      <dgm:spPr/>
    </dgm:pt>
    <dgm:pt modelId="{AA9F8C97-EE53-4581-930B-2F8A848B1D4E}" type="pres">
      <dgm:prSet presAssocID="{C98D81BA-5759-4042-9FA1-6C7FD18E98A1}" presName="parentTextArrow" presStyleLbl="node1" presStyleIdx="1" presStyleCnt="3"/>
      <dgm:spPr/>
    </dgm:pt>
    <dgm:pt modelId="{E27F7C7B-18E3-4A24-8AA0-3D855AEC8DB7}" type="pres">
      <dgm:prSet presAssocID="{C98D81BA-5759-4042-9FA1-6C7FD18E98A1}" presName="arrow" presStyleLbl="node1" presStyleIdx="2" presStyleCnt="3"/>
      <dgm:spPr/>
    </dgm:pt>
    <dgm:pt modelId="{6CECBB60-8182-4C51-99AA-EC5EA6FF373A}" type="pres">
      <dgm:prSet presAssocID="{C98D81BA-5759-4042-9FA1-6C7FD18E98A1}" presName="descendantArrow" presStyleCnt="0"/>
      <dgm:spPr/>
    </dgm:pt>
    <dgm:pt modelId="{7EFB9258-026D-4AA5-B5A5-CA3D56E7D859}" type="pres">
      <dgm:prSet presAssocID="{4449E83F-AAC4-4FB6-BEB3-474341E5894D}" presName="childTextArrow" presStyleLbl="fgAccFollowNode1" presStyleIdx="4" presStyleCnt="6">
        <dgm:presLayoutVars>
          <dgm:bulletEnabled val="1"/>
        </dgm:presLayoutVars>
      </dgm:prSet>
      <dgm:spPr/>
    </dgm:pt>
    <dgm:pt modelId="{80240CA3-80AB-4200-89D9-C9D74E89F6ED}" type="pres">
      <dgm:prSet presAssocID="{4640EF4C-51EE-4A90-A08C-CBB8FB5A33AB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98528911-213C-46D5-BF03-C772E1E9E051}" type="presOf" srcId="{AD1C9877-BC16-4789-81E1-1D05455E7F84}" destId="{4F0AB2AA-4135-495D-80C6-F2F1CB3987B0}" srcOrd="1" destOrd="0" presId="urn:microsoft.com/office/officeart/2005/8/layout/process4"/>
    <dgm:cxn modelId="{9E86661A-04EE-427B-A30A-89A4E5FDB49C}" type="presOf" srcId="{80C6ABAB-7EBA-487C-9C15-4FA6BCB14A30}" destId="{3D47C148-3E43-41D1-8098-E3618F068159}" srcOrd="0" destOrd="0" presId="urn:microsoft.com/office/officeart/2005/8/layout/process4"/>
    <dgm:cxn modelId="{1053472D-FEA9-498A-80AA-D732ECFEFC77}" srcId="{0792D075-EA37-427A-A8DA-DEF5A1DDC574}" destId="{AD1C9877-BC16-4789-81E1-1D05455E7F84}" srcOrd="2" destOrd="0" parTransId="{2BB3C67A-1EEB-43E0-95D0-29D39C54B308}" sibTransId="{1FC2FEBB-84D3-489E-8A43-D7461ECB861B}"/>
    <dgm:cxn modelId="{F6B43B3E-7E0D-4E49-9801-06820D4DC2D4}" type="presOf" srcId="{AD1C9877-BC16-4789-81E1-1D05455E7F84}" destId="{6EF6B43F-19D7-4524-8F8F-85AE339EFCD0}" srcOrd="0" destOrd="0" presId="urn:microsoft.com/office/officeart/2005/8/layout/process4"/>
    <dgm:cxn modelId="{E232225B-617F-4ACF-B395-81BCF0F77609}" srcId="{0792D075-EA37-427A-A8DA-DEF5A1DDC574}" destId="{C98D81BA-5759-4042-9FA1-6C7FD18E98A1}" srcOrd="0" destOrd="0" parTransId="{7F1A8421-797B-48DD-A97C-B6B6FE442105}" sibTransId="{1119225C-6AA5-4EED-9345-7B0B342E4C62}"/>
    <dgm:cxn modelId="{23E80E69-14A5-4B7A-9C1B-8CFF12CD8429}" type="presOf" srcId="{17905D2D-831D-48DE-B616-F9ADFB34C869}" destId="{C71AAB09-4778-47A1-8BA2-6A918A70B97E}" srcOrd="0" destOrd="0" presId="urn:microsoft.com/office/officeart/2005/8/layout/process4"/>
    <dgm:cxn modelId="{878FDB69-D7BF-427A-9442-66E49DA47D23}" type="presOf" srcId="{4449E83F-AAC4-4FB6-BEB3-474341E5894D}" destId="{7EFB9258-026D-4AA5-B5A5-CA3D56E7D859}" srcOrd="0" destOrd="0" presId="urn:microsoft.com/office/officeart/2005/8/layout/process4"/>
    <dgm:cxn modelId="{6524354C-A726-488B-B09E-39E6A9F2418A}" srcId="{AD1C9877-BC16-4789-81E1-1D05455E7F84}" destId="{A100612E-95AB-4010-A7CC-BFC336EB4008}" srcOrd="1" destOrd="0" parTransId="{76847032-0206-48E8-B18A-02A1FC5CE751}" sibTransId="{8CE0DB7B-DEA9-4BDA-8297-3FAB3AB48F63}"/>
    <dgm:cxn modelId="{98EF2F53-A382-4FDE-AAF1-9A1A3187E90F}" srcId="{EC20E03B-E553-49C9-B50B-8A323D867879}" destId="{80C6ABAB-7EBA-487C-9C15-4FA6BCB14A30}" srcOrd="0" destOrd="0" parTransId="{976C1BDC-F03C-42F8-9CA5-3EFC8ACAD164}" sibTransId="{4B9E5C1A-1F3D-4C11-9977-4488D3EBCF0F}"/>
    <dgm:cxn modelId="{5985AE57-7C04-4359-80D2-3DCCDD00F2ED}" srcId="{AD1C9877-BC16-4789-81E1-1D05455E7F84}" destId="{17905D2D-831D-48DE-B616-F9ADFB34C869}" srcOrd="0" destOrd="0" parTransId="{885A07F5-C550-4F60-89E5-79A0F71BB57D}" sibTransId="{636A4E84-9A28-4CC2-9DB7-4A62A035DCB7}"/>
    <dgm:cxn modelId="{0ECB5286-B3F8-49E3-8427-6A12F1B61016}" type="presOf" srcId="{C98D81BA-5759-4042-9FA1-6C7FD18E98A1}" destId="{AA9F8C97-EE53-4581-930B-2F8A848B1D4E}" srcOrd="0" destOrd="0" presId="urn:microsoft.com/office/officeart/2005/8/layout/process4"/>
    <dgm:cxn modelId="{37FEC896-25F8-493D-87F4-05C2939D40E6}" srcId="{EC20E03B-E553-49C9-B50B-8A323D867879}" destId="{920CAFC2-152D-4217-A2C1-0891C3BF6063}" srcOrd="1" destOrd="0" parTransId="{04609955-DFB8-4C4E-86FE-B8A9B43B4CB7}" sibTransId="{CBA26FFD-756C-48C4-89A9-F54F79D0180A}"/>
    <dgm:cxn modelId="{2DC94697-481B-44A4-B822-99AE5182DEB5}" srcId="{C98D81BA-5759-4042-9FA1-6C7FD18E98A1}" destId="{4449E83F-AAC4-4FB6-BEB3-474341E5894D}" srcOrd="0" destOrd="0" parTransId="{400F4747-22FC-4EFA-9DB4-CE3234FC44DB}" sibTransId="{F4EF5A71-A393-4B1B-96A0-7019A2E93553}"/>
    <dgm:cxn modelId="{A8EFF2A3-B76F-45B3-800F-E764D2850AF4}" type="presOf" srcId="{EC20E03B-E553-49C9-B50B-8A323D867879}" destId="{BB90E7DF-6C99-42E3-9C89-1D6FE1151D26}" srcOrd="0" destOrd="0" presId="urn:microsoft.com/office/officeart/2005/8/layout/process4"/>
    <dgm:cxn modelId="{F1FE78AB-913D-44D6-9F29-76F4DF8ADB0F}" type="presOf" srcId="{4640EF4C-51EE-4A90-A08C-CBB8FB5A33AB}" destId="{80240CA3-80AB-4200-89D9-C9D74E89F6ED}" srcOrd="0" destOrd="0" presId="urn:microsoft.com/office/officeart/2005/8/layout/process4"/>
    <dgm:cxn modelId="{A9AE43B9-0DCA-47B1-904E-E0343CD92987}" type="presOf" srcId="{A100612E-95AB-4010-A7CC-BFC336EB4008}" destId="{664A2E4F-B401-4422-B801-38F05853C704}" srcOrd="0" destOrd="0" presId="urn:microsoft.com/office/officeart/2005/8/layout/process4"/>
    <dgm:cxn modelId="{E4B84EBD-0118-4D36-BD30-94C1CE4FEF35}" type="presOf" srcId="{EC20E03B-E553-49C9-B50B-8A323D867879}" destId="{8BA995DE-4990-4DD2-81F0-608D2E70E4D8}" srcOrd="1" destOrd="0" presId="urn:microsoft.com/office/officeart/2005/8/layout/process4"/>
    <dgm:cxn modelId="{B62DA7C4-49AB-42E2-B40B-B3B52384AB80}" srcId="{0792D075-EA37-427A-A8DA-DEF5A1DDC574}" destId="{EC20E03B-E553-49C9-B50B-8A323D867879}" srcOrd="1" destOrd="0" parTransId="{64651949-EA11-4DB5-BCE5-0402A32BBF6D}" sibTransId="{D80C6CCD-C3E3-45DA-A61E-16C5BCAE5848}"/>
    <dgm:cxn modelId="{F929A5C7-640E-4018-83AC-96FFB81D5625}" srcId="{C98D81BA-5759-4042-9FA1-6C7FD18E98A1}" destId="{4640EF4C-51EE-4A90-A08C-CBB8FB5A33AB}" srcOrd="1" destOrd="0" parTransId="{B8291A44-998B-4632-B30A-A5BC162F12E5}" sibTransId="{55830217-B48B-44BF-B987-DE406C90E663}"/>
    <dgm:cxn modelId="{653CF3CA-F027-4D51-9A93-EC55F2FAACA0}" type="presOf" srcId="{0792D075-EA37-427A-A8DA-DEF5A1DDC574}" destId="{A44F6BD0-6419-41CB-8F74-F44369B4A799}" srcOrd="0" destOrd="0" presId="urn:microsoft.com/office/officeart/2005/8/layout/process4"/>
    <dgm:cxn modelId="{93C6D9E3-CCEF-418F-8E9C-B71EDFAF1627}" type="presOf" srcId="{C98D81BA-5759-4042-9FA1-6C7FD18E98A1}" destId="{E27F7C7B-18E3-4A24-8AA0-3D855AEC8DB7}" srcOrd="1" destOrd="0" presId="urn:microsoft.com/office/officeart/2005/8/layout/process4"/>
    <dgm:cxn modelId="{3E6B3EE6-3799-4B86-8686-5892DE16609F}" type="presOf" srcId="{920CAFC2-152D-4217-A2C1-0891C3BF6063}" destId="{AD2851AF-CB2A-401A-86EA-DA51C4C4608D}" srcOrd="0" destOrd="0" presId="urn:microsoft.com/office/officeart/2005/8/layout/process4"/>
    <dgm:cxn modelId="{6B606A0C-2B30-4B51-A54C-162E30033878}" type="presParOf" srcId="{A44F6BD0-6419-41CB-8F74-F44369B4A799}" destId="{1C108E6B-8CF8-4E48-BC63-F28B550DB274}" srcOrd="0" destOrd="0" presId="urn:microsoft.com/office/officeart/2005/8/layout/process4"/>
    <dgm:cxn modelId="{3F4EC636-844E-4139-9620-7076832872BB}" type="presParOf" srcId="{1C108E6B-8CF8-4E48-BC63-F28B550DB274}" destId="{6EF6B43F-19D7-4524-8F8F-85AE339EFCD0}" srcOrd="0" destOrd="0" presId="urn:microsoft.com/office/officeart/2005/8/layout/process4"/>
    <dgm:cxn modelId="{E18D879F-CF05-4E62-AB4C-AECB2CC6D966}" type="presParOf" srcId="{1C108E6B-8CF8-4E48-BC63-F28B550DB274}" destId="{4F0AB2AA-4135-495D-80C6-F2F1CB3987B0}" srcOrd="1" destOrd="0" presId="urn:microsoft.com/office/officeart/2005/8/layout/process4"/>
    <dgm:cxn modelId="{12BE7DB4-81AC-4DE3-A65A-47F04EA38C9A}" type="presParOf" srcId="{1C108E6B-8CF8-4E48-BC63-F28B550DB274}" destId="{802391D7-1291-4AFC-A024-4174852EC039}" srcOrd="2" destOrd="0" presId="urn:microsoft.com/office/officeart/2005/8/layout/process4"/>
    <dgm:cxn modelId="{72996F36-49CB-4C56-89AE-049BEDDBF8A2}" type="presParOf" srcId="{802391D7-1291-4AFC-A024-4174852EC039}" destId="{C71AAB09-4778-47A1-8BA2-6A918A70B97E}" srcOrd="0" destOrd="0" presId="urn:microsoft.com/office/officeart/2005/8/layout/process4"/>
    <dgm:cxn modelId="{DBAA558C-0D17-413B-AA59-B2EDE6052C88}" type="presParOf" srcId="{802391D7-1291-4AFC-A024-4174852EC039}" destId="{664A2E4F-B401-4422-B801-38F05853C704}" srcOrd="1" destOrd="0" presId="urn:microsoft.com/office/officeart/2005/8/layout/process4"/>
    <dgm:cxn modelId="{981F9495-C12B-4ABA-AA13-D897934773A8}" type="presParOf" srcId="{A44F6BD0-6419-41CB-8F74-F44369B4A799}" destId="{19AFE87B-A835-4C90-934F-8414CD542B99}" srcOrd="1" destOrd="0" presId="urn:microsoft.com/office/officeart/2005/8/layout/process4"/>
    <dgm:cxn modelId="{68883647-9599-4253-8DB1-1113B7DCDC46}" type="presParOf" srcId="{A44F6BD0-6419-41CB-8F74-F44369B4A799}" destId="{701FDEEC-953A-4003-96A7-88C19198D951}" srcOrd="2" destOrd="0" presId="urn:microsoft.com/office/officeart/2005/8/layout/process4"/>
    <dgm:cxn modelId="{45E5362B-9BEE-47ED-B2EC-29B3D91ABB50}" type="presParOf" srcId="{701FDEEC-953A-4003-96A7-88C19198D951}" destId="{BB90E7DF-6C99-42E3-9C89-1D6FE1151D26}" srcOrd="0" destOrd="0" presId="urn:microsoft.com/office/officeart/2005/8/layout/process4"/>
    <dgm:cxn modelId="{D03E4035-CCBD-4650-8374-BE37ECF6EC10}" type="presParOf" srcId="{701FDEEC-953A-4003-96A7-88C19198D951}" destId="{8BA995DE-4990-4DD2-81F0-608D2E70E4D8}" srcOrd="1" destOrd="0" presId="urn:microsoft.com/office/officeart/2005/8/layout/process4"/>
    <dgm:cxn modelId="{B1F7EF5F-F849-4319-8CC1-EC43462241AD}" type="presParOf" srcId="{701FDEEC-953A-4003-96A7-88C19198D951}" destId="{E6CEE178-1788-47FC-B900-6507C03C4850}" srcOrd="2" destOrd="0" presId="urn:microsoft.com/office/officeart/2005/8/layout/process4"/>
    <dgm:cxn modelId="{64D0FC13-0FFD-4D9D-9074-C9895E1AC0CF}" type="presParOf" srcId="{E6CEE178-1788-47FC-B900-6507C03C4850}" destId="{3D47C148-3E43-41D1-8098-E3618F068159}" srcOrd="0" destOrd="0" presId="urn:microsoft.com/office/officeart/2005/8/layout/process4"/>
    <dgm:cxn modelId="{B5238D41-EB10-40FA-8C78-D26C2ED8CAD4}" type="presParOf" srcId="{E6CEE178-1788-47FC-B900-6507C03C4850}" destId="{AD2851AF-CB2A-401A-86EA-DA51C4C4608D}" srcOrd="1" destOrd="0" presId="urn:microsoft.com/office/officeart/2005/8/layout/process4"/>
    <dgm:cxn modelId="{D914CA59-7ED3-4D1B-97A1-5F4439324C25}" type="presParOf" srcId="{A44F6BD0-6419-41CB-8F74-F44369B4A799}" destId="{AE9FD3DA-A146-4E56-8678-0021E5F76C84}" srcOrd="3" destOrd="0" presId="urn:microsoft.com/office/officeart/2005/8/layout/process4"/>
    <dgm:cxn modelId="{BF2B1CC9-1E2B-436E-94E9-ACE1ABDDA096}" type="presParOf" srcId="{A44F6BD0-6419-41CB-8F74-F44369B4A799}" destId="{D7254C31-67F4-4C82-B2A5-0EFD1DA6C4DC}" srcOrd="4" destOrd="0" presId="urn:microsoft.com/office/officeart/2005/8/layout/process4"/>
    <dgm:cxn modelId="{F226F5A2-A22F-42CF-B636-0498A67E7746}" type="presParOf" srcId="{D7254C31-67F4-4C82-B2A5-0EFD1DA6C4DC}" destId="{AA9F8C97-EE53-4581-930B-2F8A848B1D4E}" srcOrd="0" destOrd="0" presId="urn:microsoft.com/office/officeart/2005/8/layout/process4"/>
    <dgm:cxn modelId="{A6751BD4-6591-4700-BD28-C3F39379A011}" type="presParOf" srcId="{D7254C31-67F4-4C82-B2A5-0EFD1DA6C4DC}" destId="{E27F7C7B-18E3-4A24-8AA0-3D855AEC8DB7}" srcOrd="1" destOrd="0" presId="urn:microsoft.com/office/officeart/2005/8/layout/process4"/>
    <dgm:cxn modelId="{9F97C6FB-579A-4C69-87A4-E1F61958C9C4}" type="presParOf" srcId="{D7254C31-67F4-4C82-B2A5-0EFD1DA6C4DC}" destId="{6CECBB60-8182-4C51-99AA-EC5EA6FF373A}" srcOrd="2" destOrd="0" presId="urn:microsoft.com/office/officeart/2005/8/layout/process4"/>
    <dgm:cxn modelId="{D182E35B-F8C0-4BF7-BC9A-55D6E489E211}" type="presParOf" srcId="{6CECBB60-8182-4C51-99AA-EC5EA6FF373A}" destId="{7EFB9258-026D-4AA5-B5A5-CA3D56E7D859}" srcOrd="0" destOrd="0" presId="urn:microsoft.com/office/officeart/2005/8/layout/process4"/>
    <dgm:cxn modelId="{4B910CC4-11D6-4FC8-9D83-4244142A9A35}" type="presParOf" srcId="{6CECBB60-8182-4C51-99AA-EC5EA6FF373A}" destId="{80240CA3-80AB-4200-89D9-C9D74E89F6ED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AB2AA-4135-495D-80C6-F2F1CB3987B0}">
      <dsp:nvSpPr>
        <dsp:cNvPr id="0" name=""/>
        <dsp:cNvSpPr/>
      </dsp:nvSpPr>
      <dsp:spPr>
        <a:xfrm>
          <a:off x="0" y="1606209"/>
          <a:ext cx="2131729" cy="5271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>
              <a:solidFill>
                <a:srgbClr val="0F6FC6"/>
              </a:solidFill>
            </a:rPr>
            <a:t>.</a:t>
          </a:r>
        </a:p>
      </dsp:txBody>
      <dsp:txXfrm>
        <a:off x="0" y="1606209"/>
        <a:ext cx="2131729" cy="284684"/>
      </dsp:txXfrm>
    </dsp:sp>
    <dsp:sp modelId="{C71AAB09-4778-47A1-8BA2-6A918A70B97E}">
      <dsp:nvSpPr>
        <dsp:cNvPr id="0" name=""/>
        <dsp:cNvSpPr/>
      </dsp:nvSpPr>
      <dsp:spPr>
        <a:xfrm>
          <a:off x="0" y="1880350"/>
          <a:ext cx="1065864" cy="2425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PROMEDIO DE RESPUESTA</a:t>
          </a:r>
        </a:p>
      </dsp:txBody>
      <dsp:txXfrm>
        <a:off x="0" y="1880350"/>
        <a:ext cx="1065864" cy="242509"/>
      </dsp:txXfrm>
    </dsp:sp>
    <dsp:sp modelId="{664A2E4F-B401-4422-B801-38F05853C704}">
      <dsp:nvSpPr>
        <dsp:cNvPr id="0" name=""/>
        <dsp:cNvSpPr/>
      </dsp:nvSpPr>
      <dsp:spPr>
        <a:xfrm>
          <a:off x="1065864" y="1880350"/>
          <a:ext cx="1065864" cy="2425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1H 45 MIN</a:t>
          </a:r>
        </a:p>
      </dsp:txBody>
      <dsp:txXfrm>
        <a:off x="1065864" y="1880350"/>
        <a:ext cx="1065864" cy="242509"/>
      </dsp:txXfrm>
    </dsp:sp>
    <dsp:sp modelId="{8BA995DE-4990-4DD2-81F0-608D2E70E4D8}">
      <dsp:nvSpPr>
        <dsp:cNvPr id="0" name=""/>
        <dsp:cNvSpPr/>
      </dsp:nvSpPr>
      <dsp:spPr>
        <a:xfrm rot="10800000">
          <a:off x="0" y="803293"/>
          <a:ext cx="2131729" cy="8108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>
              <a:solidFill>
                <a:srgbClr val="0F6FC6"/>
              </a:solidFill>
            </a:rPr>
            <a:t>.</a:t>
          </a:r>
        </a:p>
      </dsp:txBody>
      <dsp:txXfrm rot="-10800000">
        <a:off x="0" y="803293"/>
        <a:ext cx="2131729" cy="284599"/>
      </dsp:txXfrm>
    </dsp:sp>
    <dsp:sp modelId="{3D47C148-3E43-41D1-8098-E3618F068159}">
      <dsp:nvSpPr>
        <dsp:cNvPr id="0" name=""/>
        <dsp:cNvSpPr/>
      </dsp:nvSpPr>
      <dsp:spPr>
        <a:xfrm>
          <a:off x="0" y="1087892"/>
          <a:ext cx="1065864" cy="2424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FALLAS PENDIENTES</a:t>
          </a:r>
        </a:p>
      </dsp:txBody>
      <dsp:txXfrm>
        <a:off x="0" y="1087892"/>
        <a:ext cx="1065864" cy="242436"/>
      </dsp:txXfrm>
    </dsp:sp>
    <dsp:sp modelId="{AD2851AF-CB2A-401A-86EA-DA51C4C4608D}">
      <dsp:nvSpPr>
        <dsp:cNvPr id="0" name=""/>
        <dsp:cNvSpPr/>
      </dsp:nvSpPr>
      <dsp:spPr>
        <a:xfrm>
          <a:off x="1065864" y="1087892"/>
          <a:ext cx="1065864" cy="2424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0</a:t>
          </a:r>
        </a:p>
      </dsp:txBody>
      <dsp:txXfrm>
        <a:off x="1065864" y="1087892"/>
        <a:ext cx="1065864" cy="242436"/>
      </dsp:txXfrm>
    </dsp:sp>
    <dsp:sp modelId="{E27F7C7B-18E3-4A24-8AA0-3D855AEC8DB7}">
      <dsp:nvSpPr>
        <dsp:cNvPr id="0" name=""/>
        <dsp:cNvSpPr/>
      </dsp:nvSpPr>
      <dsp:spPr>
        <a:xfrm rot="10800000">
          <a:off x="0" y="377"/>
          <a:ext cx="2131729" cy="8108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INDICADORES </a:t>
          </a:r>
        </a:p>
      </dsp:txBody>
      <dsp:txXfrm rot="-10800000">
        <a:off x="0" y="377"/>
        <a:ext cx="2131729" cy="284599"/>
      </dsp:txXfrm>
    </dsp:sp>
    <dsp:sp modelId="{7EFB9258-026D-4AA5-B5A5-CA3D56E7D859}">
      <dsp:nvSpPr>
        <dsp:cNvPr id="0" name=""/>
        <dsp:cNvSpPr/>
      </dsp:nvSpPr>
      <dsp:spPr>
        <a:xfrm>
          <a:off x="0" y="284976"/>
          <a:ext cx="1065864" cy="2424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FALLAS ATENDIDAS</a:t>
          </a:r>
        </a:p>
      </dsp:txBody>
      <dsp:txXfrm>
        <a:off x="0" y="284976"/>
        <a:ext cx="1065864" cy="242436"/>
      </dsp:txXfrm>
    </dsp:sp>
    <dsp:sp modelId="{80240CA3-80AB-4200-89D9-C9D74E89F6ED}">
      <dsp:nvSpPr>
        <dsp:cNvPr id="0" name=""/>
        <dsp:cNvSpPr/>
      </dsp:nvSpPr>
      <dsp:spPr>
        <a:xfrm>
          <a:off x="1065864" y="284976"/>
          <a:ext cx="1065864" cy="2424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50" b="1" kern="1200" dirty="0"/>
            <a:t>16</a:t>
          </a:r>
        </a:p>
      </dsp:txBody>
      <dsp:txXfrm>
        <a:off x="1065864" y="284976"/>
        <a:ext cx="1065864" cy="2424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0.01632</cdr:x>
      <cdr:y>0.90213</cdr:y>
    </cdr:from>
    <cdr:to>
      <cdr:x>0.17984</cdr:x>
      <cdr:y>1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D7821B46-BC0B-F242-2031-137D86F62E60}"/>
            </a:ext>
          </a:extLst>
        </cdr:cNvPr>
        <cdr:cNvSpPr txBox="1"/>
      </cdr:nvSpPr>
      <cdr:spPr>
        <a:xfrm xmlns:a="http://schemas.openxmlformats.org/drawingml/2006/main">
          <a:off x="101472" y="3144957"/>
          <a:ext cx="1016759" cy="3411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s-CL" sz="1050" b="1" kern="1200" dirty="0">
              <a:solidFill>
                <a:schemeClr val="bg1"/>
              </a:solidFill>
            </a:rPr>
            <a:t>Total 78 CPE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l">
              <a:defRPr sz="1300"/>
            </a:lvl1pPr>
          </a:lstStyle>
          <a:p>
            <a:endParaRPr lang="en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9062" tIns="49531" rIns="99062" bIns="49531" rtlCol="0"/>
          <a:lstStyle>
            <a:lvl1pPr algn="r">
              <a:defRPr sz="1300"/>
            </a:lvl1pPr>
          </a:lstStyle>
          <a:p>
            <a:fld id="{97AF6D82-066C-FA4D-8270-4E3B76B0A85B}" type="datetimeFigureOut">
              <a:t>01-09-2026</a:t>
            </a:fld>
            <a:endParaRPr lang="en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2" tIns="49531" rIns="99062" bIns="49531" rtlCol="0" anchor="ctr"/>
          <a:lstStyle/>
          <a:p>
            <a:endParaRPr lang="en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2" tIns="49531" rIns="99062" bIns="495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l">
              <a:defRPr sz="1300"/>
            </a:lvl1pPr>
          </a:lstStyle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7" cy="513507"/>
          </a:xfrm>
          <a:prstGeom prst="rect">
            <a:avLst/>
          </a:prstGeom>
        </p:spPr>
        <p:txBody>
          <a:bodyPr vert="horz" lIns="99062" tIns="49531" rIns="99062" bIns="49531" rtlCol="0" anchor="b"/>
          <a:lstStyle>
            <a:lvl1pPr algn="r">
              <a:defRPr sz="1300"/>
            </a:lvl1pPr>
          </a:lstStyle>
          <a:p>
            <a:fld id="{5BE92847-51ED-1449-A9AF-8F855167E8E6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1350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t>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70964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 HASTA EL 30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55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142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7691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 hasta el 01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2023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Listo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5266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Pendiente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3442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Pendiente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3745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dirty="0"/>
              <a:t>Pendiente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6674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3522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47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8624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ACTUALIZAR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5607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2569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70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2735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6996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ACTUALIZAR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92847-51ED-1449-A9AF-8F855167E8E6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9018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E4C029-E600-4190-8AE8-26B2F7F80486}" type="slidenum">
              <a:rPr lang="es-CL" smtClean="0"/>
              <a:t>31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2381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1052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4461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6897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7032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7888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095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5918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4406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8204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08699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40774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E682-BC13-E443-B955-4FA79FB3F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3E81D-F660-B04A-A02A-7771D9835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0CAD2-F4B0-6D4F-A3DB-59C0869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59959-8F63-1C46-9846-971A9FA8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FAE86-30FA-9842-986E-368BD12D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77444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F467-98F8-1240-ACB7-FB89C818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9D25-2E40-A546-8E08-F406112B1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8E3D-659B-5845-B58C-F7CE0FE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348E1-52F7-3740-BECC-A872BC95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3AFA0-CF5D-CB4F-86DA-A26B2DDDD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466150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FBE51-5261-8649-BBAC-76D79410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328B6-1619-BD43-AFD5-7594537C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C310A-FBFE-6A4B-94FD-CD0539AA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B160-B8F3-9845-896E-719CFEDB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698-F77F-6B4B-84A3-6571531AC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83145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ED5FF-D86B-9747-848F-2C768AE5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8C517-D3BF-1840-B5E3-D495BF943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0A760-A9DA-0E47-8642-F4561309D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07266-6075-214C-9A0F-1B14A182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FDC8C-B2B0-4245-A63C-2FB5D90D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F4FA8-9897-264C-B54C-3F8F187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80533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B15F-C6FA-D84D-AB7C-2B5E418D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8AC2-AA47-514A-8FDD-22D9C7EA7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7083-810C-DE49-887E-B07C6D748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8EA05-E088-664F-95B0-F7ACC9519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E967E-B198-B644-85C4-9E2D8C07E3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30866-AC10-394E-BF2C-D6905A00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92B9-1A8F-5643-8EDB-7F6741B9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7EE84F-1143-8540-BC3E-2E7FBEDE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76002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E082-AEA3-514F-B09D-1F6E78F6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1E451-9867-6C42-8057-6E95D2F3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3332-F96E-2A45-BF20-B5E13FB94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8CDD1-FCB4-B145-AA09-3E794E23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58179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C489A-8D6C-DC47-B468-186F9A469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9109-1C34-5244-ADE5-222459E6E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9E646-008A-3748-BCE2-BCCC6ED3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614607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E5A1-F2E4-4441-8387-1A6E6B20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DA04F-4005-F044-8FE5-2EC8060F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5CDADC-814E-244E-B9E5-2C9051426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3663C-1FF4-3D4E-854F-A5AA4B8A5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40EC2-135F-FE46-92F3-F3CD1E63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625FC-8AEA-F74B-9DD8-E453DBA5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54835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0717-7D74-B44F-9E66-235930CC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0095B-B62E-3C44-845A-8D31260A6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A383A-A1BD-3449-AEF4-F5EB7E8FA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DE627-2BED-3549-9D80-6D0263AB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75BC9-5EA8-9D48-A131-684734B3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AA5F-2F19-D749-8E4B-44ABBE82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537241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BE3B-CFC3-5A4C-B7F9-83501BE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FE2E7-8408-F64E-AC06-6E9B1F7B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7EA7-EDC0-674E-87AF-81F0CC4A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A1F-640A-DD4A-8A62-FC15E9D3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5553-91F0-6547-ABB8-D9C439CB0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140868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D21FB-DAFB-DF4B-B7CA-DF378245F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020F6-65AA-B149-8A98-D754BD2D8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A0BA-7E42-374F-BCF5-EDBE9B1C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8169A-AD4F-B54D-BD6E-4A85F6C0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7CF1D-B5A0-C945-8BEF-46A5BA84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04953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67008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AAB91E-8D3B-5049-91E0-681A6BD55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0D1AD-7B0F-C243-8060-E31261F4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009B1-730F-3948-AFDB-A7D229514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1EB-52E9-864A-B0F6-E4DE6976EFAF}" type="datetimeFigureOut">
              <a:t>01-09-2026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8CD1-C846-864B-8FF5-193D2956B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875-456D-074B-9AD9-F14C62DF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2A2A8-704E-EF48-80AE-D3783EE37A42}" type="slidenum">
              <a:t>‹Nº›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93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50.png"/><Relationship Id="rId18" Type="http://schemas.openxmlformats.org/officeDocument/2006/relationships/slide" Target="slide2.xml"/><Relationship Id="rId3" Type="http://schemas.openxmlformats.org/officeDocument/2006/relationships/image" Target="../media/image1.jpeg"/><Relationship Id="rId12" Type="http://schemas.openxmlformats.org/officeDocument/2006/relationships/slide" Target="slide25.xml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10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6" Type="http://schemas.openxmlformats.org/officeDocument/2006/relationships/image" Target="../media/image710.png"/><Relationship Id="rId15" Type="http://schemas.openxmlformats.org/officeDocument/2006/relationships/slide" Target="slide20.xml"/><Relationship Id="rId5" Type="http://schemas.openxmlformats.org/officeDocument/2006/relationships/slide" Target="slide22.xml"/><Relationship Id="rId10" Type="http://schemas.openxmlformats.org/officeDocument/2006/relationships/image" Target="../media/image3.png"/><Relationship Id="rId19" Type="http://schemas.openxmlformats.org/officeDocument/2006/relationships/image" Target="../media/image610.png"/><Relationship Id="rId4" Type="http://schemas.openxmlformats.org/officeDocument/2006/relationships/image" Target="../media/image2.png"/><Relationship Id="rId9" Type="http://schemas.openxmlformats.org/officeDocument/2006/relationships/image" Target="../media/image26.png"/><Relationship Id="rId1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12" Type="http://schemas.openxmlformats.org/officeDocument/2006/relationships/image" Target="../media/image1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slide" Target="slide12.xml"/><Relationship Id="rId5" Type="http://schemas.openxmlformats.org/officeDocument/2006/relationships/image" Target="../media/image140.png"/><Relationship Id="rId10" Type="http://schemas.openxmlformats.org/officeDocument/2006/relationships/image" Target="../media/image14.png"/><Relationship Id="rId4" Type="http://schemas.openxmlformats.org/officeDocument/2006/relationships/slide" Target="slide7.xml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Marcador" Type="http://schemas.openxmlformats.org/officeDocument/2006/relationships/image" Target="../media/marcador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Marcador" Type="http://schemas.openxmlformats.org/officeDocument/2006/relationships/image" Target="../media/marcador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2" Type="http://schemas.microsoft.com/office/2007/relationships/hdphoto" Target="../media/hdphoto3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microsoft.com/office/2007/relationships/hdphoto" Target="../media/hdphoto2.wdp"/><Relationship Id="rId14" Type="http://schemas.microsoft.com/office/2007/relationships/hdphoto" Target="../media/hdphoto4.wdp"/><Relationship Id="rIdMarcadorDif" Type="http://schemas.openxmlformats.org/officeDocument/2006/relationships/image" Target="../media/difusion/marcador.png"/></Relationships>
</file>

<file path=ppt/slides/_rels/slide14.xml.rels><?xml version='1.0' encoding='UTF-8' standalone='yes'?>
<Relationships xmlns="http://schemas.openxmlformats.org/package/2006/relationships"><Relationship Id="rId13" Type="http://schemas.microsoft.com/office/2007/relationships/hdphoto" Target="../media/hdphoto7.wdp"/><Relationship Id="rId7" Type="http://schemas.microsoft.com/office/2007/relationships/hdphoto" Target="../media/hdphoto5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9" Type="http://schemas.microsoft.com/office/2007/relationships/hdphoto" Target="../media/hdphoto6.wdp"/><Relationship Id="rIdMarcadorDif" Type="http://schemas.openxmlformats.org/officeDocument/2006/relationships/image" Target="../media/difusion/marcador.png"/></Relationships>
</file>

<file path=ppt/slides/_rels/slide15.xml.rels><?xml version='1.0' encoding='UTF-8' standalone='yes'?>
<Relationships xmlns="http://schemas.openxmlformats.org/package/2006/relationships"><Relationship Id="rId13" Type="http://schemas.microsoft.com/office/2007/relationships/hdphoto" Target="../media/hdphoto10.wdp"/><Relationship Id="rId3" Type="http://schemas.openxmlformats.org/officeDocument/2006/relationships/image" Target="../media/image17.png"/><Relationship Id="rId7" Type="http://schemas.microsoft.com/office/2007/relationships/hdphoto" Target="../media/hdphoto9.wdp"/><Relationship Id="rId17" Type="http://schemas.microsoft.com/office/2007/relationships/hdphoto" Target="../media/hdphoto1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microsoft.com/office/2007/relationships/hdphoto" Target="../media/hdphoto8.wdp"/><Relationship Id="rId15" Type="http://schemas.microsoft.com/office/2007/relationships/hdphoto" Target="../media/hdphoto11.wdp"/><Relationship Id="rIdMarcadorDif" Type="http://schemas.openxmlformats.org/officeDocument/2006/relationships/image" Target="../media/difusion/marcador.png"/></Relationships>
</file>

<file path=ppt/slides/_rels/slide16.xml.rels><?xml version='1.0' encoding='UTF-8' standalone='yes'?>
<Relationships xmlns="http://schemas.openxmlformats.org/package/2006/relationships"><Relationship Id="rId8" Type="http://schemas.microsoft.com/office/2007/relationships/hdphoto" Target="../media/hdphoto14.wdp"/><Relationship Id="rId17" Type="http://schemas.microsoft.com/office/2007/relationships/hdphoto" Target="../media/hdphoto16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microsoft.com/office/2007/relationships/hdphoto" Target="../media/hdphoto13.wdp"/><Relationship Id="rId15" Type="http://schemas.microsoft.com/office/2007/relationships/hdphoto" Target="../media/hdphoto15.wdp"/><Relationship Id="rIdMarcadorDif" Type="http://schemas.openxmlformats.org/officeDocument/2006/relationships/image" Target="../media/difusion/marcador.png"/></Relationships>
</file>

<file path=ppt/slides/_rels/slide17.xml.rels><?xml version='1.0' encoding='UTF-8' standalone='yes'?>
<Relationships xmlns="http://schemas.openxmlformats.org/package/2006/relationships"><Relationship Id="rId8" Type="http://schemas.microsoft.com/office/2007/relationships/hdphoto" Target="../media/hdphoto18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10" Type="http://schemas.microsoft.com/office/2007/relationships/hdphoto" Target="../media/hdphoto19.wdp"/><Relationship Id="rId4" Type="http://schemas.microsoft.com/office/2007/relationships/hdphoto" Target="../media/hdphoto17.wdp"/><Relationship Id="rIdMarcadorDif" Type="http://schemas.openxmlformats.org/officeDocument/2006/relationships/image" Target="../media/difusion/marcador.png"/></Relationships>
</file>

<file path=ppt/slides/_rels/slide18.xml.rels><?xml version='1.0' encoding='UTF-8' standalone='yes'?>
<Relationships xmlns="http://schemas.openxmlformats.org/package/2006/relationships"><Relationship Id="rId7" Type="http://schemas.microsoft.com/office/2007/relationships/hdphoto" Target="../media/hdphoto2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10" Type="http://schemas.microsoft.com/office/2007/relationships/hdphoto" Target="../media/hdphoto22.wdp"/><Relationship Id="rId4" Type="http://schemas.microsoft.com/office/2007/relationships/hdphoto" Target="../media/hdphoto20.wdp"/><Relationship Id="rIdMarcadorDif" Type="http://schemas.openxmlformats.org/officeDocument/2006/relationships/image" Target="../media/difusion/marcador.png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MarcadorDif" Type="http://schemas.openxmlformats.org/officeDocument/2006/relationships/image" Target="../media/difusion/marcador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slideLayout" Target="../slideLayouts/slideLayout7.xml"/><Relationship Id="rId4" Type="http://schemas.microsoft.com/office/2007/relationships/hdphoto" Target="../media/hdphoto2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0.png"/><Relationship Id="rId3" Type="http://schemas.openxmlformats.org/officeDocument/2006/relationships/image" Target="../media/image84.png"/><Relationship Id="rId7" Type="http://schemas.openxmlformats.org/officeDocument/2006/relationships/slide" Target="slide2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86.png"/><Relationship Id="rId5" Type="http://schemas.openxmlformats.org/officeDocument/2006/relationships/image" Target="../media/image860.png"/><Relationship Id="rId10" Type="http://schemas.openxmlformats.org/officeDocument/2006/relationships/chart" Target="../charts/chart2.xml"/><Relationship Id="rId4" Type="http://schemas.openxmlformats.org/officeDocument/2006/relationships/slide" Target="slide27.xml"/><Relationship Id="rId9" Type="http://schemas.openxmlformats.org/officeDocument/2006/relationships/image" Target="../media/image8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.xml"/><Relationship Id="rId5" Type="http://schemas.openxmlformats.org/officeDocument/2006/relationships/image" Target="../media/image89.png"/><Relationship Id="rId4" Type="http://schemas.microsoft.com/office/2007/relationships/hdphoto" Target="../media/hdphoto24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microsoft.com/office/2007/relationships/hdphoto" Target="../media/hdphoto25.wdp"/><Relationship Id="rId3" Type="http://schemas.openxmlformats.org/officeDocument/2006/relationships/image" Target="../media/image91.png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chart" Target="../charts/chart4.xml"/><Relationship Id="rId5" Type="http://schemas.openxmlformats.org/officeDocument/2006/relationships/diagramData" Target="../diagrams/data1.xml"/><Relationship Id="rId10" Type="http://schemas.openxmlformats.org/officeDocument/2006/relationships/image" Target="../media/image92.png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7727F2-87E1-463E-39C5-FA3186ACB2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232"/>
            <a:ext cx="12191999" cy="685753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ECD39E-EC9A-954A-B4CF-9BCD99C8CFAE}"/>
              </a:ext>
            </a:extLst>
          </p:cNvPr>
          <p:cNvCxnSpPr>
            <a:cxnSpLocks/>
          </p:cNvCxnSpPr>
          <p:nvPr/>
        </p:nvCxnSpPr>
        <p:spPr>
          <a:xfrm flipH="1" flipV="1">
            <a:off x="3831070" y="3402209"/>
            <a:ext cx="724193" cy="1039572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F68F12-370D-1E45-B388-B3EB7E9D3A9F}"/>
              </a:ext>
            </a:extLst>
          </p:cNvPr>
          <p:cNvCxnSpPr>
            <a:cxnSpLocks/>
          </p:cNvCxnSpPr>
          <p:nvPr/>
        </p:nvCxnSpPr>
        <p:spPr>
          <a:xfrm>
            <a:off x="8899479" y="3634660"/>
            <a:ext cx="924852" cy="739632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Section Zoom 3">
                <a:extLst>
                  <a:ext uri="{FF2B5EF4-FFF2-40B4-BE49-F238E27FC236}">
                    <a16:creationId xmlns:a16="http://schemas.microsoft.com/office/drawing/2014/main" id="{B2D661A4-8895-1E43-9238-4B6D30F2FF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0247898"/>
                  </p:ext>
                </p:extLst>
              </p:nvPr>
            </p:nvGraphicFramePr>
            <p:xfrm>
              <a:off x="1930378" y="191876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DBB0F080-D76F-2449-A8A8-97428CE5CDE4}">
                    <psez:zmPr id="{E31B0801-3E89-AF44-A1B1-5F4CCB54772F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Section Zoom 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2D661A4-8895-1E43-9238-4B6D30F2FF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30378" y="1918766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D3EC1FB-71E1-4861-1FA8-7F3FBC323C37}"/>
              </a:ext>
            </a:extLst>
          </p:cNvPr>
          <p:cNvSpPr/>
          <p:nvPr/>
        </p:nvSpPr>
        <p:spPr>
          <a:xfrm>
            <a:off x="5857974" y="74278"/>
            <a:ext cx="6044874" cy="1426896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40197C-0DB2-9CBA-9C26-FD62180053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9764" y="81162"/>
            <a:ext cx="4174302" cy="1654152"/>
          </a:xfrm>
          <a:prstGeom prst="rect">
            <a:avLst/>
          </a:prstGeom>
        </p:spPr>
      </p:pic>
      <p:cxnSp>
        <p:nvCxnSpPr>
          <p:cNvPr id="15" name="Straight Connector 27">
            <a:extLst>
              <a:ext uri="{FF2B5EF4-FFF2-40B4-BE49-F238E27FC236}">
                <a16:creationId xmlns:a16="http://schemas.microsoft.com/office/drawing/2014/main" id="{3A348555-C3DA-16C5-CE0E-E42C4F16E9E5}"/>
              </a:ext>
            </a:extLst>
          </p:cNvPr>
          <p:cNvCxnSpPr>
            <a:cxnSpLocks/>
          </p:cNvCxnSpPr>
          <p:nvPr/>
        </p:nvCxnSpPr>
        <p:spPr>
          <a:xfrm flipV="1">
            <a:off x="6306350" y="3014401"/>
            <a:ext cx="1265157" cy="1238262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D1D4DDA-3BA2-7F47-974A-FC6F909C89E4}"/>
              </a:ext>
            </a:extLst>
          </p:cNvPr>
          <p:cNvSpPr/>
          <p:nvPr/>
        </p:nvSpPr>
        <p:spPr>
          <a:xfrm>
            <a:off x="6007574" y="433783"/>
            <a:ext cx="57456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000" b="1" spc="-10" dirty="0">
                <a:solidFill>
                  <a:srgbClr val="FFFFFF"/>
                </a:solidFill>
                <a:latin typeface="Trebuchet MS" charset="0"/>
                <a:ea typeface="Trebuchet MS" charset="0"/>
                <a:cs typeface="Trebuchet MS" charset="0"/>
              </a:rPr>
              <a:t>REPORTE DE ACTIVIDADES TURNO A DÍA/NOCHE</a:t>
            </a:r>
          </a:p>
          <a:p>
            <a:r>
              <a:rPr lang="es-CL" sz="2000" b="1" spc="-10" dirty="0">
                <a:solidFill>
                  <a:srgbClr val="FFFFFF"/>
                </a:solidFill>
                <a:latin typeface="Trebuchet MS" charset="0"/>
                <a:ea typeface="Trebuchet MS" charset="0"/>
                <a:cs typeface="Trebuchet MS" charset="0"/>
              </a:rPr>
              <a:t>26/08/2026 – 01/09/2026</a:t>
            </a:r>
            <a:endParaRPr lang="es-ES_tradnl" sz="900" b="1" spc="-10" dirty="0">
              <a:solidFill>
                <a:srgbClr val="FFFFFF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Vista general de sección 8">
                <a:extLst>
                  <a:ext uri="{FF2B5EF4-FFF2-40B4-BE49-F238E27FC236}">
                    <a16:creationId xmlns:a16="http://schemas.microsoft.com/office/drawing/2014/main" id="{7DC2ED30-EEF6-76D0-8F55-9C106A7D5F4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5384666"/>
                  </p:ext>
                </p:extLst>
              </p:nvPr>
            </p:nvGraphicFramePr>
            <p:xfrm>
              <a:off x="8407918" y="4179470"/>
              <a:ext cx="3767410" cy="2119168"/>
            </p:xfrm>
            <a:graphic>
              <a:graphicData uri="http://schemas.microsoft.com/office/powerpoint/2016/sectionzoom">
                <psez:sectionZm>
                  <psez:sectionZmObj sectionId="{7911C804-55D1-4777-8047-D6F6E12CFC8D}">
                    <psez:zmPr id="{AC56ADE2-29AE-4C84-9CCA-50AC0A693FD9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67410" cy="211916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Vista general de sección 8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7DC2ED30-EEF6-76D0-8F55-9C106A7D5F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07918" y="4179470"/>
                <a:ext cx="3767410" cy="2119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9" name="Vista general de sección 28">
                <a:extLst>
                  <a:ext uri="{FF2B5EF4-FFF2-40B4-BE49-F238E27FC236}">
                    <a16:creationId xmlns:a16="http://schemas.microsoft.com/office/drawing/2014/main" id="{E87603ED-7BB6-D795-BFC3-B8FCF1009F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0452312"/>
                  </p:ext>
                </p:extLst>
              </p:nvPr>
            </p:nvGraphicFramePr>
            <p:xfrm>
              <a:off x="3586233" y="3816718"/>
              <a:ext cx="3812798" cy="2144699"/>
            </p:xfrm>
            <a:graphic>
              <a:graphicData uri="http://schemas.microsoft.com/office/powerpoint/2016/sectionzoom">
                <psez:sectionZm>
                  <psez:sectionZmObj sectionId="{D01103C6-D9B4-874A-903D-1D54C47D2E73}">
                    <psez:zmPr id="{14BFB1F7-566A-44D3-912A-BD7D61ABA964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12798" cy="214469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9" name="Vista general de sección 28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E87603ED-7BB6-D795-BFC3-B8FCF1009F5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86233" y="3816718"/>
                <a:ext cx="3812798" cy="2144699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27">
            <a:extLst>
              <a:ext uri="{FF2B5EF4-FFF2-40B4-BE49-F238E27FC236}">
                <a16:creationId xmlns:a16="http://schemas.microsoft.com/office/drawing/2014/main" id="{F005C244-9B4E-F30F-B2F7-2678FAE73430}"/>
              </a:ext>
            </a:extLst>
          </p:cNvPr>
          <p:cNvCxnSpPr>
            <a:cxnSpLocks/>
          </p:cNvCxnSpPr>
          <p:nvPr/>
        </p:nvCxnSpPr>
        <p:spPr>
          <a:xfrm flipV="1">
            <a:off x="2047758" y="3402209"/>
            <a:ext cx="863705" cy="777261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Vista general de sección 5">
                <a:extLst>
                  <a:ext uri="{FF2B5EF4-FFF2-40B4-BE49-F238E27FC236}">
                    <a16:creationId xmlns:a16="http://schemas.microsoft.com/office/drawing/2014/main" id="{98CFF69B-087C-6C8E-9365-40FBA962E1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121412"/>
                  </p:ext>
                </p:extLst>
              </p:nvPr>
            </p:nvGraphicFramePr>
            <p:xfrm>
              <a:off x="-8402" y="400447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FE6B519-480C-434A-96D0-B06036B49864}">
                    <psez:zmPr id="{59A0AF0F-2654-44CC-8802-E4CFED1CB76B}" transitionDur="1000" showBg="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Vista general de sección 5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98CFF69B-087C-6C8E-9365-40FBA962E1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8402" y="4004476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BA3A39B2-158B-2B4C-A1B4-DCCBD75CA1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8901639"/>
                  </p:ext>
                </p:extLst>
              </p:nvPr>
            </p:nvGraphicFramePr>
            <p:xfrm>
              <a:off x="6524213" y="1589813"/>
              <a:ext cx="3767410" cy="2119168"/>
            </p:xfrm>
            <a:graphic>
              <a:graphicData uri="http://schemas.microsoft.com/office/powerpoint/2016/sectionzoom">
                <psez:sectionZm>
                  <psez:sectionZmObj sectionId="{17ED8106-7472-CA40-A9D6-5927206203E6}">
                    <psez:zmPr id="{BED1C54D-1895-F149-B351-02B981A8A5BF}" transitionDur="1000" showBg="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67410" cy="2119168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Section Zoom 1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A3A39B2-158B-2B4C-A1B4-DCCBD75CA1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4213" y="1589813"/>
                <a:ext cx="3767410" cy="21191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535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4056019" y="3532924"/>
            <a:ext cx="4079963" cy="10926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5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RESUMEN</a:t>
            </a:r>
            <a:endParaRPr kumimoji="0" lang="en-LT" sz="65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7" name="Graphic 6" descr="Lights On with solid fill">
            <a:extLst>
              <a:ext uri="{FF2B5EF4-FFF2-40B4-BE49-F238E27FC236}">
                <a16:creationId xmlns:a16="http://schemas.microsoft.com/office/drawing/2014/main" id="{3169A18E-29C1-B14B-9DAC-9A1603958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0683" y="782444"/>
            <a:ext cx="2750634" cy="2750634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523264"/>
      </p:ext>
    </p:extLst>
  </p:cSld>
  <p:clrMapOvr>
    <a:masterClrMapping/>
  </p:clrMapOvr>
  <p:transition spd="slow"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D3380-FF7B-02D3-653E-04521A3B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0A2D1AD-58B2-33E8-8979-7366BD19CE9D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A41D5E-E47B-47F4-CCDE-9BBA01198DAD}"/>
              </a:ext>
            </a:extLst>
          </p:cNvPr>
          <p:cNvSpPr/>
          <p:nvPr/>
        </p:nvSpPr>
        <p:spPr>
          <a:xfrm>
            <a:off x="4631963" y="799186"/>
            <a:ext cx="2967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TURNO DIA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C94C3E6F-EE8F-EAAF-39D6-818AF4878D20}"/>
              </a:ext>
            </a:extLst>
          </p:cNvPr>
          <p:cNvGrpSpPr/>
          <p:nvPr/>
        </p:nvGrpSpPr>
        <p:grpSpPr>
          <a:xfrm>
            <a:off x="575229" y="358096"/>
            <a:ext cx="3817489" cy="2035373"/>
            <a:chOff x="575229" y="358096"/>
            <a:chExt cx="3817489" cy="2035373"/>
          </a:xfrm>
        </p:grpSpPr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AB4473B0-4FE6-1174-1A8A-48421800E9FF}"/>
                </a:ext>
              </a:extLst>
            </p:cNvPr>
            <p:cNvGrpSpPr/>
            <p:nvPr/>
          </p:nvGrpSpPr>
          <p:grpSpPr>
            <a:xfrm>
              <a:off x="575229" y="767025"/>
              <a:ext cx="3817489" cy="1626444"/>
              <a:chOff x="575229" y="767025"/>
              <a:chExt cx="3817489" cy="1626444"/>
            </a:xfrm>
          </p:grpSpPr>
          <p:sp>
            <p:nvSpPr>
              <p:cNvPr id="8" name="Rectángulo: esquinas redondeadas 7">
                <a:extLst>
                  <a:ext uri="{FF2B5EF4-FFF2-40B4-BE49-F238E27FC236}">
                    <a16:creationId xmlns:a16="http://schemas.microsoft.com/office/drawing/2014/main" id="{0B12D7FD-C726-361F-8BD9-205D73B8AC2A}"/>
                  </a:ext>
                </a:extLst>
              </p:cNvPr>
              <p:cNvSpPr/>
              <p:nvPr/>
            </p:nvSpPr>
            <p:spPr>
              <a:xfrm>
                <a:off x="575229" y="767025"/>
                <a:ext cx="3758183" cy="1498548"/>
              </a:xfrm>
              <a:prstGeom prst="roundRect">
                <a:avLst/>
              </a:prstGeom>
              <a:solidFill>
                <a:srgbClr val="002060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1CF41DC3-893C-B8DF-CF81-C08184E3FE4F}"/>
                  </a:ext>
                </a:extLst>
              </p:cNvPr>
              <p:cNvSpPr txBox="1"/>
              <p:nvPr/>
            </p:nvSpPr>
            <p:spPr>
              <a:xfrm>
                <a:off x="634535" y="799186"/>
                <a:ext cx="3758183" cy="159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s-ES" sz="800" dirty="0">
                    <a:solidFill>
                      <a:srgbClr val="FFFFFF"/>
                    </a:solidFill>
                  </a:rPr>
                  <a:t>CHARLA INICIO DE TURNO.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CONTROLES SSO DIARIOS.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DIFUSIÓN POR STREAMING FLORA Y FAUNA EL SALVADOR CHILE.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REUNIÓN CON SSO/ADC SOBRE RF1.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MANTENIMIENTO GENERADOR CARRO LTE_CMM_07.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GESTIÓN PARA LA RECARGA DE COMBUSTIBLE CARRO LTE_CMM_07 – OPERATIVO.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REUNIÓN MENSUAL DE SSO.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CAMBIO DE BATERÍA EN GENERADOR LTE_MMOO_01 POR FALLA DE VIDA ÚTIL.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r>
                  <a:rPr lang="es-ES" sz="800" dirty="0">
                    <a:solidFill>
                      <a:srgbClr val="FFFFFF"/>
                    </a:solidFill>
                  </a:rPr>
                  <a:t>CAMBIO DE CORREA Y REPARACIÓN DE MANGUERA DE COMBUSTIBLE EN CARRO LTE_CMM_07.</a:t>
                </a:r>
              </a:p>
              <a:p>
                <a:pPr indent="-171450">
                  <a:buFont typeface="Arial" panose="020B0604020202020204" pitchFamily="34" charset="0"/>
                  <a:buChar char="•"/>
                </a:pPr>
                <a:endParaRPr lang="es-ES" sz="80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5A5F2736-BC76-E4EB-E5DC-3B0DF914D62F}"/>
                </a:ext>
              </a:extLst>
            </p:cNvPr>
            <p:cNvSpPr txBox="1"/>
            <p:nvPr/>
          </p:nvSpPr>
          <p:spPr>
            <a:xfrm>
              <a:off x="2030484" y="358096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b="1" dirty="0">
                  <a:solidFill>
                    <a:prstClr val="white"/>
                  </a:solidFill>
                  <a:latin typeface="Calibri" panose="020F0502020204030204"/>
                </a:rPr>
                <a:t>26/08</a:t>
              </a: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/2026</a:t>
              </a: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0A6C17BC-5E2C-1F34-C014-544520C19598}"/>
              </a:ext>
            </a:extLst>
          </p:cNvPr>
          <p:cNvGrpSpPr/>
          <p:nvPr/>
        </p:nvGrpSpPr>
        <p:grpSpPr>
          <a:xfrm>
            <a:off x="149637" y="2263828"/>
            <a:ext cx="3758183" cy="1903149"/>
            <a:chOff x="149637" y="2263828"/>
            <a:chExt cx="3758183" cy="1903149"/>
          </a:xfrm>
        </p:grpSpPr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DCB18678-A472-59D8-69AD-FD26D6A2C7E5}"/>
                </a:ext>
              </a:extLst>
            </p:cNvPr>
            <p:cNvSpPr txBox="1"/>
            <p:nvPr/>
          </p:nvSpPr>
          <p:spPr>
            <a:xfrm>
              <a:off x="1362318" y="2263828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27/08/2026</a:t>
              </a:r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E517E959-D2D6-ABF3-2BAC-5B4098B9C274}"/>
                </a:ext>
              </a:extLst>
            </p:cNvPr>
            <p:cNvGrpSpPr/>
            <p:nvPr/>
          </p:nvGrpSpPr>
          <p:grpSpPr>
            <a:xfrm>
              <a:off x="149637" y="2649485"/>
              <a:ext cx="3758183" cy="1517492"/>
              <a:chOff x="149637" y="2649485"/>
              <a:chExt cx="3758183" cy="1517492"/>
            </a:xfrm>
          </p:grpSpPr>
          <p:sp>
            <p:nvSpPr>
              <p:cNvPr id="46" name="Rectángulo: esquinas redondeadas 45">
                <a:extLst>
                  <a:ext uri="{FF2B5EF4-FFF2-40B4-BE49-F238E27FC236}">
                    <a16:creationId xmlns:a16="http://schemas.microsoft.com/office/drawing/2014/main" id="{279B65F7-35E1-1A2B-E175-F68A1EBA7537}"/>
                  </a:ext>
                </a:extLst>
              </p:cNvPr>
              <p:cNvSpPr/>
              <p:nvPr/>
            </p:nvSpPr>
            <p:spPr>
              <a:xfrm>
                <a:off x="149637" y="2649485"/>
                <a:ext cx="3758183" cy="1498548"/>
              </a:xfrm>
              <a:prstGeom prst="roundRect">
                <a:avLst/>
              </a:prstGeom>
              <a:solidFill>
                <a:srgbClr val="002060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8EC6C67-4261-0303-2D62-A8A8177E952F}"/>
                  </a:ext>
                </a:extLst>
              </p:cNvPr>
              <p:cNvSpPr txBox="1"/>
              <p:nvPr/>
            </p:nvSpPr>
            <p:spPr>
              <a:xfrm>
                <a:off x="244152" y="2858927"/>
                <a:ext cx="3613751" cy="1308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MX" sz="1000" dirty="0">
                    <a:solidFill>
                      <a:prstClr val="white"/>
                    </a:solidFill>
                    <a:latin typeface="Aptos" panose="02110004020202020204"/>
                  </a:rPr>
                  <a:t>CHARLA DE INICIO DE JORNADA.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srgbClr val="FFFFFF"/>
                    </a:solidFill>
                  </a:rPr>
                  <a:t>CONTROLES SSO DIARIOS</a:t>
                </a:r>
                <a:endParaRPr lang="es-MX" sz="1000" dirty="0">
                  <a:solidFill>
                    <a:prstClr val="white"/>
                  </a:solidFill>
                  <a:latin typeface="Aptos" panose="02110004020202020204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prstClr val="white"/>
                    </a:solidFill>
                    <a:latin typeface="Aptos" panose="02110004020202020204"/>
                  </a:rPr>
                  <a:t>DIFUSIÓN POR STREAMING EFICIENCIA ENERGÉTICA.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prstClr val="white"/>
                    </a:solidFill>
                    <a:latin typeface="Aptos" panose="02110004020202020204"/>
                  </a:rPr>
                  <a:t>MANTENIMIENTO DE GENERADOR LTE_CMF_04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prstClr val="white"/>
                    </a:solidFill>
                    <a:latin typeface="Aptos" panose="02110004020202020204"/>
                  </a:rPr>
                  <a:t>REUNIÓN ONLINE DE INICIO DE TFDS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prstClr val="white"/>
                    </a:solidFill>
                    <a:latin typeface="Aptos" panose="02110004020202020204"/>
                  </a:rPr>
                  <a:t>REUNIÓN DE TRONADURA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r>
                  <a:rPr lang="es-ES" sz="1000" dirty="0">
                    <a:solidFill>
                      <a:prstClr val="white"/>
                    </a:solidFill>
                    <a:latin typeface="Aptos" panose="02110004020202020204"/>
                  </a:rPr>
                  <a:t>ATENCIÓN FALLA CARRO LIGHT LTE_12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  <a:defRPr/>
                </a:pPr>
                <a:endParaRPr lang="es-ES" sz="900" dirty="0">
                  <a:solidFill>
                    <a:prstClr val="white"/>
                  </a:solidFill>
                  <a:latin typeface="Aptos" panose="02110004020202020204"/>
                </a:endParaRPr>
              </a:p>
            </p:txBody>
          </p:sp>
        </p:grp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91854512-4DE5-F91F-0BAD-56346608B81A}"/>
              </a:ext>
            </a:extLst>
          </p:cNvPr>
          <p:cNvGrpSpPr/>
          <p:nvPr/>
        </p:nvGrpSpPr>
        <p:grpSpPr>
          <a:xfrm>
            <a:off x="322322" y="4189882"/>
            <a:ext cx="3758183" cy="2170255"/>
            <a:chOff x="322322" y="4189882"/>
            <a:chExt cx="3758183" cy="2170255"/>
          </a:xfrm>
        </p:grpSpPr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E4C826B0-702A-2754-E05E-17960E023A19}"/>
                </a:ext>
              </a:extLst>
            </p:cNvPr>
            <p:cNvSpPr txBox="1"/>
            <p:nvPr/>
          </p:nvSpPr>
          <p:spPr>
            <a:xfrm>
              <a:off x="1362319" y="4189882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28/08/2026</a:t>
              </a:r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3D2F1E3B-9CEB-2E39-6531-A56470D6E050}"/>
                </a:ext>
              </a:extLst>
            </p:cNvPr>
            <p:cNvSpPr/>
            <p:nvPr/>
          </p:nvSpPr>
          <p:spPr>
            <a:xfrm>
              <a:off x="322322" y="4592427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350B435A-6DAB-C190-9FA1-10DE44E0A92E}"/>
                </a:ext>
              </a:extLst>
            </p:cNvPr>
            <p:cNvSpPr txBox="1"/>
            <p:nvPr/>
          </p:nvSpPr>
          <p:spPr>
            <a:xfrm>
              <a:off x="418068" y="4605811"/>
              <a:ext cx="361375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CHARLA DE INICIO DE JORNADA.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CONTROLES SSO DIARIOS.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DIFUSIÓN PROCEDIMIENTO USO INSPECCIÓN REEMPLAZO ALTA VISIBILIDAD.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MANTENIMIENTO DE GENERADOR LTE_CMM_03.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REUNIÓN DE TRONADURA.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ATENCIÓN CAMBIO DE CORREA DE CARRO LTE_CMM_07.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DIFUSIÓN INFORME FLASH N°42 - REPORTE PREVENTIVO.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DIFUSIÓN INFORME FLASH N°43 DSAL – REPORTE PREVENTIVO.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s-ES" sz="900" dirty="0">
                  <a:solidFill>
                    <a:srgbClr val="FFFFFF"/>
                  </a:solidFill>
                </a:rPr>
                <a:t>MANTENIMIENTO DE GENERADOR LTE_CMF_02.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900" dirty="0">
                <a:solidFill>
                  <a:srgbClr val="FFFFFF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s-ES" sz="9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D103D61E-B13D-00F6-2271-6084AA5714D2}"/>
              </a:ext>
            </a:extLst>
          </p:cNvPr>
          <p:cNvGrpSpPr/>
          <p:nvPr/>
        </p:nvGrpSpPr>
        <p:grpSpPr>
          <a:xfrm>
            <a:off x="4208941" y="4753239"/>
            <a:ext cx="3765328" cy="1925949"/>
            <a:chOff x="4208941" y="4753239"/>
            <a:chExt cx="3765328" cy="1925949"/>
          </a:xfrm>
        </p:grpSpPr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E4F791C4-1E7B-FA01-4F1F-B8B14C031C56}"/>
                </a:ext>
              </a:extLst>
            </p:cNvPr>
            <p:cNvSpPr txBox="1"/>
            <p:nvPr/>
          </p:nvSpPr>
          <p:spPr>
            <a:xfrm>
              <a:off x="5464039" y="4753239"/>
              <a:ext cx="1434853" cy="700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29/08/2026</a:t>
              </a:r>
            </a:p>
            <a:p>
              <a:pPr>
                <a:lnSpc>
                  <a:spcPct val="120000"/>
                </a:lnSpc>
                <a:defRPr/>
              </a:pPr>
              <a:endParaRPr lang="es-MX" sz="1600" dirty="0">
                <a:solidFill>
                  <a:prstClr val="white"/>
                </a:solidFill>
              </a:endParaRPr>
            </a:p>
          </p:txBody>
        </p:sp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62EF6B36-D04B-54FB-E1ED-FB29F0E27023}"/>
                </a:ext>
              </a:extLst>
            </p:cNvPr>
            <p:cNvSpPr/>
            <p:nvPr/>
          </p:nvSpPr>
          <p:spPr>
            <a:xfrm>
              <a:off x="4208941" y="5180640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7FA0A755-5A31-C7F5-C1B6-235B651C8CA8}"/>
                </a:ext>
              </a:extLst>
            </p:cNvPr>
            <p:cNvSpPr txBox="1"/>
            <p:nvPr/>
          </p:nvSpPr>
          <p:spPr>
            <a:xfrm>
              <a:off x="4360518" y="5316590"/>
              <a:ext cx="3613751" cy="1338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CHARLA DE INICIO DE JORNADA.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CONTROLES SSO DIARIOS.</a:t>
              </a:r>
              <a:endParaRPr lang="es-MX" sz="900" dirty="0">
                <a:solidFill>
                  <a:srgbClr val="FFFFFF"/>
                </a:solidFill>
              </a:endParaRP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DIFUSIÓN NOTA INTERNA 02/2026 – MINERÍA – 02.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DIFUSIÓN FLASH N°41 GMM, ESSL, 23 DE AGOSTO 2026, EMPRESAS. CODELCO, FASE 3, BAJANDO A CIRCUNVALACIÓN 1.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DIFUSIÓN INFORME FLASH 322/26 ESSL, 323/26 ESSL Y N°112 ESSL.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900" dirty="0">
                  <a:solidFill>
                    <a:srgbClr val="FFFFFF"/>
                  </a:solidFill>
                </a:rPr>
                <a:t>MANTENIMENTO GENERADOR CARRO LTE_CMF_08.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900" dirty="0">
                  <a:solidFill>
                    <a:srgbClr val="FFFFFF"/>
                  </a:solidFill>
                </a:rPr>
                <a:t>TRASLADO DE CARRO LIGHT LTE_12 POR TRONADURA.</a:t>
              </a:r>
              <a:endParaRPr lang="es-MX" sz="900" dirty="0">
                <a:solidFill>
                  <a:srgbClr val="FFFFFF"/>
                </a:solidFill>
              </a:endParaRP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s-MX" sz="9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604CDFC-EF81-8762-324D-096043F83CAB}"/>
              </a:ext>
            </a:extLst>
          </p:cNvPr>
          <p:cNvGrpSpPr/>
          <p:nvPr/>
        </p:nvGrpSpPr>
        <p:grpSpPr>
          <a:xfrm>
            <a:off x="8284180" y="2302226"/>
            <a:ext cx="3758183" cy="2606108"/>
            <a:chOff x="8284180" y="2302226"/>
            <a:chExt cx="3758183" cy="2606108"/>
          </a:xfrm>
        </p:grpSpPr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413A5FD6-0FDF-9CA2-DF4C-2B1F2B96E7DB}"/>
                </a:ext>
              </a:extLst>
            </p:cNvPr>
            <p:cNvSpPr txBox="1"/>
            <p:nvPr/>
          </p:nvSpPr>
          <p:spPr>
            <a:xfrm>
              <a:off x="9343911" y="2302226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31/08/2026</a:t>
              </a:r>
            </a:p>
          </p:txBody>
        </p:sp>
        <p:sp>
          <p:nvSpPr>
            <p:cNvPr id="50" name="Rectángulo: esquinas redondeadas 49">
              <a:extLst>
                <a:ext uri="{FF2B5EF4-FFF2-40B4-BE49-F238E27FC236}">
                  <a16:creationId xmlns:a16="http://schemas.microsoft.com/office/drawing/2014/main" id="{810FB2D5-E24D-F3CE-9C04-410E745F7614}"/>
                </a:ext>
              </a:extLst>
            </p:cNvPr>
            <p:cNvSpPr/>
            <p:nvPr/>
          </p:nvSpPr>
          <p:spPr>
            <a:xfrm>
              <a:off x="8284180" y="2709818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CFBE041F-65F5-AE46-C4E6-E6B2FF3266E1}"/>
                </a:ext>
              </a:extLst>
            </p:cNvPr>
            <p:cNvSpPr txBox="1"/>
            <p:nvPr/>
          </p:nvSpPr>
          <p:spPr>
            <a:xfrm>
              <a:off x="8368428" y="2858927"/>
              <a:ext cx="3613751" cy="2049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lvl="0" indent="-228600">
                <a:buSzPct val="100000"/>
                <a:buFont typeface="Arial" pitchFamily="34"/>
                <a:buChar char="•"/>
                <a:defRPr/>
              </a:pPr>
              <a:r>
                <a:rPr lang="es-MX" sz="900" dirty="0">
                  <a:solidFill>
                    <a:prstClr val="white"/>
                  </a:solidFill>
                  <a:latin typeface="Aptos"/>
                </a:rPr>
                <a:t>CHARLA DE INICIO DE JORNADA.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CONTROLES SSO DIARIOS.</a:t>
              </a:r>
              <a:endParaRPr lang="es-CL" dirty="0"/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REUNIÓN DE TRONADURA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MANTENIMIENTO GENERADOR LTE_CMM_06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LIDERAZGO DE ADC EN TERRENO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Difusión Procedimiento de Higiene Ocupacional GSSO-LTE-P-HO-DSAL-07 Ver:02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FORTALECIMIENTO DEL TRABAJO EN EQUIPO AGOSTO 2026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MX" sz="900" dirty="0">
                <a:solidFill>
                  <a:prstClr val="white"/>
                </a:solidFill>
                <a:latin typeface="Aptos"/>
              </a:endParaRP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CL" sz="900" dirty="0">
                <a:solidFill>
                  <a:prstClr val="white"/>
                </a:solidFill>
                <a:latin typeface="Aptos"/>
              </a:endParaRP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CL" sz="900" dirty="0">
                <a:solidFill>
                  <a:prstClr val="white"/>
                </a:solidFill>
                <a:latin typeface="Aptos"/>
              </a:endParaRP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MX" sz="900" dirty="0">
                <a:solidFill>
                  <a:prstClr val="white"/>
                </a:solidFill>
                <a:latin typeface="Aptos"/>
              </a:endParaRP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MX" sz="900" dirty="0">
                <a:solidFill>
                  <a:prstClr val="white"/>
                </a:solidFill>
                <a:latin typeface="Aptos"/>
              </a:endParaRPr>
            </a:p>
            <a:p>
              <a:pPr marR="0" lvl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tabLst/>
                <a:defRPr/>
              </a:pPr>
              <a:endPara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25F88E71-ED56-3063-B6F0-FDDA3D7C9010}"/>
              </a:ext>
            </a:extLst>
          </p:cNvPr>
          <p:cNvGrpSpPr/>
          <p:nvPr/>
        </p:nvGrpSpPr>
        <p:grpSpPr>
          <a:xfrm>
            <a:off x="8210208" y="310329"/>
            <a:ext cx="3758183" cy="1930419"/>
            <a:chOff x="7858588" y="364479"/>
            <a:chExt cx="3758183" cy="1930419"/>
          </a:xfrm>
        </p:grpSpPr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3F02B15C-C09F-F836-61C9-D2A1E36AD151}"/>
                </a:ext>
              </a:extLst>
            </p:cNvPr>
            <p:cNvSpPr txBox="1"/>
            <p:nvPr/>
          </p:nvSpPr>
          <p:spPr>
            <a:xfrm>
              <a:off x="8691817" y="364479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01/09/2026</a:t>
              </a:r>
            </a:p>
          </p:txBody>
        </p:sp>
        <p:sp>
          <p:nvSpPr>
            <p:cNvPr id="51" name="Rectángulo: esquinas redondeadas 50">
              <a:extLst>
                <a:ext uri="{FF2B5EF4-FFF2-40B4-BE49-F238E27FC236}">
                  <a16:creationId xmlns:a16="http://schemas.microsoft.com/office/drawing/2014/main" id="{7364A821-9B47-1F0A-008C-84026439FFF6}"/>
                </a:ext>
              </a:extLst>
            </p:cNvPr>
            <p:cNvSpPr/>
            <p:nvPr/>
          </p:nvSpPr>
          <p:spPr>
            <a:xfrm>
              <a:off x="7858588" y="796350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2441E73-12C6-A101-EA57-58C0B7094D3C}"/>
                </a:ext>
              </a:extLst>
            </p:cNvPr>
            <p:cNvSpPr txBox="1"/>
            <p:nvPr/>
          </p:nvSpPr>
          <p:spPr>
            <a:xfrm>
              <a:off x="8026720" y="1035607"/>
              <a:ext cx="353651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endParaRPr lang="es-CL" sz="900" dirty="0">
                <a:solidFill>
                  <a:prstClr val="white"/>
                </a:solidFill>
              </a:endParaRPr>
            </a:p>
            <a:p>
              <a:pPr marL="228600" lvl="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CHARLA DE INICIO DE JORNADA.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CONTROLES SSO DIARIOS.</a:t>
              </a:r>
            </a:p>
            <a:p>
              <a:pPr marL="22860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schemeClr val="bg1"/>
                  </a:solidFill>
                </a:rPr>
                <a:t>DIFUSIÓN ESTÁNDAR DE PREVENCIÓN DE FATALIDAD 5: EQUIPOS Y HERRAMIENTAS PORTÁTILES Y MANUALES</a:t>
              </a:r>
              <a:endParaRPr lang="es-ES" sz="900" dirty="0">
                <a:solidFill>
                  <a:prstClr val="white"/>
                </a:solidFill>
                <a:latin typeface="Aptos"/>
              </a:endParaRPr>
            </a:p>
            <a:p>
              <a:pPr marL="228600" lvl="0" indent="-228600">
                <a:buSzPct val="100000"/>
                <a:buFont typeface="Arial" pitchFamily="34"/>
                <a:buChar char="•"/>
                <a:defRPr/>
              </a:pPr>
              <a:r>
                <a:rPr lang="es-ES" sz="900" dirty="0">
                  <a:solidFill>
                    <a:prstClr val="white"/>
                  </a:solidFill>
                  <a:latin typeface="Aptos"/>
                </a:rPr>
                <a:t>REGISTRO REUNIÓN DE FINALIZACIÓN DE TURNO 7X7</a:t>
              </a:r>
              <a:endParaRPr lang="es-MX" sz="900" dirty="0">
                <a:solidFill>
                  <a:prstClr val="white"/>
                </a:solidFill>
                <a:latin typeface="Aptos"/>
              </a:endParaRPr>
            </a:p>
            <a:p>
              <a:pPr marL="228600" lvl="0" indent="-228600">
                <a:buSzPct val="100000"/>
                <a:buFont typeface="Arial" pitchFamily="34"/>
                <a:buChar char="•"/>
                <a:defRPr/>
              </a:pPr>
              <a:endParaRPr lang="es-MX" sz="900" dirty="0">
                <a:solidFill>
                  <a:prstClr val="white"/>
                </a:solidFill>
                <a:latin typeface="Aptos"/>
              </a:endParaRPr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6FDD2E7-6CEE-1F45-F620-FCC14CB128FD}"/>
              </a:ext>
            </a:extLst>
          </p:cNvPr>
          <p:cNvGrpSpPr/>
          <p:nvPr/>
        </p:nvGrpSpPr>
        <p:grpSpPr>
          <a:xfrm>
            <a:off x="8095560" y="4220740"/>
            <a:ext cx="3758183" cy="2202789"/>
            <a:chOff x="8095560" y="4220740"/>
            <a:chExt cx="3758183" cy="2202789"/>
          </a:xfrm>
        </p:grpSpPr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F27BF01C-1128-5D11-8CE3-A5D0754E1513}"/>
                </a:ext>
              </a:extLst>
            </p:cNvPr>
            <p:cNvSpPr txBox="1"/>
            <p:nvPr/>
          </p:nvSpPr>
          <p:spPr>
            <a:xfrm>
              <a:off x="9322419" y="4220740"/>
              <a:ext cx="1678193" cy="4025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es-MX" b="1" dirty="0">
                  <a:solidFill>
                    <a:prstClr val="white"/>
                  </a:solidFill>
                </a:rPr>
                <a:t>30/08/2026</a:t>
              </a:r>
            </a:p>
          </p:txBody>
        </p:sp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428ABE35-443B-5E74-A1E4-63EA6DA4E41D}"/>
                </a:ext>
              </a:extLst>
            </p:cNvPr>
            <p:cNvSpPr/>
            <p:nvPr/>
          </p:nvSpPr>
          <p:spPr>
            <a:xfrm>
              <a:off x="8095560" y="4635642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D9D881BC-DE42-CA43-9D92-B48E7EA7774F}"/>
                </a:ext>
              </a:extLst>
            </p:cNvPr>
            <p:cNvSpPr txBox="1"/>
            <p:nvPr/>
          </p:nvSpPr>
          <p:spPr>
            <a:xfrm>
              <a:off x="8189622" y="4669203"/>
              <a:ext cx="361375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MX" sz="900" dirty="0">
                  <a:solidFill>
                    <a:srgbClr val="FFFFFF"/>
                  </a:solidFill>
                </a:rPr>
                <a:t>CHARLA DE INICIO DE JORNADA.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CONTROLES SSO DIARIOS.</a:t>
              </a:r>
              <a:endParaRPr lang="es-MX" sz="900" dirty="0">
                <a:solidFill>
                  <a:prstClr val="white"/>
                </a:solidFill>
                <a:latin typeface="Aptos"/>
              </a:endParaRP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BAJADA COMUNICACIONAL – REUNIÓN MENSUAL CPHS – DELEGADO SST.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CAPACITACIÓN USO, LIMPIEZA, DESINFECCIÓN Y ALMACENAMIENTO DE PROTECCIÓN RESPIRATORIA.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DIFUSIÓN INFORME FLASH 324/26 ESSL.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DIFUSIÓN INCIDENTES TFDS.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MANTENIMIENTO GENERADOR CARRO LTE_CMF_09.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r>
                <a:rPr lang="es-ES" sz="900" dirty="0">
                  <a:solidFill>
                    <a:srgbClr val="FFFFFF"/>
                  </a:solidFill>
                </a:rPr>
                <a:t>REUNIÓN DE CIERRE TDFS.</a:t>
              </a: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s-ES" sz="900" dirty="0">
                <a:solidFill>
                  <a:srgbClr val="FFFFFF"/>
                </a:solidFill>
              </a:endParaRPr>
            </a:p>
            <a:p>
              <a:pPr marL="171450" marR="0" lvl="0" indent="-1714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anose="020B0604020202020204" pitchFamily="34" charset="0"/>
                <a:buChar char="•"/>
                <a:tabLst/>
                <a:defRPr/>
              </a:pPr>
              <a:endParaRPr lang="es-MX" sz="9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D447284C-3B9F-C9DE-CA71-52738EFF09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55" r="15655"/>
          <a:stretch/>
        </p:blipFill>
        <p:spPr>
          <a:xfrm>
            <a:off x="4601980" y="1491474"/>
            <a:ext cx="2988040" cy="32617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004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86B6F-9043-CB60-4AA0-CC5030FC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37767CC-0795-73D7-8F5B-214901290493}"/>
              </a:ext>
            </a:extLst>
          </p:cNvPr>
          <p:cNvSpPr/>
          <p:nvPr/>
        </p:nvSpPr>
        <p:spPr>
          <a:xfrm>
            <a:off x="2869580" y="17263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3A6DF1-23A3-BAD1-6C9C-EC2EC94B514B}"/>
              </a:ext>
            </a:extLst>
          </p:cNvPr>
          <p:cNvSpPr/>
          <p:nvPr/>
        </p:nvSpPr>
        <p:spPr>
          <a:xfrm>
            <a:off x="3867150" y="994258"/>
            <a:ext cx="44672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TURNO NOCHE</a:t>
            </a:r>
            <a:endParaRPr kumimoji="0" lang="en-LT" sz="4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2A411FF-8573-765D-B78F-E58F8EEDF958}"/>
              </a:ext>
            </a:extLst>
          </p:cNvPr>
          <p:cNvSpPr/>
          <p:nvPr/>
        </p:nvSpPr>
        <p:spPr>
          <a:xfrm>
            <a:off x="457200" y="4347472"/>
            <a:ext cx="10716178" cy="1072938"/>
          </a:xfrm>
          <a:prstGeom prst="roundRect">
            <a:avLst>
              <a:gd name="adj" fmla="val 10177"/>
            </a:avLst>
          </a:prstGeom>
          <a:solidFill>
            <a:schemeClr val="accent1">
              <a:alpha val="95000"/>
            </a:schemeClr>
          </a:solidFill>
          <a:ln w="28575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 sz="1200" b="1" dirty="0"/>
          </a:p>
          <a:p>
            <a:endParaRPr lang="es-ES" sz="1200" b="1" dirty="0"/>
          </a:p>
          <a:p>
            <a:endParaRPr lang="es-ES" sz="1200" b="1" dirty="0"/>
          </a:p>
          <a:p>
            <a:endParaRPr lang="es-ES" sz="1200" b="1" dirty="0"/>
          </a:p>
          <a:p>
            <a:r>
              <a:rPr lang="es-ES" sz="1200" b="1" dirty="0"/>
              <a:t>OBSERVACIONES:</a:t>
            </a:r>
          </a:p>
          <a:p>
            <a:endParaRPr lang="es-ES" sz="1200" b="1" dirty="0"/>
          </a:p>
          <a:p>
            <a:pPr marL="228600" indent="-228600">
              <a:buFont typeface="+mj-lt"/>
              <a:buAutoNum type="arabicPeriod"/>
            </a:pPr>
            <a:r>
              <a:rPr lang="es-ES" sz="1050" b="1" dirty="0"/>
              <a:t>DURANTE EL TURNO NO SE REGISTRARON INCIDENTES CRÍTICOS QUE AFECTARAN LA CONTINUIDAD OPERACIONAL GLOBAL DE LA RED LTE DSAL </a:t>
            </a:r>
          </a:p>
          <a:p>
            <a:pPr marL="228600" indent="-228600">
              <a:buFont typeface="+mj-lt"/>
              <a:buAutoNum type="arabicPeriod"/>
            </a:pPr>
            <a:endParaRPr lang="es-ES" sz="1050" b="1" dirty="0"/>
          </a:p>
          <a:p>
            <a:pPr marL="228600" indent="-228600">
              <a:buFont typeface="+mj-lt"/>
              <a:buAutoNum type="arabicPeriod"/>
            </a:pPr>
            <a:r>
              <a:rPr lang="es-ES" sz="1050" b="1" dirty="0"/>
              <a:t>NO SE REALIZA REPORTABILIDAD DE SITIO 5 EN TURNO DEBIDO A QUE SE ENCUENTRA REPLEGADO POR TRASLADO</a:t>
            </a:r>
          </a:p>
          <a:p>
            <a:endParaRPr lang="es-ES" sz="1050" b="1" dirty="0">
              <a:solidFill>
                <a:schemeClr val="bg1"/>
              </a:solidFill>
            </a:endParaRPr>
          </a:p>
          <a:p>
            <a:endParaRPr lang="es-ES" sz="1000" b="1" dirty="0"/>
          </a:p>
          <a:p>
            <a:pPr marL="228600" indent="-228600">
              <a:buFont typeface="+mj-lt"/>
              <a:buAutoNum type="arabicPeriod"/>
            </a:pPr>
            <a:endParaRPr lang="es-ES" sz="1000" b="1" dirty="0"/>
          </a:p>
          <a:p>
            <a:endParaRPr lang="es-ES" sz="1200" b="1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19E7F9B-4B70-6CAF-CD7B-71FDC6084FE2}"/>
              </a:ext>
            </a:extLst>
          </p:cNvPr>
          <p:cNvGrpSpPr/>
          <p:nvPr/>
        </p:nvGrpSpPr>
        <p:grpSpPr>
          <a:xfrm>
            <a:off x="3273989" y="1868149"/>
            <a:ext cx="7802593" cy="2270690"/>
            <a:chOff x="149637" y="2636221"/>
            <a:chExt cx="3758183" cy="1498548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FADBF9E-E1BB-B1B8-49CA-C69B69568F8D}"/>
                </a:ext>
              </a:extLst>
            </p:cNvPr>
            <p:cNvSpPr/>
            <p:nvPr/>
          </p:nvSpPr>
          <p:spPr>
            <a:xfrm>
              <a:off x="149637" y="2636221"/>
              <a:ext cx="3758183" cy="1498548"/>
            </a:xfrm>
            <a:prstGeom prst="roundRect">
              <a:avLst/>
            </a:prstGeom>
            <a:solidFill>
              <a:srgbClr val="002060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C073FA68-DD05-DDFB-FF4A-4FD8488B531D}"/>
                </a:ext>
              </a:extLst>
            </p:cNvPr>
            <p:cNvSpPr txBox="1"/>
            <p:nvPr/>
          </p:nvSpPr>
          <p:spPr>
            <a:xfrm>
              <a:off x="347985" y="2636221"/>
              <a:ext cx="3487618" cy="1466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None/>
                <a:tabLst/>
                <a:defRPr/>
              </a:pPr>
              <a:r>
                <a:rPr kumimoji="0" lang="es-C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26/08/2026 al </a:t>
              </a:r>
              <a:r>
                <a:rPr lang="es-CL" sz="2400" b="1" dirty="0">
                  <a:solidFill>
                    <a:prstClr val="white">
                      <a:lumMod val="65000"/>
                    </a:prstClr>
                  </a:solidFill>
                  <a:latin typeface="Aptos"/>
                </a:rPr>
                <a:t>01/09</a:t>
              </a:r>
              <a:r>
                <a:rPr kumimoji="0" lang="es-CL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/2026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None/>
                <a:tabLst/>
                <a:defRPr/>
              </a:pPr>
              <a:endPara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PLANIFICACIÓN ACTIVIDADES DIARIAS.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DIFUSIÓN ESTÁNDAR TÉCNICO ELABORACIÓN DE ANÁLISIS DE RIESGOS DEL TRABAJO (ART) CODELCO EL SALVADOR.</a:t>
              </a:r>
              <a:endParaRPr kumimoji="0" lang="es-CL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CONTROL DE FATIGA Y SOMNOLENCIA (ENCUESTA GESTIÓN DE ALERTA TEMPRANA).</a:t>
              </a:r>
              <a:endParaRPr kumimoji="0" lang="es-CL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CONFECCIÓN DE ANÁLISIS DE RIESGO DEL TRABAJO (ART).</a:t>
              </a:r>
              <a:endParaRPr kumimoji="0" lang="es-CL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SE REALIZA REPORTABILIDAD DIARIA GG. LTE 01, 02, 03, 04, 06, 07, 08, 09, 10, 11 </a:t>
              </a:r>
              <a:r>
                <a:rPr lang="es-ES" sz="1000" b="1" dirty="0">
                  <a:solidFill>
                    <a:prstClr val="white"/>
                  </a:solidFill>
                  <a:latin typeface="Aptos"/>
                </a:rPr>
                <a:t> </a:t>
              </a: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Y MMOO</a:t>
              </a:r>
              <a:r>
                <a:rPr kumimoji="0" lang="es-CL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-</a:t>
              </a: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01.</a:t>
              </a:r>
              <a:endParaRPr kumimoji="0" lang="es-CL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MONITOREO GENERAL STATUS ENODO B</a:t>
              </a:r>
              <a:endParaRPr kumimoji="0" lang="es-CL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r>
                <a:rPr kumimoji="0" lang="es-E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MONITOREO GENERAL STATUS DE ENERGÍA.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 typeface="Arial" pitchFamily="34"/>
                <a:buChar char="•"/>
                <a:tabLst/>
                <a:defRPr/>
              </a:pPr>
              <a:endParaRPr lang="es-ES" sz="1100" b="1" dirty="0">
                <a:solidFill>
                  <a:prstClr val="white"/>
                </a:solidFill>
                <a:latin typeface="Aptos"/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386C5666-05C1-4F1B-8B80-73C3FB2F9F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10" b="18210"/>
          <a:stretch/>
        </p:blipFill>
        <p:spPr>
          <a:xfrm>
            <a:off x="340310" y="232531"/>
            <a:ext cx="2736733" cy="38666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DE09E051-BF88-BFE4-DECC-98ECF6DF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0A454FA-C204-AFA0-90D9-C1DA906F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709946B-FE33-E434-D212-962EAD95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082A0B-E906-3CF6-190A-E00463E46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312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LT" sz="8000" b="1" spc="-150">
              <a:latin typeface="Raleway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6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ACTIVIDADES DIARIAS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6" descr="Gears with solid fill">
            <a:extLst>
              <a:ext uri="{FF2B5EF4-FFF2-40B4-BE49-F238E27FC236}">
                <a16:creationId xmlns:a16="http://schemas.microsoft.com/office/drawing/2014/main" id="{A420769D-C5A6-74C1-11B8-9D1329DD2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2263" y="459058"/>
            <a:ext cx="3107474" cy="31074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CB5F465-DF0A-B25E-5911-D6BB6D986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8847" y="7368407"/>
            <a:ext cx="4174302" cy="16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97831"/>
      </p:ext>
    </p:extLst>
  </p:cSld>
  <p:clrMapOvr>
    <a:masterClrMapping/>
  </p:clrMapOvr>
  <p:transition spd="slow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3F92554E-C40A-2007-317A-47C954C1D5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188547"/>
            <a:ext cx="12191999" cy="7102591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Vista general de sección 4">
                <a:extLst>
                  <a:ext uri="{FF2B5EF4-FFF2-40B4-BE49-F238E27FC236}">
                    <a16:creationId xmlns:a16="http://schemas.microsoft.com/office/drawing/2014/main" id="{934F1251-10FE-583B-FF57-06BB93E3EE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14372233"/>
                  </p:ext>
                </p:extLst>
              </p:nvPr>
            </p:nvGraphicFramePr>
            <p:xfrm>
              <a:off x="-2" y="2709572"/>
              <a:ext cx="4789229" cy="2693942"/>
            </p:xfrm>
            <a:graphic>
              <a:graphicData uri="http://schemas.microsoft.com/office/powerpoint/2016/sectionzoom">
                <psez:sectionZm>
                  <psez:sectionZmObj sectionId="{C0FC1212-70F8-499D-A5A1-1AECFA75D0F8}">
                    <psez:zmPr id="{7604BB74-DB37-4150-9748-47D6DD0FEED4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89229" cy="26939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Vista general de sección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34F1251-10FE-583B-FF57-06BB93E3EE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" y="2709572"/>
                <a:ext cx="4789229" cy="2693942"/>
              </a:xfrm>
              <a:prstGeom prst="rect">
                <a:avLst/>
              </a:prstGeom>
            </p:spPr>
          </p:pic>
        </mc:Fallback>
      </mc:AlternateContent>
      <p:pic>
        <p:nvPicPr>
          <p:cNvPr id="23" name="Imagen 22">
            <a:extLst>
              <a:ext uri="{FF2B5EF4-FFF2-40B4-BE49-F238E27FC236}">
                <a16:creationId xmlns:a16="http://schemas.microsoft.com/office/drawing/2014/main" id="{98B39382-98E5-450E-4CE3-3E36CDFED78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8849" y="4941596"/>
            <a:ext cx="4174302" cy="1654152"/>
          </a:xfrm>
          <a:prstGeom prst="rect">
            <a:avLst/>
          </a:prstGeom>
        </p:spPr>
      </p:pic>
      <p:cxnSp>
        <p:nvCxnSpPr>
          <p:cNvPr id="25" name="Straight Connector 12">
            <a:extLst>
              <a:ext uri="{FF2B5EF4-FFF2-40B4-BE49-F238E27FC236}">
                <a16:creationId xmlns:a16="http://schemas.microsoft.com/office/drawing/2014/main" id="{AB9AB427-BF60-6BCB-BA36-BF042B0F1D52}"/>
              </a:ext>
            </a:extLst>
          </p:cNvPr>
          <p:cNvCxnSpPr>
            <a:cxnSpLocks/>
          </p:cNvCxnSpPr>
          <p:nvPr/>
        </p:nvCxnSpPr>
        <p:spPr>
          <a:xfrm flipH="1">
            <a:off x="3183481" y="2082028"/>
            <a:ext cx="1529196" cy="1067669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Straight Connector 12">
            <a:extLst>
              <a:ext uri="{FF2B5EF4-FFF2-40B4-BE49-F238E27FC236}">
                <a16:creationId xmlns:a16="http://schemas.microsoft.com/office/drawing/2014/main" id="{473FA2A6-5150-F510-9A0E-A782B23C8F51}"/>
              </a:ext>
            </a:extLst>
          </p:cNvPr>
          <p:cNvCxnSpPr>
            <a:cxnSpLocks/>
          </p:cNvCxnSpPr>
          <p:nvPr/>
        </p:nvCxnSpPr>
        <p:spPr>
          <a:xfrm flipH="1" flipV="1">
            <a:off x="6979716" y="2020212"/>
            <a:ext cx="1772398" cy="1321041"/>
          </a:xfrm>
          <a:prstGeom prst="line">
            <a:avLst/>
          </a:prstGeom>
          <a:solidFill>
            <a:srgbClr val="12231D">
              <a:alpha val="40000"/>
            </a:srgbClr>
          </a:solidFill>
          <a:ln w="63500" cap="rnd">
            <a:solidFill>
              <a:schemeClr val="bg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" name="Vista general de sección 3">
                <a:extLst>
                  <a:ext uri="{FF2B5EF4-FFF2-40B4-BE49-F238E27FC236}">
                    <a16:creationId xmlns:a16="http://schemas.microsoft.com/office/drawing/2014/main" id="{09E407A8-0B73-476C-03ED-26F19FB8A4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0152080"/>
                  </p:ext>
                </p:extLst>
              </p:nvPr>
            </p:nvGraphicFramePr>
            <p:xfrm>
              <a:off x="3343158" y="-130687"/>
              <a:ext cx="4946487" cy="2782399"/>
            </p:xfrm>
            <a:graphic>
              <a:graphicData uri="http://schemas.microsoft.com/office/powerpoint/2016/sectionzoom">
                <psez:sectionZm>
                  <psez:sectionZmObj sectionId="{0EE20D05-537A-4B50-9B8A-AC4069C25E74}">
                    <psez:zmPr id="{FF16D085-ED85-4001-99EB-BBB81C11D58F}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46487" cy="278239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" name="Vista general de sección 3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09E407A8-0B73-476C-03ED-26F19FB8A4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43158" y="-130687"/>
                <a:ext cx="4946487" cy="2782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Vista general de sección 7">
                <a:extLst>
                  <a:ext uri="{FF2B5EF4-FFF2-40B4-BE49-F238E27FC236}">
                    <a16:creationId xmlns:a16="http://schemas.microsoft.com/office/drawing/2014/main" id="{D57C0600-A180-3C83-A8BC-FD001720CA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5331645"/>
                  </p:ext>
                </p:extLst>
              </p:nvPr>
            </p:nvGraphicFramePr>
            <p:xfrm>
              <a:off x="7441043" y="2736234"/>
              <a:ext cx="4789230" cy="2693942"/>
            </p:xfrm>
            <a:graphic>
              <a:graphicData uri="http://schemas.microsoft.com/office/powerpoint/2016/sectionzoom">
                <psez:sectionZm>
                  <psez:sectionZmObj sectionId="{663C72DC-B12D-4C31-88E5-BA5A135B2E35}">
                    <psez:zmPr id="{3A0BAC2D-99CD-4A86-BFBB-9CDEE29ADC1C}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89230" cy="269394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Vista general de sección 7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D57C0600-A180-3C83-A8BC-FD001720CA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41043" y="2736234"/>
                <a:ext cx="4789230" cy="26939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77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3B6CF-21C3-C233-B852-29B309D4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9F89FE1-FF92-3B50-5F3C-E77027737E8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8410A-B431-6B0C-A64E-B665715298A4}"/>
              </a:ext>
            </a:extLst>
          </p:cNvPr>
          <p:cNvSpPr/>
          <p:nvPr/>
        </p:nvSpPr>
        <p:spPr>
          <a:xfrm>
            <a:off x="2947643" y="3389971"/>
            <a:ext cx="62967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6000" b="1" spc="-150" noProof="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Mantenimiento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preventivo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Torre de telecomunicaciones con relleno sólido">
            <a:extLst>
              <a:ext uri="{FF2B5EF4-FFF2-40B4-BE49-F238E27FC236}">
                <a16:creationId xmlns:a16="http://schemas.microsoft.com/office/drawing/2014/main" id="{6916E912-2F0E-887D-5040-4A0F19160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14333"/>
      </p:ext>
    </p:extLst>
  </p:cSld>
  <p:clrMapOvr>
    <a:masterClrMapping/>
  </p:clrMapOvr>
  <p:transition spd="slow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AD9B3-B055-73E1-2537-BEBD4C1C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9FF287C-7874-D6D2-796A-D79E6C6F4F9A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4898E-B1FE-AE86-E515-05D9E7883955}"/>
              </a:ext>
            </a:extLst>
          </p:cNvPr>
          <p:cNvSpPr/>
          <p:nvPr/>
        </p:nvSpPr>
        <p:spPr>
          <a:xfrm>
            <a:off x="3367821" y="336657"/>
            <a:ext cx="55234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ES" sz="3600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Detalle de Mantenimientos</a:t>
            </a:r>
          </a:p>
          <a:p>
            <a:pPr lvl="0" algn="ctr">
              <a:defRPr/>
            </a:pPr>
            <a:r>
              <a:rPr lang="es-ES" sz="3600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s-ES" sz="2400" b="1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(26 AGO 2026 AL 01 SEP 2026)</a:t>
            </a:r>
            <a:endParaRPr lang="es-ES" sz="2800" b="1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F153FD3-73EA-FC0B-FCC1-3B19DDD343A7}"/>
              </a:ext>
            </a:extLst>
          </p:cNvPr>
          <p:cNvSpPr/>
          <p:nvPr/>
        </p:nvSpPr>
        <p:spPr>
          <a:xfrm>
            <a:off x="5943601" y="2164690"/>
            <a:ext cx="6031654" cy="2963491"/>
          </a:xfrm>
          <a:prstGeom prst="roundRect">
            <a:avLst>
              <a:gd name="adj" fmla="val 9669"/>
            </a:avLst>
          </a:prstGeom>
          <a:solidFill>
            <a:schemeClr val="accent1">
              <a:alpha val="90000"/>
            </a:schemeClr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796CCD8-6505-A2DF-9E08-3C32295405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4D840E9-FBFA-0BB2-BBFB-ECD4CD43CF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240BDB47-D635-1B39-45E6-DCA84B2687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4E775D8-8CE8-F5D1-D58B-D9E511E9B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970092"/>
              </p:ext>
            </p:extLst>
          </p:nvPr>
        </p:nvGraphicFramePr>
        <p:xfrm>
          <a:off x="6129569" y="2324019"/>
          <a:ext cx="5682217" cy="2646806"/>
        </p:xfrm>
        <a:graphic>
          <a:graphicData uri="http://schemas.openxmlformats.org/drawingml/2006/table">
            <a:tbl>
              <a:tblPr/>
              <a:tblGrid>
                <a:gridCol w="970952">
                  <a:extLst>
                    <a:ext uri="{9D8B030D-6E8A-4147-A177-3AD203B41FA5}">
                      <a16:colId xmlns:a16="http://schemas.microsoft.com/office/drawing/2014/main" val="489236293"/>
                    </a:ext>
                  </a:extLst>
                </a:gridCol>
                <a:gridCol w="1414880">
                  <a:extLst>
                    <a:ext uri="{9D8B030D-6E8A-4147-A177-3AD203B41FA5}">
                      <a16:colId xmlns:a16="http://schemas.microsoft.com/office/drawing/2014/main" val="3069086784"/>
                    </a:ext>
                  </a:extLst>
                </a:gridCol>
                <a:gridCol w="1229177">
                  <a:extLst>
                    <a:ext uri="{9D8B030D-6E8A-4147-A177-3AD203B41FA5}">
                      <a16:colId xmlns:a16="http://schemas.microsoft.com/office/drawing/2014/main" val="1384981734"/>
                    </a:ext>
                  </a:extLst>
                </a:gridCol>
                <a:gridCol w="928102">
                  <a:extLst>
                    <a:ext uri="{9D8B030D-6E8A-4147-A177-3AD203B41FA5}">
                      <a16:colId xmlns:a16="http://schemas.microsoft.com/office/drawing/2014/main" val="483333260"/>
                    </a:ext>
                  </a:extLst>
                </a:gridCol>
                <a:gridCol w="1139106">
                  <a:extLst>
                    <a:ext uri="{9D8B030D-6E8A-4147-A177-3AD203B41FA5}">
                      <a16:colId xmlns:a16="http://schemas.microsoft.com/office/drawing/2014/main" val="2761989835"/>
                    </a:ext>
                  </a:extLst>
                </a:gridCol>
              </a:tblGrid>
              <a:tr h="40556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SITIO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TAREA 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FECHA PLANIFICADA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ESTADO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COINCIDE CON PLANIFICACIÓN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201979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LTE_CMF_02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480995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LTE_CMM_03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670586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LTE_CMF_04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774663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LTE_CMM_07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125609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LTE_CMM_06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28-08-2026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427928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LTE_CMM_11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28-08-2026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642464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LTE_CMF_08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  <a:endParaRPr lang="es-CL" sz="11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15974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LTE_CMM_10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759852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LTE_CMF_09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9094"/>
                  </a:ext>
                </a:extLst>
              </a:tr>
              <a:tr h="166518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CL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LTE_CMM_05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CL" sz="110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Mantencion_Preventiva</a:t>
                      </a:r>
                      <a:endParaRPr lang="es-CL" sz="1100" b="1" i="0" u="none" strike="noStrike" kern="120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s-CL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339743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LTE_CMF_01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053041"/>
                  </a:ext>
                </a:extLst>
              </a:tr>
              <a:tr h="1666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CM_MM_OO_O1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  <a:endParaRPr kumimoji="0" lang="es-CL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848581"/>
                  </a:ext>
                </a:extLst>
              </a:tr>
              <a:tr h="11055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LTE_CMM_12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Mantencion_Preventiva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01-08-2026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CL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 REALIZADO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4763" marR="4763" marT="4763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071912"/>
                  </a:ext>
                </a:extLst>
              </a:tr>
            </a:tbl>
          </a:graphicData>
        </a:graphic>
      </p:graphicFrame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4EC6D4A-936E-1A2E-9178-07D78F59A881}"/>
              </a:ext>
            </a:extLst>
          </p:cNvPr>
          <p:cNvSpPr/>
          <p:nvPr/>
        </p:nvSpPr>
        <p:spPr>
          <a:xfrm>
            <a:off x="216745" y="2164690"/>
            <a:ext cx="5523497" cy="2963491"/>
          </a:xfrm>
          <a:prstGeom prst="roundRect">
            <a:avLst>
              <a:gd name="adj" fmla="val 9619"/>
            </a:avLst>
          </a:prstGeom>
          <a:solidFill>
            <a:schemeClr val="accent1">
              <a:alpha val="9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1200" b="1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OBSERVACIONES: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  <a:defRPr/>
            </a:pPr>
            <a:endParaRPr lang="es-E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>
              <a:buFont typeface="+mj-lt"/>
              <a:buAutoNum type="arabicPeriod"/>
              <a:defRPr/>
            </a:pPr>
            <a:r>
              <a:rPr lang="es-ES" sz="1200" b="1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DURANTE LA SEMANA SE POSPUSO EL MANTENIMIENTO PREVENTIVO DE LOS CARROS PARA REALIZAR MANTENIMIENTO DE GENERADORES.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  <a:defRPr/>
            </a:pPr>
            <a:endParaRPr lang="es-E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defRPr/>
            </a:pPr>
            <a:endParaRPr lang="es-ES" sz="1200" b="1" dirty="0">
              <a:solidFill>
                <a:prstClr val="whit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7D45CA9-33C9-56BA-DC49-A1EC3B6D5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36" b="22836"/>
          <a:stretch/>
        </p:blipFill>
        <p:spPr>
          <a:xfrm>
            <a:off x="3700900" y="5248164"/>
            <a:ext cx="4725503" cy="14441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Imagen 15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46729268-1C72-BCB4-6028-7C3E7A0D3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103" y="597671"/>
            <a:ext cx="1390747" cy="139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25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EF15A-FC7C-CDD3-67A8-2B84B781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C7BAB28-33C7-4AAA-82B0-71C51F79B401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FF7AE-69A0-79D6-6BB9-861C9FB9F5DE}"/>
              </a:ext>
            </a:extLst>
          </p:cNvPr>
          <p:cNvSpPr/>
          <p:nvPr/>
        </p:nvSpPr>
        <p:spPr>
          <a:xfrm>
            <a:off x="2947643" y="3389971"/>
            <a:ext cx="62967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4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REPORTABILIDAD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5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GG</a:t>
            </a:r>
            <a:endParaRPr kumimoji="0" lang="en-LT" sz="5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 descr="Proteger con relleno sólido">
            <a:extLst>
              <a:ext uri="{FF2B5EF4-FFF2-40B4-BE49-F238E27FC236}">
                <a16:creationId xmlns:a16="http://schemas.microsoft.com/office/drawing/2014/main" id="{6141FDEA-7943-7B90-D8DF-0906FD4252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11276"/>
      </p:ext>
    </p:extLst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505CD-DB4B-1E74-A0B2-A9066D04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F9FEB2B-B06E-9A46-BF1D-D330F99BC9D9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F0426C-2FF3-1A29-8270-CD40986261D6}"/>
              </a:ext>
            </a:extLst>
          </p:cNvPr>
          <p:cNvSpPr/>
          <p:nvPr/>
        </p:nvSpPr>
        <p:spPr>
          <a:xfrm>
            <a:off x="4711974" y="258580"/>
            <a:ext cx="276805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5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REPORTABILIDAD</a:t>
            </a: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 </a:t>
            </a:r>
            <a:r>
              <a:rPr kumimoji="0" lang="es-CL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GENERADORES</a:t>
            </a:r>
            <a:endParaRPr kumimoji="0" lang="en-LT" sz="2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F85E320-E32D-15F3-16EE-497157483431}"/>
              </a:ext>
            </a:extLst>
          </p:cNvPr>
          <p:cNvSpPr/>
          <p:nvPr/>
        </p:nvSpPr>
        <p:spPr>
          <a:xfrm>
            <a:off x="448164" y="3864990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28/08/2026</a:t>
            </a:r>
            <a:endParaRPr lang="es-CL" sz="1600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D102AA-0500-B5BE-6CF0-E68FAE7539C8}"/>
              </a:ext>
            </a:extLst>
          </p:cNvPr>
          <p:cNvSpPr/>
          <p:nvPr/>
        </p:nvSpPr>
        <p:spPr>
          <a:xfrm>
            <a:off x="448164" y="1473633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 26/08/2026</a:t>
            </a:r>
            <a:endParaRPr lang="es-CL" sz="1600" b="1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2C00BC-209F-A6AA-8A5B-3B6AF5877A3E}"/>
              </a:ext>
            </a:extLst>
          </p:cNvPr>
          <p:cNvSpPr/>
          <p:nvPr/>
        </p:nvSpPr>
        <p:spPr>
          <a:xfrm>
            <a:off x="6492349" y="1473633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 27/08/2026</a:t>
            </a:r>
            <a:endParaRPr lang="es-CL" sz="1600" b="1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B54E655-8D6A-4AEC-2A67-22CF8524E7CB}"/>
              </a:ext>
            </a:extLst>
          </p:cNvPr>
          <p:cNvSpPr/>
          <p:nvPr/>
        </p:nvSpPr>
        <p:spPr>
          <a:xfrm>
            <a:off x="6492349" y="3864990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29/08/2026</a:t>
            </a:r>
            <a:endParaRPr lang="es-CL" sz="1600" b="1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7D92639-F402-1377-CBC6-56F047F8A9EF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448164" y="1793148"/>
            <a:ext cx="5313806" cy="171205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DF14F91-DA76-997E-2BC0-270D4A3843E0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6492349" y="4184505"/>
            <a:ext cx="5251486" cy="15624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F5C12A6-9C10-FAD2-B712-6B66EBBE9CEF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6492349" y="1793148"/>
            <a:ext cx="5251486" cy="171205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EAA4F27-C694-EBB0-A337-0CDFC21FD457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448163" y="4190600"/>
            <a:ext cx="5313807" cy="155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94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6B18A-35F5-5F9B-CA0B-8CC720E5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E9C189D-1B02-9578-1D52-A5EB9C77AF91}"/>
              </a:ext>
            </a:extLst>
          </p:cNvPr>
          <p:cNvSpPr/>
          <p:nvPr/>
        </p:nvSpPr>
        <p:spPr>
          <a:xfrm>
            <a:off x="2869581" y="146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C9922-DDCC-71B7-1C24-64323B4FDA0C}"/>
              </a:ext>
            </a:extLst>
          </p:cNvPr>
          <p:cNvSpPr/>
          <p:nvPr/>
        </p:nvSpPr>
        <p:spPr>
          <a:xfrm>
            <a:off x="4711974" y="258580"/>
            <a:ext cx="276805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25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REPORTABILIDAD</a:t>
            </a: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 </a:t>
            </a:r>
            <a:r>
              <a:rPr kumimoji="0" lang="es-CL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GENERADORES</a:t>
            </a:r>
            <a:endParaRPr kumimoji="0" lang="en-LT" sz="24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3E4DFD8-6DDA-8447-F919-E325A26E59E4}"/>
              </a:ext>
            </a:extLst>
          </p:cNvPr>
          <p:cNvSpPr/>
          <p:nvPr/>
        </p:nvSpPr>
        <p:spPr>
          <a:xfrm>
            <a:off x="6492349" y="1473633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31/08/2026</a:t>
            </a:r>
            <a:endParaRPr lang="es-CL" sz="1600" b="1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42C2378-A29C-4D0E-296C-70AE86F2FFE1}"/>
              </a:ext>
            </a:extLst>
          </p:cNvPr>
          <p:cNvSpPr/>
          <p:nvPr/>
        </p:nvSpPr>
        <p:spPr>
          <a:xfrm>
            <a:off x="436644" y="3768290"/>
            <a:ext cx="3068034" cy="367056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01/09/2026</a:t>
            </a:r>
            <a:endParaRPr lang="es-CL" sz="1600" b="1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01E27B5-DD2F-F277-EA5E-D2CCE64D3220}"/>
              </a:ext>
            </a:extLst>
          </p:cNvPr>
          <p:cNvSpPr/>
          <p:nvPr/>
        </p:nvSpPr>
        <p:spPr>
          <a:xfrm>
            <a:off x="436644" y="1454119"/>
            <a:ext cx="3068034" cy="319515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REPORTABILIDAD GG 30/08/2026</a:t>
            </a:r>
            <a:endParaRPr lang="es-CL" sz="1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092BD8F-0713-3512-B0B2-AAE8002417BC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6492349" y="1763525"/>
            <a:ext cx="5069423" cy="151309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01F95C-C827-22DC-5B31-78AB08CCFE60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436644" y="4135346"/>
            <a:ext cx="5191894" cy="16253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7D3E3E-3994-937E-2610-35EA23994A74}"/>
              </a:ext>
            </a:extLst>
          </p:cNvPr>
          <p:cNvPicPr>
            <a:picLocks noChangeAspect="1"/>
          </p:cNvPicPr>
          <p:nvPr/>
        </p:nvPicPr>
        <p:blipFill>
          <a:blip r:embed="rIdMarcador"/>
          <a:stretch/>
        </p:blipFill>
        <p:spPr>
          <a:xfrm>
            <a:off x="436644" y="1783550"/>
            <a:ext cx="5191894" cy="151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4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ADAE7-A0A8-5BAF-8269-A5291670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84B5CCC-8F94-FA69-CA0C-EEA4A0139305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F6600D-04CD-20B9-2BCE-09354D446E3E}"/>
              </a:ext>
            </a:extLst>
          </p:cNvPr>
          <p:cNvSpPr/>
          <p:nvPr/>
        </p:nvSpPr>
        <p:spPr>
          <a:xfrm>
            <a:off x="2947643" y="3389971"/>
            <a:ext cx="62967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6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  <a:endParaRPr kumimoji="0" lang="en-LT" sz="6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608DB805-6DE5-6C3D-CCF5-74B181093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15944" y="823073"/>
            <a:ext cx="2360111" cy="236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05576"/>
      </p:ext>
    </p:extLst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DE32C-16F0-CA38-CBF0-FDA293A33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6D70DEF-307D-04A5-E948-D138A6AFCF7E}"/>
              </a:ext>
            </a:extLst>
          </p:cNvPr>
          <p:cNvSpPr/>
          <p:nvPr/>
        </p:nvSpPr>
        <p:spPr>
          <a:xfrm>
            <a:off x="2869581" y="20258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5FA45-FA96-A3B4-C9E3-D42D4D194A5C}"/>
              </a:ext>
            </a:extLst>
          </p:cNvPr>
          <p:cNvSpPr/>
          <p:nvPr/>
        </p:nvSpPr>
        <p:spPr>
          <a:xfrm>
            <a:off x="4624033" y="521966"/>
            <a:ext cx="31595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 </a:t>
            </a: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26 AGOSTO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15A25BC-8DBF-7891-1D2D-8A2ACFA26DDE}"/>
              </a:ext>
            </a:extLst>
          </p:cNvPr>
          <p:cNvGrpSpPr/>
          <p:nvPr/>
        </p:nvGrpSpPr>
        <p:grpSpPr>
          <a:xfrm>
            <a:off x="8123127" y="1363197"/>
            <a:ext cx="2876727" cy="3780302"/>
            <a:chOff x="1152397" y="1478436"/>
            <a:chExt cx="2292860" cy="3293982"/>
          </a:xfrm>
        </p:grpSpPr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60CD43A9-077F-D504-ADDA-FF50FB7FC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351450" y="1478436"/>
              <a:ext cx="2093807" cy="3293982"/>
            </a:xfrm>
            <a:prstGeom prst="rect">
              <a:avLst/>
            </a:prstGeom>
          </p:spPr>
        </p:pic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722962B9-ED37-4ABD-FB72-395C76D5E430}"/>
                </a:ext>
              </a:extLst>
            </p:cNvPr>
            <p:cNvSpPr/>
            <p:nvPr/>
          </p:nvSpPr>
          <p:spPr>
            <a:xfrm rot="16200000">
              <a:off x="-372748" y="3003581"/>
              <a:ext cx="3293981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/>
                <a:t>ART: CONDUCCION DE VEHICULO LIVIANO.</a:t>
              </a:r>
              <a:endParaRPr lang="es-CL" sz="900" dirty="0"/>
            </a:p>
          </p:txBody>
        </p:sp>
      </p:grpSp>
      <p:pic>
        <p:nvPicPr>
          <p:cNvPr id="50" name="Imagen 49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BE40A5AD-F4EF-9DCC-46A7-652EBF3C7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4978" y="503206"/>
            <a:ext cx="1390747" cy="13907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96E7141-2970-3589-2512-990DE6035678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4322382" y="4066419"/>
            <a:ext cx="2907198" cy="25353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D165E22-DCD6-5CEA-6099-E905EFF5C07A}"/>
              </a:ext>
            </a:extLst>
          </p:cNvPr>
          <p:cNvSpPr txBox="1"/>
          <p:nvPr/>
        </p:nvSpPr>
        <p:spPr>
          <a:xfrm>
            <a:off x="3459559" y="2222306"/>
            <a:ext cx="46155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bg1"/>
                </a:solidFill>
              </a:rPr>
              <a:t>DIFUSIÓN POR STREAMING FLORA Y FAUNA EL SALVADOR CHILE.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bg1"/>
                </a:solidFill>
              </a:rPr>
              <a:t>REUNIÓN CON SSO/ADC SOBRE RF1.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bg1"/>
                </a:solidFill>
              </a:rPr>
              <a:t>REUNIÓN MENSUAL DE SSO.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772F296-2387-5CE9-3607-0AEE7400356E}"/>
              </a:ext>
            </a:extLst>
          </p:cNvPr>
          <p:cNvGrpSpPr/>
          <p:nvPr/>
        </p:nvGrpSpPr>
        <p:grpSpPr>
          <a:xfrm>
            <a:off x="255420" y="1266682"/>
            <a:ext cx="2882929" cy="4383317"/>
            <a:chOff x="205028" y="959019"/>
            <a:chExt cx="2296215" cy="2964273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54C356D1-9AA5-DFAD-9C09-6575EC4642D8}"/>
                </a:ext>
              </a:extLst>
            </p:cNvPr>
            <p:cNvSpPr/>
            <p:nvPr/>
          </p:nvSpPr>
          <p:spPr>
            <a:xfrm>
              <a:off x="205028" y="959019"/>
              <a:ext cx="2296215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DIFUSIÓN POR STREAMING FLORA Y FAUNA EL SALVADOR CHILE.</a:t>
              </a:r>
            </a:p>
          </p:txBody>
        </p:sp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BBEFE864-C1D9-861D-FB65-84FE56A7F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205028" y="1259644"/>
              <a:ext cx="2296215" cy="2663648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3121EBD4-044C-AF43-8884-76FCC4897F46}"/>
              </a:ext>
            </a:extLst>
          </p:cNvPr>
          <p:cNvGrpSpPr/>
          <p:nvPr/>
        </p:nvGrpSpPr>
        <p:grpSpPr>
          <a:xfrm>
            <a:off x="8422846" y="1772396"/>
            <a:ext cx="2950770" cy="3877603"/>
            <a:chOff x="1152397" y="1478436"/>
            <a:chExt cx="2292860" cy="329398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799B632-3B15-1D76-0CC2-B91A500DD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351450" y="1478437"/>
              <a:ext cx="2093807" cy="3293981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7C2F451B-460D-BB83-4190-209171279F87}"/>
                </a:ext>
              </a:extLst>
            </p:cNvPr>
            <p:cNvSpPr/>
            <p:nvPr/>
          </p:nvSpPr>
          <p:spPr>
            <a:xfrm rot="16200000">
              <a:off x="-372748" y="3003581"/>
              <a:ext cx="3293981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900" dirty="0"/>
                <a:t>ART: MANTENIMIENTO PREVENTIVO LTE_CMM_07.</a:t>
              </a:r>
              <a:endParaRPr lang="es-CL" sz="900" dirty="0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653C706E-4BB2-8976-556A-FBA9A2590FFA}"/>
              </a:ext>
            </a:extLst>
          </p:cNvPr>
          <p:cNvGrpSpPr/>
          <p:nvPr/>
        </p:nvGrpSpPr>
        <p:grpSpPr>
          <a:xfrm>
            <a:off x="534033" y="1650065"/>
            <a:ext cx="2907198" cy="2785679"/>
            <a:chOff x="205028" y="959019"/>
            <a:chExt cx="2315545" cy="18838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2453AEB-86D2-E74E-EF77-3E8493DC137D}"/>
                </a:ext>
              </a:extLst>
            </p:cNvPr>
            <p:cNvSpPr/>
            <p:nvPr/>
          </p:nvSpPr>
          <p:spPr>
            <a:xfrm>
              <a:off x="205028" y="959019"/>
              <a:ext cx="2296215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REUNIÓN MENSUAL DE SSO.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120BB4FD-5659-5ECE-9EF3-E102BA483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224358" y="1265361"/>
              <a:ext cx="2296215" cy="1577509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BF23DE4-DF70-3CBF-51DF-4A6EA3D676F2}"/>
              </a:ext>
            </a:extLst>
          </p:cNvPr>
          <p:cNvGrpSpPr/>
          <p:nvPr/>
        </p:nvGrpSpPr>
        <p:grpSpPr>
          <a:xfrm>
            <a:off x="8728593" y="2352662"/>
            <a:ext cx="3008217" cy="3877602"/>
            <a:chOff x="1152397" y="1478436"/>
            <a:chExt cx="2337499" cy="3293981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BE0452AC-BFC6-459C-6359-EA707C47E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396089" y="1491318"/>
              <a:ext cx="2093807" cy="3268216"/>
            </a:xfrm>
            <a:prstGeom prst="rect">
              <a:avLst/>
            </a:prstGeom>
          </p:spPr>
        </p:pic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BE43752D-ED4F-6FD2-CB6F-378841AC1475}"/>
                </a:ext>
              </a:extLst>
            </p:cNvPr>
            <p:cNvSpPr/>
            <p:nvPr/>
          </p:nvSpPr>
          <p:spPr>
            <a:xfrm rot="16200000">
              <a:off x="-372748" y="3003581"/>
              <a:ext cx="3293981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/>
                <a:t>ART: CAMBIO DE BATERÍA DE GENERADOR LTE_MMOO_01</a:t>
              </a:r>
              <a:endParaRPr lang="es-CL" sz="900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87ADFC0-07F8-1559-C8F1-B1CCD8CDC965}"/>
              </a:ext>
            </a:extLst>
          </p:cNvPr>
          <p:cNvGrpSpPr/>
          <p:nvPr/>
        </p:nvGrpSpPr>
        <p:grpSpPr>
          <a:xfrm>
            <a:off x="9036181" y="2718378"/>
            <a:ext cx="3008217" cy="3877602"/>
            <a:chOff x="1152397" y="1478436"/>
            <a:chExt cx="2337499" cy="3293981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42B46F60-0DAA-5EC0-A456-7B57BB418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396089" y="1504200"/>
              <a:ext cx="2093807" cy="3268216"/>
            </a:xfrm>
            <a:prstGeom prst="rect">
              <a:avLst/>
            </a:prstGeom>
          </p:spPr>
        </p:pic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563CE83-6126-CDCA-3140-9F642921E228}"/>
                </a:ext>
              </a:extLst>
            </p:cNvPr>
            <p:cNvSpPr/>
            <p:nvPr/>
          </p:nvSpPr>
          <p:spPr>
            <a:xfrm rot="16200000">
              <a:off x="-372748" y="3003581"/>
              <a:ext cx="3293981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/>
                <a:t>ART: ATENCIÓN FALLA CARRO LIGHT LTE_12</a:t>
              </a:r>
              <a:endParaRPr lang="es-CL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74825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8BB87-2EA6-C52C-B31E-6DE89264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DBD5D22-1A0B-10B6-6C7C-AE73F57685F1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8BEEA-A132-CA74-5A39-332801B4A5F0}"/>
              </a:ext>
            </a:extLst>
          </p:cNvPr>
          <p:cNvSpPr/>
          <p:nvPr/>
        </p:nvSpPr>
        <p:spPr>
          <a:xfrm>
            <a:off x="4549482" y="551403"/>
            <a:ext cx="310508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27 AGOSTO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F2AF7F-0F76-820F-1E4E-BDE5F7A0F586}"/>
              </a:ext>
            </a:extLst>
          </p:cNvPr>
          <p:cNvSpPr txBox="1"/>
          <p:nvPr/>
        </p:nvSpPr>
        <p:spPr>
          <a:xfrm>
            <a:off x="3446608" y="2108715"/>
            <a:ext cx="513028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POR STREAMING EFICIENCIA ENERGÉTICA.</a:t>
            </a:r>
          </a:p>
          <a:p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ONLINE DE INICIO DE TFDS</a:t>
            </a:r>
          </a:p>
          <a:p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TRONADURA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D2840836-C760-B10B-8858-0C885F494BAA}"/>
              </a:ext>
            </a:extLst>
          </p:cNvPr>
          <p:cNvGrpSpPr/>
          <p:nvPr/>
        </p:nvGrpSpPr>
        <p:grpSpPr>
          <a:xfrm>
            <a:off x="54054" y="1333500"/>
            <a:ext cx="2572070" cy="3639128"/>
            <a:chOff x="205028" y="975723"/>
            <a:chExt cx="2296215" cy="3144816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6FE142F1-CD54-5262-C450-928D6CCE4F8A}"/>
                </a:ext>
              </a:extLst>
            </p:cNvPr>
            <p:cNvSpPr/>
            <p:nvPr/>
          </p:nvSpPr>
          <p:spPr>
            <a:xfrm>
              <a:off x="205028" y="975723"/>
              <a:ext cx="2296215" cy="283920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latin typeface="Arial MT"/>
                  <a:ea typeface="Arial MT"/>
                  <a:cs typeface="Arial MT"/>
                </a:rPr>
                <a:t>Difusión por Streaming Eficiencia Energética.</a:t>
              </a:r>
            </a:p>
          </p:txBody>
        </p:sp>
        <p:pic>
          <p:nvPicPr>
            <p:cNvPr id="55" name="Imagen 54">
              <a:extLst>
                <a:ext uri="{FF2B5EF4-FFF2-40B4-BE49-F238E27FC236}">
                  <a16:creationId xmlns:a16="http://schemas.microsoft.com/office/drawing/2014/main" id="{49745696-2E24-AA6F-207F-1A5F0C036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221793" y="1259643"/>
              <a:ext cx="2275291" cy="2860896"/>
            </a:xfrm>
            <a:prstGeom prst="rect">
              <a:avLst/>
            </a:prstGeom>
          </p:spPr>
        </p:pic>
      </p:grpSp>
      <p:pic>
        <p:nvPicPr>
          <p:cNvPr id="21" name="Imagen 20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19AD1D23-7645-6BDE-4B46-DFBCB1903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922" y="466776"/>
            <a:ext cx="1390747" cy="13907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FD5C422-FA8D-0F36-6426-2DCE78869407}"/>
              </a:ext>
            </a:extLst>
          </p:cNvPr>
          <p:cNvPicPr>
            <a:picLocks noChangeAspect="1"/>
          </p:cNvPicPr>
          <p:nvPr/>
        </p:nvPicPr>
        <p:blipFill>
          <a:blip r:embed="rIdMarcadorDif">
            <a:lum contrast="20000"/>
          </a:blip>
          <a:stretch>
            <a:fillRect/>
          </a:stretch>
        </p:blipFill>
        <p:spPr>
          <a:xfrm>
            <a:off x="4171406" y="4392090"/>
            <a:ext cx="3843230" cy="22719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61F8E6EA-E2E2-B627-2DFE-C71EA55BA4DC}"/>
              </a:ext>
            </a:extLst>
          </p:cNvPr>
          <p:cNvGrpSpPr/>
          <p:nvPr/>
        </p:nvGrpSpPr>
        <p:grpSpPr>
          <a:xfrm>
            <a:off x="8553112" y="1162149"/>
            <a:ext cx="2814785" cy="3541070"/>
            <a:chOff x="5715277" y="559848"/>
            <a:chExt cx="2343799" cy="2677401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3A57CF8A-16E3-9868-4233-45940F1EF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5907487" y="559848"/>
              <a:ext cx="2151589" cy="2670855"/>
            </a:xfrm>
            <a:prstGeom prst="rect">
              <a:avLst/>
            </a:prstGeom>
          </p:spPr>
        </p:pic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AA9EBED0-C33E-5EAC-D7CB-F44F36AE20C9}"/>
                </a:ext>
              </a:extLst>
            </p:cNvPr>
            <p:cNvSpPr txBox="1"/>
            <p:nvPr/>
          </p:nvSpPr>
          <p:spPr>
            <a:xfrm rot="16200000">
              <a:off x="4475954" y="1805718"/>
              <a:ext cx="2670854" cy="192208"/>
            </a:xfrm>
            <a:prstGeom prst="rect">
              <a:avLst/>
            </a:prstGeom>
            <a:solidFill>
              <a:srgbClr val="364383">
                <a:alpha val="9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>
                  <a:solidFill>
                    <a:schemeClr val="bg1"/>
                  </a:solidFill>
                </a:rPr>
                <a:t>ART: CONDUCCION DE VEHICULO LIVIANO</a:t>
              </a:r>
              <a:endParaRPr lang="es-MX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E320AD37-B1B2-131B-7B5E-56784CA26AD5}"/>
              </a:ext>
            </a:extLst>
          </p:cNvPr>
          <p:cNvGrpSpPr/>
          <p:nvPr/>
        </p:nvGrpSpPr>
        <p:grpSpPr>
          <a:xfrm>
            <a:off x="8739434" y="1431558"/>
            <a:ext cx="2814785" cy="3541070"/>
            <a:chOff x="5715277" y="559848"/>
            <a:chExt cx="2343799" cy="2677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C3C00C6-B56E-532D-14B6-3C8D69CAC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5907487" y="559848"/>
              <a:ext cx="2151589" cy="2670855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D4F4DEB-89FC-A5D9-D1CC-5503AB9C9C1F}"/>
                </a:ext>
              </a:extLst>
            </p:cNvPr>
            <p:cNvSpPr txBox="1"/>
            <p:nvPr/>
          </p:nvSpPr>
          <p:spPr>
            <a:xfrm rot="16200000">
              <a:off x="4475954" y="1805718"/>
              <a:ext cx="2670854" cy="192208"/>
            </a:xfrm>
            <a:prstGeom prst="rect">
              <a:avLst/>
            </a:prstGeom>
            <a:solidFill>
              <a:srgbClr val="364383">
                <a:alpha val="9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>
                  <a:solidFill>
                    <a:schemeClr val="bg1"/>
                  </a:solidFill>
                </a:rPr>
                <a:t>ART: MANTENIMIENTO GENERADOR LTE_CMF_04</a:t>
              </a:r>
              <a:endParaRPr lang="es-MX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86E72B48-F90C-D1B4-B9C0-B020E217D2BC}"/>
              </a:ext>
            </a:extLst>
          </p:cNvPr>
          <p:cNvGrpSpPr/>
          <p:nvPr/>
        </p:nvGrpSpPr>
        <p:grpSpPr>
          <a:xfrm>
            <a:off x="297509" y="1674145"/>
            <a:ext cx="2572072" cy="1749111"/>
            <a:chOff x="205026" y="975723"/>
            <a:chExt cx="2296217" cy="151152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B1EED112-2ED5-9555-BFFA-65500DB12C08}"/>
                </a:ext>
              </a:extLst>
            </p:cNvPr>
            <p:cNvSpPr/>
            <p:nvPr/>
          </p:nvSpPr>
          <p:spPr>
            <a:xfrm>
              <a:off x="205028" y="975723"/>
              <a:ext cx="2296215" cy="283920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latin typeface="Arial MT"/>
                  <a:ea typeface="Arial MT"/>
                  <a:cs typeface="Arial MT"/>
                </a:rPr>
                <a:t>Reunión online de inicio de TFDS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BE0D6DA-272C-66C6-B61F-42E5393E0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205026" y="1249188"/>
              <a:ext cx="2275291" cy="1238060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DE7F75A-6E48-393D-E811-72D7A454D6D5}"/>
              </a:ext>
            </a:extLst>
          </p:cNvPr>
          <p:cNvGrpSpPr/>
          <p:nvPr/>
        </p:nvGrpSpPr>
        <p:grpSpPr>
          <a:xfrm>
            <a:off x="498747" y="1990594"/>
            <a:ext cx="2572070" cy="3634944"/>
            <a:chOff x="205028" y="975723"/>
            <a:chExt cx="2296215" cy="314120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5F86604-B689-8D3F-4DC2-265CC4128C0D}"/>
                </a:ext>
              </a:extLst>
            </p:cNvPr>
            <p:cNvSpPr/>
            <p:nvPr/>
          </p:nvSpPr>
          <p:spPr>
            <a:xfrm>
              <a:off x="205028" y="975723"/>
              <a:ext cx="2296215" cy="283920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latin typeface="Arial MT"/>
                  <a:ea typeface="Arial MT"/>
                  <a:cs typeface="Arial MT"/>
                </a:rPr>
                <a:t>Reunión de Tronadura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63D9B9D-643B-5B63-50AF-96F278BE3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221793" y="1263257"/>
              <a:ext cx="2275291" cy="2853666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DA36E71-E4EC-F112-7975-85A902A4105B}"/>
              </a:ext>
            </a:extLst>
          </p:cNvPr>
          <p:cNvGrpSpPr/>
          <p:nvPr/>
        </p:nvGrpSpPr>
        <p:grpSpPr>
          <a:xfrm>
            <a:off x="8970269" y="1735798"/>
            <a:ext cx="2814785" cy="3541070"/>
            <a:chOff x="5715277" y="559848"/>
            <a:chExt cx="2343799" cy="2677401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3E504E1-E69A-D43B-B398-E339FEB42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5907487" y="559848"/>
              <a:ext cx="2151589" cy="2670855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E8CF8158-D8DF-8A36-ADC5-C713BC65947B}"/>
                </a:ext>
              </a:extLst>
            </p:cNvPr>
            <p:cNvSpPr txBox="1"/>
            <p:nvPr/>
          </p:nvSpPr>
          <p:spPr>
            <a:xfrm rot="16200000">
              <a:off x="4475954" y="1805718"/>
              <a:ext cx="2670854" cy="192208"/>
            </a:xfrm>
            <a:prstGeom prst="rect">
              <a:avLst/>
            </a:prstGeom>
            <a:solidFill>
              <a:srgbClr val="364383">
                <a:alpha val="95000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>
                  <a:solidFill>
                    <a:schemeClr val="bg1"/>
                  </a:solidFill>
                </a:rPr>
                <a:t>ART: ATENCIÓN FALLA CARRO LIGHT LTE_12</a:t>
              </a:r>
              <a:endParaRPr lang="es-MX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9205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91F92-C89B-AF1A-5A3E-F51644D1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E13CAB-D69E-0217-B895-EF86C1DD252D}"/>
              </a:ext>
            </a:extLst>
          </p:cNvPr>
          <p:cNvSpPr/>
          <p:nvPr/>
        </p:nvSpPr>
        <p:spPr>
          <a:xfrm>
            <a:off x="2869581" y="17956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EB26B-0C7C-78BA-CDB2-E59912F12CBC}"/>
              </a:ext>
            </a:extLst>
          </p:cNvPr>
          <p:cNvSpPr/>
          <p:nvPr/>
        </p:nvSpPr>
        <p:spPr>
          <a:xfrm>
            <a:off x="4329615" y="626801"/>
            <a:ext cx="38717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28 AGOSTO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F235E8-04B8-9E2C-31FC-CB796E5955F1}"/>
              </a:ext>
            </a:extLst>
          </p:cNvPr>
          <p:cNvSpPr txBox="1"/>
          <p:nvPr/>
        </p:nvSpPr>
        <p:spPr>
          <a:xfrm>
            <a:off x="3607643" y="2136361"/>
            <a:ext cx="48056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PROCEDIMIENTO USO INSPECCIÓN REEMPLAZO ALTA VISIBILIDAD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TRONADURA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DIFUSION INFORME FLASH N°42 - REPORTE PREVENTIVO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DIFUSION INFORME FLASH N°43 DSAL – REPORTE PREVENTIVO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b="1" dirty="0">
              <a:solidFill>
                <a:schemeClr val="bg1"/>
              </a:solidFill>
            </a:endParaRPr>
          </a:p>
          <a:p>
            <a:endParaRPr lang="es-ES" sz="1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</p:txBody>
      </p:sp>
      <p:pic>
        <p:nvPicPr>
          <p:cNvPr id="49" name="Imagen 48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C59D2F35-4DB9-A5FE-F503-26313648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123" y="462588"/>
            <a:ext cx="1390747" cy="1390747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5C26937D-8A5E-8349-E449-79A829100CA1}"/>
              </a:ext>
            </a:extLst>
          </p:cNvPr>
          <p:cNvGrpSpPr/>
          <p:nvPr/>
        </p:nvGrpSpPr>
        <p:grpSpPr>
          <a:xfrm>
            <a:off x="8505107" y="1022834"/>
            <a:ext cx="2706170" cy="3686688"/>
            <a:chOff x="8849928" y="1276985"/>
            <a:chExt cx="2200575" cy="2772243"/>
          </a:xfrm>
        </p:grpSpPr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778B3DE1-E979-BAC4-C59E-D85629665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8" y="1276985"/>
              <a:ext cx="1956885" cy="2772243"/>
            </a:xfrm>
            <a:prstGeom prst="rect">
              <a:avLst/>
            </a:prstGeom>
          </p:spPr>
        </p:pic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B25EF921-FF0A-DDA9-5A5D-FED70A8818F2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/>
                <a:t>ART: CONDUCCION DE VEHICULO LIVIANO</a:t>
              </a:r>
              <a:endParaRPr lang="es-CL" sz="1000" dirty="0"/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409FEDD5-91AD-CDB4-6209-C99E0FEE8718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4369107" y="4460240"/>
            <a:ext cx="3069792" cy="21492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32602496-7E3B-FC16-89C2-DE3893789EAB}"/>
              </a:ext>
            </a:extLst>
          </p:cNvPr>
          <p:cNvGrpSpPr/>
          <p:nvPr/>
        </p:nvGrpSpPr>
        <p:grpSpPr>
          <a:xfrm>
            <a:off x="219373" y="918004"/>
            <a:ext cx="2352058" cy="3542236"/>
            <a:chOff x="1050763" y="2463255"/>
            <a:chExt cx="2281484" cy="3104759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088EBAEC-BBE8-E03B-973F-0EB321B46004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/>
                <a:t>DIFUSIÓN PROCEDIMIENTO USO INSPECCIÓN REEMPLAZO ALTA VISIBILIDAD</a:t>
              </a:r>
              <a:endParaRPr lang="es-CL" sz="800" b="1" dirty="0"/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C412BC3-8D0F-AAEC-005E-89B47B699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63880"/>
              <a:ext cx="2281484" cy="2804134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1D06063-A2B6-5A9C-D654-AA11318A8A07}"/>
              </a:ext>
            </a:extLst>
          </p:cNvPr>
          <p:cNvGrpSpPr/>
          <p:nvPr/>
        </p:nvGrpSpPr>
        <p:grpSpPr>
          <a:xfrm>
            <a:off x="521106" y="1260989"/>
            <a:ext cx="2352058" cy="3541723"/>
            <a:chOff x="1050763" y="2463255"/>
            <a:chExt cx="2281484" cy="3104309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A8EB5F9-38DF-7CD0-92C4-4ECFDA9371E5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/>
                <a:t>REUNIÓN DE TRONADURA</a:t>
              </a: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78839A50-1040-5ACD-E5EF-763DD48FB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64330"/>
              <a:ext cx="2281484" cy="2803234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DC5891A-B5B0-F1CD-CFDE-7DF2473D95DA}"/>
              </a:ext>
            </a:extLst>
          </p:cNvPr>
          <p:cNvGrpSpPr/>
          <p:nvPr/>
        </p:nvGrpSpPr>
        <p:grpSpPr>
          <a:xfrm>
            <a:off x="813837" y="1603974"/>
            <a:ext cx="2352058" cy="3649538"/>
            <a:chOff x="1050763" y="2463255"/>
            <a:chExt cx="2281484" cy="3198809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9DE9C7B-35EE-94FD-3673-D9CB709CEB2E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/>
                <a:t>REPORTE INFORME FLASH N°42: REPORTE PREVENTIVO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3C6DFD6-E630-7556-09B6-E74B1D7E7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66756"/>
              <a:ext cx="2281484" cy="2895308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91EFBC5-2D31-AEAE-BC87-E823CE4B3A5F}"/>
              </a:ext>
            </a:extLst>
          </p:cNvPr>
          <p:cNvGrpSpPr/>
          <p:nvPr/>
        </p:nvGrpSpPr>
        <p:grpSpPr>
          <a:xfrm>
            <a:off x="1163801" y="1946959"/>
            <a:ext cx="2352058" cy="3654668"/>
            <a:chOff x="1050763" y="2463255"/>
            <a:chExt cx="2281484" cy="3203305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0CADF09-2B79-EA83-1E24-130BC9129091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/>
                <a:t>REPORTE INFORME FLASH N°43 – REPORTE PREVENTIVO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6F6BBEC-FD2F-1CA9-2A18-F95C77D8F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63431"/>
              <a:ext cx="2281484" cy="2903129"/>
            </a:xfrm>
            <a:prstGeom prst="rect">
              <a:avLst/>
            </a:prstGeom>
          </p:spPr>
        </p:pic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081451F-74FC-8820-CC88-727909C14F37}"/>
              </a:ext>
            </a:extLst>
          </p:cNvPr>
          <p:cNvGrpSpPr/>
          <p:nvPr/>
        </p:nvGrpSpPr>
        <p:grpSpPr>
          <a:xfrm>
            <a:off x="8783092" y="1516616"/>
            <a:ext cx="2706170" cy="3686688"/>
            <a:chOff x="8849928" y="1276985"/>
            <a:chExt cx="2200575" cy="277224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EEF716E2-9B53-7DA3-402E-A3135378D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8" y="1276985"/>
              <a:ext cx="1956885" cy="2772243"/>
            </a:xfrm>
            <a:prstGeom prst="rect">
              <a:avLst/>
            </a:prstGeom>
          </p:spPr>
        </p:pic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6621BF0F-D236-320D-A56B-836425FA26EE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/>
                <a:t>Atención cambio de correa de carro LTE_CMM_07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68FA695F-4BDF-A2BD-5849-7056526ACCEE}"/>
              </a:ext>
            </a:extLst>
          </p:cNvPr>
          <p:cNvGrpSpPr/>
          <p:nvPr/>
        </p:nvGrpSpPr>
        <p:grpSpPr>
          <a:xfrm>
            <a:off x="9074452" y="2118451"/>
            <a:ext cx="2706170" cy="3686689"/>
            <a:chOff x="8849928" y="1276985"/>
            <a:chExt cx="2200575" cy="2772244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8B3E0E38-8689-DC3D-D959-B5D0C2DE7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8" y="1276986"/>
              <a:ext cx="1956885" cy="2772243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83B433E2-D05A-0FBE-1C96-07D284EC299C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/>
                <a:t>ART: MANTENIMIENTO GENERADOR LTE_CMF_02</a:t>
              </a:r>
              <a:endParaRPr lang="es-CL" sz="10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2F7A1F3C-82CD-24A5-0533-7A2728177D35}"/>
              </a:ext>
            </a:extLst>
          </p:cNvPr>
          <p:cNvGrpSpPr/>
          <p:nvPr/>
        </p:nvGrpSpPr>
        <p:grpSpPr>
          <a:xfrm>
            <a:off x="9360757" y="2720285"/>
            <a:ext cx="2706170" cy="3686688"/>
            <a:chOff x="8849928" y="1276985"/>
            <a:chExt cx="2200575" cy="2772243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A0DFDB84-86BB-1CAD-A8C9-28FAF59BE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8" y="1276985"/>
              <a:ext cx="1956885" cy="2772243"/>
            </a:xfrm>
            <a:prstGeom prst="rect">
              <a:avLst/>
            </a:prstGeom>
          </p:spPr>
        </p:pic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BDD87E9-F4B9-7AE2-E055-DD9391F9C7F1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dirty="0"/>
                <a:t>ART: MANTENIMIENTO GENERADOR LTE_CMF_03</a:t>
              </a:r>
              <a:endParaRPr lang="es-CL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050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44D7B-B8ED-DA13-CC72-9064A5B23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B7EC858-BBF0-817D-F73A-7B0D15DD11FC}"/>
              </a:ext>
            </a:extLst>
          </p:cNvPr>
          <p:cNvSpPr/>
          <p:nvPr/>
        </p:nvSpPr>
        <p:spPr>
          <a:xfrm>
            <a:off x="2896688" y="20258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E68A2-5764-D88F-D18D-73F3D0FBBE4E}"/>
              </a:ext>
            </a:extLst>
          </p:cNvPr>
          <p:cNvSpPr/>
          <p:nvPr/>
        </p:nvSpPr>
        <p:spPr>
          <a:xfrm>
            <a:off x="4547586" y="459447"/>
            <a:ext cx="55234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29 AGOSTO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A17EB5-C4B5-2D4B-294A-378226E32F30}"/>
              </a:ext>
            </a:extLst>
          </p:cNvPr>
          <p:cNvSpPr txBox="1"/>
          <p:nvPr/>
        </p:nvSpPr>
        <p:spPr>
          <a:xfrm>
            <a:off x="4304368" y="1874728"/>
            <a:ext cx="461998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Nota interna 02/2026 – Minería – 02.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Flash N°41 GMM, ESSL, 23 de Agosto 2026, Empresas Codelco, Fase 3, Bajando a circunvalación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Informe Flash 322/26 ESSL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Informe Flash 323/26 ESSL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Informe Flash N°112 ESSL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Tronadura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1CC3CCC1-8C5C-955E-5D2D-804244620FE0}"/>
              </a:ext>
            </a:extLst>
          </p:cNvPr>
          <p:cNvGrpSpPr/>
          <p:nvPr/>
        </p:nvGrpSpPr>
        <p:grpSpPr>
          <a:xfrm>
            <a:off x="128169" y="1157139"/>
            <a:ext cx="2526175" cy="3709501"/>
            <a:chOff x="1050763" y="2463255"/>
            <a:chExt cx="2281485" cy="1780410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45BA9574-0496-95DE-A8DE-B7941CE29EB7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DIFUSION NOTA INTERNA 02/2026 – MINERIA - 2</a:t>
              </a:r>
              <a:endParaRPr lang="es-ES" sz="800" b="1" dirty="0">
                <a:solidFill>
                  <a:schemeClr val="bg1"/>
                </a:solidFill>
              </a:endParaRPr>
            </a:p>
          </p:txBody>
        </p:sp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502BA165-BA36-0CE6-D97B-07E1E4F4E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22897"/>
              <a:ext cx="2281484" cy="1620768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677E138-CE1A-AA8B-C1AD-481AB809A077}"/>
              </a:ext>
            </a:extLst>
          </p:cNvPr>
          <p:cNvGrpSpPr/>
          <p:nvPr/>
        </p:nvGrpSpPr>
        <p:grpSpPr>
          <a:xfrm>
            <a:off x="8458854" y="1275531"/>
            <a:ext cx="2777657" cy="3809737"/>
            <a:chOff x="8849928" y="1276985"/>
            <a:chExt cx="2111014" cy="2772243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794BDB1-2B0A-5A45-318B-3C92914F9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76985"/>
              <a:ext cx="1867323" cy="2772243"/>
            </a:xfrm>
            <a:prstGeom prst="rect">
              <a:avLst/>
            </a:prstGeom>
          </p:spPr>
        </p:pic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3F948795-6941-9505-919E-5065E256959F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/>
                <a:t>ART: CONDUCCIÓN VEHÍCULO LIVIANO.</a:t>
              </a:r>
              <a:endParaRPr lang="es-CL" sz="900" dirty="0"/>
            </a:p>
          </p:txBody>
        </p:sp>
      </p:grpSp>
      <p:pic>
        <p:nvPicPr>
          <p:cNvPr id="20" name="Imagen 19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5A359758-80DD-63E9-E86F-31828AD2A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622" y="328994"/>
            <a:ext cx="1390747" cy="139074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3A68BFE-8A59-41D3-4B11-3158FA572060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5133225" y="4727251"/>
            <a:ext cx="3179587" cy="20104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71E1BE8B-B935-F895-E073-54C268712A03}"/>
              </a:ext>
            </a:extLst>
          </p:cNvPr>
          <p:cNvGrpSpPr/>
          <p:nvPr/>
        </p:nvGrpSpPr>
        <p:grpSpPr>
          <a:xfrm>
            <a:off x="385512" y="1489755"/>
            <a:ext cx="2526175" cy="3709501"/>
            <a:chOff x="1050763" y="2463255"/>
            <a:chExt cx="2281485" cy="1780410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83709F2D-C830-8F5D-79F5-DBCA464BBA80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700" b="1" dirty="0">
                  <a:solidFill>
                    <a:schemeClr val="bg1"/>
                  </a:solidFill>
                </a:rPr>
                <a:t>DIFUSIÓN FLASH N°41 GMM, ESSL, 23 DE AGOSTO 2026, EMPRESAS CODELCO, FASE 3, BAJANDO A CIRCUNVALACIÓN 1</a:t>
              </a:r>
              <a:endParaRPr lang="es-ES" sz="700" b="1" dirty="0">
                <a:solidFill>
                  <a:schemeClr val="bg1"/>
                </a:solidFill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4CE4ACA0-EE13-F346-7413-B7486F529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22897"/>
              <a:ext cx="2281484" cy="1620768"/>
            </a:xfrm>
            <a:prstGeom prst="rect">
              <a:avLst/>
            </a:prstGeom>
          </p:spPr>
        </p:pic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95A512F1-C4FE-CE6D-FA8A-2D917584DE61}"/>
              </a:ext>
            </a:extLst>
          </p:cNvPr>
          <p:cNvGrpSpPr/>
          <p:nvPr/>
        </p:nvGrpSpPr>
        <p:grpSpPr>
          <a:xfrm>
            <a:off x="627855" y="1822371"/>
            <a:ext cx="2526175" cy="3709501"/>
            <a:chOff x="1050763" y="2463255"/>
            <a:chExt cx="2281485" cy="178041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30F2144-8801-FFD1-5561-B7F95B390AFE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</a:rPr>
                <a:t>DIFUSIÓN INFORME FLASH 323/26 ESSL</a:t>
              </a:r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BF0A8ED-82A7-72D8-3F96-12D8ABF41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22897"/>
              <a:ext cx="2281484" cy="1620768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2C14738-A077-E376-7BB6-3ED407EDE111}"/>
              </a:ext>
            </a:extLst>
          </p:cNvPr>
          <p:cNvGrpSpPr/>
          <p:nvPr/>
        </p:nvGrpSpPr>
        <p:grpSpPr>
          <a:xfrm>
            <a:off x="877412" y="2154987"/>
            <a:ext cx="2526175" cy="3709501"/>
            <a:chOff x="1050763" y="2463255"/>
            <a:chExt cx="2281485" cy="178041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06879EA-FEE0-94A7-E2EF-799323FF83D4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</a:rPr>
                <a:t>DIFUSIÓN INFORME FLASH 322/26 ESSL</a:t>
              </a:r>
            </a:p>
          </p:txBody>
        </p: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D8046930-A929-D26D-7A4C-903C426DD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22897"/>
              <a:ext cx="2281484" cy="1620768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FD0137D7-F5A8-E1D2-5290-D154FC6E25B4}"/>
              </a:ext>
            </a:extLst>
          </p:cNvPr>
          <p:cNvGrpSpPr/>
          <p:nvPr/>
        </p:nvGrpSpPr>
        <p:grpSpPr>
          <a:xfrm>
            <a:off x="1200615" y="2487602"/>
            <a:ext cx="2526175" cy="3812130"/>
            <a:chOff x="1050763" y="2463255"/>
            <a:chExt cx="2281485" cy="1829668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1EE432C-D713-CA80-E64C-E7AAE0F9A5DF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</a:rPr>
                <a:t>DIFUSIÓN INFORME FLASH N°112 ESSL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ECB5783-75DE-BAA3-F650-1487FB689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02120"/>
              <a:ext cx="2281484" cy="1690803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277C224-BDAE-8B92-2CF5-C3294E9409BE}"/>
              </a:ext>
            </a:extLst>
          </p:cNvPr>
          <p:cNvGrpSpPr/>
          <p:nvPr/>
        </p:nvGrpSpPr>
        <p:grpSpPr>
          <a:xfrm>
            <a:off x="1570334" y="2776928"/>
            <a:ext cx="2526175" cy="3855420"/>
            <a:chOff x="1050763" y="2463255"/>
            <a:chExt cx="2281485" cy="1850445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9D1AB38D-7B7C-F8DD-E343-6EEB1279D63B}"/>
                </a:ext>
              </a:extLst>
            </p:cNvPr>
            <p:cNvSpPr/>
            <p:nvPr/>
          </p:nvSpPr>
          <p:spPr>
            <a:xfrm>
              <a:off x="1050763" y="2463255"/>
              <a:ext cx="2281484" cy="159642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</a:rPr>
                <a:t>REUNION DE TRONADURA</a:t>
              </a:r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3868CD15-0711-518A-2CAE-8E2A8B524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4" y="2622897"/>
              <a:ext cx="2281484" cy="1690803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DD06C65A-3C4C-DCDD-D569-FB06045E9398}"/>
              </a:ext>
            </a:extLst>
          </p:cNvPr>
          <p:cNvGrpSpPr/>
          <p:nvPr/>
        </p:nvGrpSpPr>
        <p:grpSpPr>
          <a:xfrm>
            <a:off x="8672922" y="1529209"/>
            <a:ext cx="2312506" cy="3228201"/>
            <a:chOff x="8849928" y="1276985"/>
            <a:chExt cx="2111014" cy="2772243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4F84DBAD-DA6E-3E59-20CA-7CC2BEA7C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76985"/>
              <a:ext cx="1867323" cy="2746344"/>
            </a:xfrm>
            <a:prstGeom prst="rect">
              <a:avLst/>
            </a:prstGeom>
          </p:spPr>
        </p:pic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863D30EE-20A3-DE86-3B32-68218630BC75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dirty="0"/>
                <a:t>ART: MANTENIMIENTO GENERADOR CARRO LTE_CMF_08</a:t>
              </a:r>
              <a:endParaRPr lang="es-CL" sz="9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8FD0B6E7-0771-439E-F43A-F955CEC460EA}"/>
              </a:ext>
            </a:extLst>
          </p:cNvPr>
          <p:cNvGrpSpPr/>
          <p:nvPr/>
        </p:nvGrpSpPr>
        <p:grpSpPr>
          <a:xfrm>
            <a:off x="8924347" y="1828196"/>
            <a:ext cx="2777657" cy="3831823"/>
            <a:chOff x="8849928" y="1276985"/>
            <a:chExt cx="2111014" cy="2788315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91396E19-E3E1-698F-B0F4-A70790540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93057"/>
              <a:ext cx="1867323" cy="2772243"/>
            </a:xfrm>
            <a:prstGeom prst="rect">
              <a:avLst/>
            </a:prstGeom>
          </p:spPr>
        </p:pic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EBD9A3E4-6614-4D8A-7B01-BD77FBFF7C4B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/>
                <a:t>ART: TRASLADO DE CARRO LTE_12 POR TRONADURA</a:t>
              </a:r>
              <a:endParaRPr lang="es-CL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85007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F9BF5-8951-3B90-E4E7-A879AAAA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153710A-E2B0-1114-DE32-D18BEDDE055F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49EA0B-395C-15F4-92BC-12C7429A6D4F}"/>
              </a:ext>
            </a:extLst>
          </p:cNvPr>
          <p:cNvSpPr/>
          <p:nvPr/>
        </p:nvSpPr>
        <p:spPr>
          <a:xfrm>
            <a:off x="4399135" y="590919"/>
            <a:ext cx="53769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30 AGOSTO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A7B7202-E044-FA7E-8FE1-E4FA71BC499F}"/>
              </a:ext>
            </a:extLst>
          </p:cNvPr>
          <p:cNvSpPr txBox="1"/>
          <p:nvPr/>
        </p:nvSpPr>
        <p:spPr>
          <a:xfrm>
            <a:off x="3494275" y="2098968"/>
            <a:ext cx="4984779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Bajada comunicacional – Reunión Mensual CPHS – delegado SST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Capacitación Uso, Limpieza, Desinfección y Almacenamiento de Protección Respiratoria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Informe Flash 324/26 ESSL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Incidentes TFDS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Cierre TDFS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D3A603F-FB11-1B53-0076-8C6041D3AA9E}"/>
              </a:ext>
            </a:extLst>
          </p:cNvPr>
          <p:cNvGrpSpPr/>
          <p:nvPr/>
        </p:nvGrpSpPr>
        <p:grpSpPr>
          <a:xfrm>
            <a:off x="8749922" y="629458"/>
            <a:ext cx="2836661" cy="4058384"/>
            <a:chOff x="8849928" y="1276985"/>
            <a:chExt cx="1968760" cy="2772244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DACC9EE1-8D61-7E08-EB70-0713578FF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76985"/>
              <a:ext cx="1725069" cy="2772244"/>
            </a:xfrm>
            <a:prstGeom prst="rect">
              <a:avLst/>
            </a:prstGeom>
          </p:spPr>
        </p:pic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D0FC8287-6CA6-C6C2-1238-D186479C0C9D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REGISTRO ART CONDUCCIÓN VEHÍCULO LIVIANO.</a:t>
              </a:r>
              <a:endParaRPr lang="es-CL" sz="1000" b="1" dirty="0"/>
            </a:p>
          </p:txBody>
        </p:sp>
      </p:grpSp>
      <p:pic>
        <p:nvPicPr>
          <p:cNvPr id="5" name="Imagen 4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8122353B-8A1F-29DC-377A-495EE63AF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599" y="629458"/>
            <a:ext cx="1423737" cy="142373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82C2F6D-730B-A3E9-BA3D-16354871DD57}"/>
              </a:ext>
            </a:extLst>
          </p:cNvPr>
          <p:cNvGrpSpPr/>
          <p:nvPr/>
        </p:nvGrpSpPr>
        <p:grpSpPr>
          <a:xfrm>
            <a:off x="145793" y="1341076"/>
            <a:ext cx="2281484" cy="3249777"/>
            <a:chOff x="1050763" y="2463255"/>
            <a:chExt cx="2281484" cy="2850429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58C8522D-F0DE-7FE4-EDEB-7739C443C989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BAJADA COMUNICACIONAL – REUNIÓN MENSUAL CPHS – DELEGADO SST</a:t>
              </a:r>
              <a:endParaRPr lang="es-CL" sz="900" b="1" dirty="0"/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1E01863B-2839-3B1A-A7B4-D3B5A3620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>
              <a:fillRect/>
            </a:stretch>
          </p:blipFill>
          <p:spPr>
            <a:xfrm>
              <a:off x="1050763" y="2763880"/>
              <a:ext cx="2270144" cy="2549804"/>
            </a:xfrm>
            <a:prstGeom prst="rect">
              <a:avLst/>
            </a:prstGeom>
          </p:spPr>
        </p:pic>
      </p:grpSp>
      <p:pic>
        <p:nvPicPr>
          <p:cNvPr id="38" name="Imagen 37">
            <a:extLst>
              <a:ext uri="{FF2B5EF4-FFF2-40B4-BE49-F238E27FC236}">
                <a16:creationId xmlns:a16="http://schemas.microsoft.com/office/drawing/2014/main" id="{D8E8E94B-5FAE-2570-C210-702E31203EE2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5781980" y="4358640"/>
            <a:ext cx="2923895" cy="2247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9374E41F-A285-77E8-DF44-9BA130F931BC}"/>
              </a:ext>
            </a:extLst>
          </p:cNvPr>
          <p:cNvGrpSpPr/>
          <p:nvPr/>
        </p:nvGrpSpPr>
        <p:grpSpPr>
          <a:xfrm>
            <a:off x="9037822" y="923798"/>
            <a:ext cx="2836661" cy="4058384"/>
            <a:chOff x="8849928" y="1276985"/>
            <a:chExt cx="1968760" cy="2772244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BE502230-2907-43B1-F456-D43428E2C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76985"/>
              <a:ext cx="1725069" cy="2772244"/>
            </a:xfrm>
            <a:prstGeom prst="rect">
              <a:avLst/>
            </a:prstGeom>
          </p:spPr>
        </p:pic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388029D-2488-4A2A-114C-8696FD580546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ART: MANTENIMIENTO GENERADOR CARRO LTE_CMF_09</a:t>
              </a:r>
              <a:endParaRPr lang="es-CL" sz="1000" b="1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8331149-8C9D-E80B-E06F-7881155CB0C4}"/>
              </a:ext>
            </a:extLst>
          </p:cNvPr>
          <p:cNvGrpSpPr/>
          <p:nvPr/>
        </p:nvGrpSpPr>
        <p:grpSpPr>
          <a:xfrm>
            <a:off x="402280" y="1683819"/>
            <a:ext cx="2281484" cy="3249777"/>
            <a:chOff x="1050763" y="2463255"/>
            <a:chExt cx="2281484" cy="285042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2848B01-A0C4-651E-B241-590B955451D6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/>
                <a:t>CAPACITACIÓN USO, LIMPIEZA, DESINFECCIÓN Y ALMACENAMIENTO DE PROTECCIÓN RESPIRATORIA</a:t>
              </a:r>
              <a:endParaRPr lang="es-CL" sz="800" b="1" dirty="0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53DD98E-622C-0A74-AB84-DF266645A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>
              <a:fillRect/>
            </a:stretch>
          </p:blipFill>
          <p:spPr>
            <a:xfrm>
              <a:off x="1050763" y="2763880"/>
              <a:ext cx="2270144" cy="2549804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DE2D6DD-2A6C-3A8A-1CA8-4E6C5AF2A323}"/>
              </a:ext>
            </a:extLst>
          </p:cNvPr>
          <p:cNvGrpSpPr/>
          <p:nvPr/>
        </p:nvGrpSpPr>
        <p:grpSpPr>
          <a:xfrm>
            <a:off x="647427" y="2026562"/>
            <a:ext cx="2281484" cy="3249777"/>
            <a:chOff x="1050763" y="2463255"/>
            <a:chExt cx="2281484" cy="2850429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90313BB-5C3E-DD5C-D1D3-9D5E81F028BF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DIFUSIÓN INFORME FLASH 324/26 ESSL</a:t>
              </a:r>
              <a:endParaRPr lang="es-CL" sz="900" b="1" dirty="0"/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9AD114CF-B556-2B72-A4E0-2E6DD1E30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>
              <a:fillRect/>
            </a:stretch>
          </p:blipFill>
          <p:spPr>
            <a:xfrm>
              <a:off x="1050763" y="2763880"/>
              <a:ext cx="2270144" cy="2549804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C2DEE3E-F7E8-35D4-5705-7F0FCB720244}"/>
              </a:ext>
            </a:extLst>
          </p:cNvPr>
          <p:cNvGrpSpPr/>
          <p:nvPr/>
        </p:nvGrpSpPr>
        <p:grpSpPr>
          <a:xfrm>
            <a:off x="956304" y="2369305"/>
            <a:ext cx="2281484" cy="3249777"/>
            <a:chOff x="1050763" y="2463255"/>
            <a:chExt cx="2281484" cy="2850429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AD27AEF-3B91-3F0E-86DB-4C89175DF3E6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DIFUSIÓN INCIDENTES TFDS</a:t>
              </a:r>
              <a:endParaRPr lang="es-CL" sz="1000" b="1" dirty="0"/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13AAA344-69E0-C8D1-A388-35F243ACA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>
              <a:fillRect/>
            </a:stretch>
          </p:blipFill>
          <p:spPr>
            <a:xfrm>
              <a:off x="1050763" y="2763880"/>
              <a:ext cx="2270144" cy="2549804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232FBDA5-7EEB-CC45-DBB8-31B75AD6B702}"/>
              </a:ext>
            </a:extLst>
          </p:cNvPr>
          <p:cNvGrpSpPr/>
          <p:nvPr/>
        </p:nvGrpSpPr>
        <p:grpSpPr>
          <a:xfrm>
            <a:off x="1231214" y="2705504"/>
            <a:ext cx="2281484" cy="3249777"/>
            <a:chOff x="1050763" y="2463255"/>
            <a:chExt cx="2281484" cy="2850429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1276612B-E55F-AC92-93F6-1ED1686D1186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REGISTRO REUNION TFDS</a:t>
              </a:r>
              <a:endParaRPr lang="es-CL" sz="1000" b="1" dirty="0"/>
            </a:p>
          </p:txBody>
        </p:sp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21E42CAD-A7F4-48F8-BC63-89D7BAC7C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>
              <a:fillRect/>
            </a:stretch>
          </p:blipFill>
          <p:spPr>
            <a:xfrm>
              <a:off x="1050763" y="2763880"/>
              <a:ext cx="2270144" cy="2549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713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D9145-856D-EAC4-2A06-C668D467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387D901-1D6D-FF7B-6681-325ACE1540F3}"/>
              </a:ext>
            </a:extLst>
          </p:cNvPr>
          <p:cNvSpPr/>
          <p:nvPr/>
        </p:nvSpPr>
        <p:spPr>
          <a:xfrm>
            <a:off x="2869580" y="202581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72665-C825-063C-8BFE-D73C0490ED18}"/>
              </a:ext>
            </a:extLst>
          </p:cNvPr>
          <p:cNvSpPr/>
          <p:nvPr/>
        </p:nvSpPr>
        <p:spPr>
          <a:xfrm>
            <a:off x="4399135" y="570784"/>
            <a:ext cx="53769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31 AGOSTO</a:t>
            </a:r>
            <a:endParaRPr lang="en-LT" sz="4000" b="1" spc="-150" dirty="0"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D3604C8-DEE3-BD0C-BAE8-002A4C074079}"/>
              </a:ext>
            </a:extLst>
          </p:cNvPr>
          <p:cNvGrpSpPr/>
          <p:nvPr/>
        </p:nvGrpSpPr>
        <p:grpSpPr>
          <a:xfrm>
            <a:off x="8186931" y="1036555"/>
            <a:ext cx="3021496" cy="3898201"/>
            <a:chOff x="8759655" y="1276985"/>
            <a:chExt cx="2304738" cy="2772244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3F813F60-17EC-2D92-21FE-09402029E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9" y="1276985"/>
              <a:ext cx="1970774" cy="2772244"/>
            </a:xfrm>
            <a:prstGeom prst="rect">
              <a:avLst/>
            </a:prstGeom>
          </p:spPr>
        </p:pic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103DC835-E6CC-B87C-C827-27A394B955E3}"/>
                </a:ext>
              </a:extLst>
            </p:cNvPr>
            <p:cNvSpPr/>
            <p:nvPr/>
          </p:nvSpPr>
          <p:spPr>
            <a:xfrm rot="16200000">
              <a:off x="7540516" y="2496125"/>
              <a:ext cx="2772243" cy="333965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REGISTRO ART CONDUCCIÓN VEHÍCULO LIVIANO.</a:t>
              </a:r>
              <a:endParaRPr lang="es-CL" sz="1000" b="1" dirty="0"/>
            </a:p>
          </p:txBody>
        </p:sp>
      </p:grpSp>
      <p:pic>
        <p:nvPicPr>
          <p:cNvPr id="5" name="Imagen 4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5D318E16-2650-E0B3-BD40-0CBA98287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486" y="446287"/>
            <a:ext cx="1390747" cy="1390747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E5097420-1FA6-D09F-D565-F720AF224B90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4108028" y="3964959"/>
            <a:ext cx="3180476" cy="2528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73ED85FF-486E-0B0E-870B-D7B3D94AEE04}"/>
              </a:ext>
            </a:extLst>
          </p:cNvPr>
          <p:cNvGrpSpPr/>
          <p:nvPr/>
        </p:nvGrpSpPr>
        <p:grpSpPr>
          <a:xfrm>
            <a:off x="228978" y="1216360"/>
            <a:ext cx="2894966" cy="4061696"/>
            <a:chOff x="1050763" y="2463255"/>
            <a:chExt cx="2281484" cy="289614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9D112A4-58B6-5BF6-84F0-7CFD4C632555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Difusión Procedimiento de Higiene Ocupacional GSSO-LTE-P-HO-DSAL-07 Ver:02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248C0B7-2C1B-B30A-628B-40E3968E3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48243"/>
              <a:ext cx="2281483" cy="2611161"/>
            </a:xfrm>
            <a:prstGeom prst="rect">
              <a:avLst/>
            </a:prstGeom>
          </p:spPr>
        </p:pic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DE52AFF-2402-0D96-0661-1BC90F1D0F18}"/>
              </a:ext>
            </a:extLst>
          </p:cNvPr>
          <p:cNvSpPr txBox="1"/>
          <p:nvPr/>
        </p:nvSpPr>
        <p:spPr>
          <a:xfrm>
            <a:off x="3463187" y="1951308"/>
            <a:ext cx="4591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PROCEDIMIENTO DE HIGIENE OCUPACIONAL GSSO-LTE-P-HO-DSAL-07 VER:02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TRONADURA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0841ACF-960B-157C-1333-F1E4A8FFB8E1}"/>
              </a:ext>
            </a:extLst>
          </p:cNvPr>
          <p:cNvGrpSpPr/>
          <p:nvPr/>
        </p:nvGrpSpPr>
        <p:grpSpPr>
          <a:xfrm>
            <a:off x="8479959" y="1379855"/>
            <a:ext cx="3021499" cy="3898201"/>
            <a:chOff x="8759655" y="1276985"/>
            <a:chExt cx="2304740" cy="2772244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2FD2548-CB7E-7448-3FE0-BF55CC4D8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21" y="1276985"/>
              <a:ext cx="1970774" cy="2772243"/>
            </a:xfrm>
            <a:prstGeom prst="rect">
              <a:avLst/>
            </a:prstGeom>
          </p:spPr>
        </p:pic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F213081-3C7F-1858-5D94-1E51883B39B1}"/>
                </a:ext>
              </a:extLst>
            </p:cNvPr>
            <p:cNvSpPr/>
            <p:nvPr/>
          </p:nvSpPr>
          <p:spPr>
            <a:xfrm rot="16200000">
              <a:off x="7540516" y="2496125"/>
              <a:ext cx="2772243" cy="333965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000" b="1" dirty="0"/>
                <a:t>MANTENIMIENTO GENERADOR LTE_CMM_06</a:t>
              </a:r>
              <a:endParaRPr lang="es-CL" sz="1000" b="1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53AD239-333F-FE54-E132-573D1E249BD9}"/>
              </a:ext>
            </a:extLst>
          </p:cNvPr>
          <p:cNvGrpSpPr/>
          <p:nvPr/>
        </p:nvGrpSpPr>
        <p:grpSpPr>
          <a:xfrm>
            <a:off x="501899" y="1616041"/>
            <a:ext cx="2894966" cy="3971634"/>
            <a:chOff x="1050763" y="2463255"/>
            <a:chExt cx="2281484" cy="2831931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79759D0-D41F-3374-C2D2-9E235BE9923B}"/>
                </a:ext>
              </a:extLst>
            </p:cNvPr>
            <p:cNvSpPr/>
            <p:nvPr/>
          </p:nvSpPr>
          <p:spPr>
            <a:xfrm>
              <a:off x="1050763" y="2463255"/>
              <a:ext cx="2281484" cy="300625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Reunión de Tronadura</a:t>
              </a:r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8E1AD21-1086-E73A-B683-47062BEC8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0763" y="2763880"/>
              <a:ext cx="2281483" cy="25313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587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07C77-B846-7311-CF79-F7FB0867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80DF44F-6D07-7819-1E3D-9AEAFF13D48A}"/>
              </a:ext>
            </a:extLst>
          </p:cNvPr>
          <p:cNvSpPr/>
          <p:nvPr/>
        </p:nvSpPr>
        <p:spPr>
          <a:xfrm>
            <a:off x="2870258" y="118314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88299-6A58-B718-07A1-27639CAC167F}"/>
              </a:ext>
            </a:extLst>
          </p:cNvPr>
          <p:cNvSpPr/>
          <p:nvPr/>
        </p:nvSpPr>
        <p:spPr>
          <a:xfrm>
            <a:off x="4399135" y="590919"/>
            <a:ext cx="53769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DIFUSIONES</a:t>
            </a:r>
          </a:p>
          <a:p>
            <a:pPr>
              <a:defRPr/>
            </a:pPr>
            <a:r>
              <a:rPr lang="es-CL" sz="4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01 SEPTIEMBRE</a:t>
            </a:r>
            <a:endParaRPr kumimoji="0" lang="en-LT" sz="4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Imagen 2" descr="Imagen que contiene botella, edificio, naranja, alimentos&#10;&#10;El contenido generado por IA puede ser incorrecto.">
            <a:extLst>
              <a:ext uri="{FF2B5EF4-FFF2-40B4-BE49-F238E27FC236}">
                <a16:creationId xmlns:a16="http://schemas.microsoft.com/office/drawing/2014/main" id="{EC451B9A-CE05-260A-4622-D0B9F26E5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561" y="-46100"/>
            <a:ext cx="1390747" cy="1390747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B392338F-4AC7-AFEC-6EEA-818BEAFC0BB0}"/>
              </a:ext>
            </a:extLst>
          </p:cNvPr>
          <p:cNvGrpSpPr/>
          <p:nvPr/>
        </p:nvGrpSpPr>
        <p:grpSpPr>
          <a:xfrm>
            <a:off x="8921702" y="1639191"/>
            <a:ext cx="2943321" cy="4252324"/>
            <a:chOff x="8849928" y="1276984"/>
            <a:chExt cx="2105124" cy="2772244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187C874-CDA1-FCE8-D78A-FEDEEDCF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9093618" y="1276984"/>
              <a:ext cx="1861434" cy="2772243"/>
            </a:xfrm>
            <a:prstGeom prst="rect">
              <a:avLst/>
            </a:prstGeom>
          </p:spPr>
        </p:pic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5AD10BB2-7800-FC6D-06E4-387A62819CB0}"/>
                </a:ext>
              </a:extLst>
            </p:cNvPr>
            <p:cNvSpPr/>
            <p:nvPr/>
          </p:nvSpPr>
          <p:spPr>
            <a:xfrm rot="16200000">
              <a:off x="7585652" y="2541261"/>
              <a:ext cx="2772243" cy="243691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 w="3175">
              <a:solidFill>
                <a:schemeClr val="bg1"/>
              </a:solidFill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ART: Conducción vehículo liviano</a:t>
              </a:r>
              <a:endParaRPr lang="es-CL" sz="900" b="1" dirty="0"/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BC35DB0C-216A-9F42-6806-E10D0F8099D5}"/>
              </a:ext>
            </a:extLst>
          </p:cNvPr>
          <p:cNvGrpSpPr/>
          <p:nvPr/>
        </p:nvGrpSpPr>
        <p:grpSpPr>
          <a:xfrm>
            <a:off x="210260" y="1541213"/>
            <a:ext cx="2893315" cy="4204090"/>
            <a:chOff x="1042915" y="2424025"/>
            <a:chExt cx="2281484" cy="2183056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0252B30-FD39-CD56-380A-E084173C21D6}"/>
                </a:ext>
              </a:extLst>
            </p:cNvPr>
            <p:cNvSpPr/>
            <p:nvPr/>
          </p:nvSpPr>
          <p:spPr>
            <a:xfrm>
              <a:off x="1042915" y="2424025"/>
              <a:ext cx="2281484" cy="221797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100" b="1" dirty="0"/>
                <a:t>REUNIÓN DE TRONADURA</a:t>
              </a:r>
            </a:p>
            <a:p>
              <a:pPr algn="ctr"/>
              <a:endParaRPr lang="es-ES" sz="200" dirty="0"/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88818AE-A4A8-AB06-AB64-57A7009F9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56122" y="2638837"/>
              <a:ext cx="2268277" cy="1968244"/>
            </a:xfrm>
            <a:prstGeom prst="rect">
              <a:avLst/>
            </a:prstGeom>
          </p:spPr>
        </p:pic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BF64879F-45BF-8BF3-B08E-5A30F79B57DB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/>
        </p:blipFill>
        <p:spPr>
          <a:xfrm>
            <a:off x="4538143" y="3268528"/>
            <a:ext cx="2417361" cy="28198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2AC474C9-70E7-2B06-B955-F5A20354C04F}"/>
              </a:ext>
            </a:extLst>
          </p:cNvPr>
          <p:cNvSpPr txBox="1"/>
          <p:nvPr/>
        </p:nvSpPr>
        <p:spPr>
          <a:xfrm>
            <a:off x="3517289" y="2263940"/>
            <a:ext cx="51574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REUNIÓN DE TRONADURA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bg1"/>
                </a:solidFill>
              </a:rPr>
              <a:t>DIFUSIÓN ESTÁNDAR DE PREVENCIÓN DE FATALIDAD 5: EQUIPOS Y HERRAMIENTAS PORTÁTILES Y MANUALES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 b="1" dirty="0">
              <a:solidFill>
                <a:schemeClr val="bg1"/>
              </a:solidFill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EE89D82-2C99-0CF6-BD4F-6B8C9859D913}"/>
              </a:ext>
            </a:extLst>
          </p:cNvPr>
          <p:cNvGrpSpPr/>
          <p:nvPr/>
        </p:nvGrpSpPr>
        <p:grpSpPr>
          <a:xfrm>
            <a:off x="540527" y="1933106"/>
            <a:ext cx="2902348" cy="3977187"/>
            <a:chOff x="1042915" y="2424025"/>
            <a:chExt cx="2288607" cy="206523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947DD0C7-EB12-DD18-C3A5-33EF1C890655}"/>
                </a:ext>
              </a:extLst>
            </p:cNvPr>
            <p:cNvSpPr/>
            <p:nvPr/>
          </p:nvSpPr>
          <p:spPr>
            <a:xfrm>
              <a:off x="1042915" y="2424025"/>
              <a:ext cx="2281484" cy="221797"/>
            </a:xfrm>
            <a:prstGeom prst="rect">
              <a:avLst/>
            </a:prstGeom>
            <a:solidFill>
              <a:schemeClr val="accent1">
                <a:alpha val="9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900" b="1" dirty="0"/>
                <a:t>DIFUSIÓN ESTÁNDAR DE PREVENCIÓN DE FATALIDAD 5: EQUIPOS Y HERRAMIENTAS PORTÁTILES Y MANUALES</a:t>
              </a:r>
            </a:p>
            <a:p>
              <a:pPr algn="ctr"/>
              <a:endParaRPr lang="es-ES" sz="200" dirty="0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2B3458-D3EB-35BD-EAA2-B55200931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MarcadorDif"/>
            <a:stretch/>
          </p:blipFill>
          <p:spPr>
            <a:xfrm>
              <a:off x="1077492" y="2645822"/>
              <a:ext cx="2254030" cy="1843435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E27CF0A5-C4F9-374E-B60F-EBDA219AF0DF}"/>
              </a:ext>
            </a:extLst>
          </p:cNvPr>
          <p:cNvPicPr>
            <a:picLocks noChangeAspect="1"/>
          </p:cNvPicPr>
          <p:nvPr/>
        </p:nvPicPr>
        <p:blipFill>
          <a:blip r:embed="rIdMarcadorDif"/>
          <a:stretch>
            <a:fillRect/>
          </a:stretch>
        </p:blipFill>
        <p:spPr>
          <a:xfrm>
            <a:off x="584377" y="5909717"/>
            <a:ext cx="2858498" cy="8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9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0"/>
            <a:ext cx="64528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6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MANTENIMIENTO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56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GG</a:t>
            </a:r>
            <a:endParaRPr kumimoji="0" lang="en-LT" sz="56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5" name="Gráfico 4" descr="Torre de telecomunicaciones con relleno sólido">
            <a:extLst>
              <a:ext uri="{FF2B5EF4-FFF2-40B4-BE49-F238E27FC236}">
                <a16:creationId xmlns:a16="http://schemas.microsoft.com/office/drawing/2014/main" id="{174A8226-EED6-7B29-78AB-4AC473DB7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2809" y="1028524"/>
            <a:ext cx="2206381" cy="220638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6BEE1F9-D4A4-8DA5-2A6F-8C4EC0CE1E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182" b="6086"/>
          <a:stretch/>
        </p:blipFill>
        <p:spPr>
          <a:xfrm>
            <a:off x="-3202509" y="-436582"/>
            <a:ext cx="2663480" cy="18862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18296F"/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58CABF2-F54D-0E64-6558-529CF374C1BF}"/>
              </a:ext>
            </a:extLst>
          </p:cNvPr>
          <p:cNvSpPr/>
          <p:nvPr/>
        </p:nvSpPr>
        <p:spPr>
          <a:xfrm>
            <a:off x="11313686" y="-1138631"/>
            <a:ext cx="2895610" cy="908017"/>
          </a:xfrm>
          <a:prstGeom prst="roundRect">
            <a:avLst/>
          </a:prstGeom>
          <a:solidFill>
            <a:srgbClr val="18296F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Hasta la fecha 30-09-2025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41998466"/>
      </p:ext>
    </p:extLst>
  </p:cSld>
  <p:clrMapOvr>
    <a:masterClrMapping/>
  </p:clrMapOvr>
  <p:transition spd="slow" advTm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62091-8B9D-EC99-A853-6494D5CC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E2B3F9D-64C8-479C-F9FE-F1644BAFFC4B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31D2BAC-1CFF-BE6A-C25B-C30D1BB31701}"/>
              </a:ext>
            </a:extLst>
          </p:cNvPr>
          <p:cNvSpPr/>
          <p:nvPr/>
        </p:nvSpPr>
        <p:spPr>
          <a:xfrm>
            <a:off x="888808" y="1422724"/>
            <a:ext cx="10483972" cy="5238717"/>
          </a:xfrm>
          <a:prstGeom prst="roundRect">
            <a:avLst>
              <a:gd name="adj" fmla="val 8157"/>
            </a:avLst>
          </a:prstGeom>
          <a:solidFill>
            <a:srgbClr val="182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dirty="0"/>
              <a:t>Operación y mantenimiento LTE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332CF1-2AA2-A422-0016-D92793BCFB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1063258" y="1990415"/>
            <a:ext cx="10154383" cy="45119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BDF9F2-66EB-1F77-5083-4CB3EEE4E933}"/>
              </a:ext>
            </a:extLst>
          </p:cNvPr>
          <p:cNvSpPr/>
          <p:nvPr/>
        </p:nvSpPr>
        <p:spPr>
          <a:xfrm>
            <a:off x="3286262" y="708698"/>
            <a:ext cx="5619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ESTADO DE MANTENIMIENTO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DE GG EN CARROS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B5799E33-5376-6153-E8A8-E0C9F47AF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108534"/>
              </p:ext>
            </p:extLst>
          </p:nvPr>
        </p:nvGraphicFramePr>
        <p:xfrm>
          <a:off x="1053601" y="1923199"/>
          <a:ext cx="10154385" cy="463620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1271580">
                  <a:extLst>
                    <a:ext uri="{9D8B030D-6E8A-4147-A177-3AD203B41FA5}">
                      <a16:colId xmlns:a16="http://schemas.microsoft.com/office/drawing/2014/main" val="2399935657"/>
                    </a:ext>
                  </a:extLst>
                </a:gridCol>
                <a:gridCol w="1271580">
                  <a:extLst>
                    <a:ext uri="{9D8B030D-6E8A-4147-A177-3AD203B41FA5}">
                      <a16:colId xmlns:a16="http://schemas.microsoft.com/office/drawing/2014/main" val="73151839"/>
                    </a:ext>
                  </a:extLst>
                </a:gridCol>
                <a:gridCol w="1271580">
                  <a:extLst>
                    <a:ext uri="{9D8B030D-6E8A-4147-A177-3AD203B41FA5}">
                      <a16:colId xmlns:a16="http://schemas.microsoft.com/office/drawing/2014/main" val="3213357232"/>
                    </a:ext>
                  </a:extLst>
                </a:gridCol>
                <a:gridCol w="1473027">
                  <a:extLst>
                    <a:ext uri="{9D8B030D-6E8A-4147-A177-3AD203B41FA5}">
                      <a16:colId xmlns:a16="http://schemas.microsoft.com/office/drawing/2014/main" val="1293540592"/>
                    </a:ext>
                  </a:extLst>
                </a:gridCol>
                <a:gridCol w="1070131">
                  <a:extLst>
                    <a:ext uri="{9D8B030D-6E8A-4147-A177-3AD203B41FA5}">
                      <a16:colId xmlns:a16="http://schemas.microsoft.com/office/drawing/2014/main" val="3071030231"/>
                    </a:ext>
                  </a:extLst>
                </a:gridCol>
                <a:gridCol w="1271580">
                  <a:extLst>
                    <a:ext uri="{9D8B030D-6E8A-4147-A177-3AD203B41FA5}">
                      <a16:colId xmlns:a16="http://schemas.microsoft.com/office/drawing/2014/main" val="2473176598"/>
                    </a:ext>
                  </a:extLst>
                </a:gridCol>
                <a:gridCol w="1271580">
                  <a:extLst>
                    <a:ext uri="{9D8B030D-6E8A-4147-A177-3AD203B41FA5}">
                      <a16:colId xmlns:a16="http://schemas.microsoft.com/office/drawing/2014/main" val="541171487"/>
                    </a:ext>
                  </a:extLst>
                </a:gridCol>
                <a:gridCol w="1253327">
                  <a:extLst>
                    <a:ext uri="{9D8B030D-6E8A-4147-A177-3AD203B41FA5}">
                      <a16:colId xmlns:a16="http://schemas.microsoft.com/office/drawing/2014/main" val="2471038756"/>
                    </a:ext>
                  </a:extLst>
                </a:gridCol>
              </a:tblGrid>
              <a:tr h="35195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SITIO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NOMBRE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ULTIMO MTO. HRS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ULTIMO MTO</a:t>
                      </a:r>
                      <a:r>
                        <a:rPr lang="es-MX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PROXIMO MTO. HRS</a:t>
                      </a:r>
                      <a:r>
                        <a:rPr lang="es-MX" sz="16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FECHA ESTIMADA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08-06-2026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12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HRS desde ultimo Mto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es-MX" sz="24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62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4437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O&amp;M_LTE_CMF_09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La Ballena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4722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4972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26-feb-27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4722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113810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O&amp;M_LTE_CMF_08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Garita Rajo Inca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3080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3330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25-feb-27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3082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248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118121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O&amp;M_LTE_CMF_02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Truck shop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2954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21-abr-26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3204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17-nov-26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2960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244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060279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O&amp;M_LTE_CMM_07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Campamento Antiguo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2525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2775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24-mar-27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2537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238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12784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O&amp;M_LTE_CMM_03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pepa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4617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28-ago-26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4867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24-feb-27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4640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742231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O&amp;M_LTE_CMF_04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Antenas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4636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06-ago-26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4886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02-feb-27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4662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224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79808"/>
                  </a:ext>
                </a:extLst>
              </a:tr>
              <a:tr h="389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O&amp;M_MMOO 01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Chancado Primario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228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11-sep-25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478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10-mar-26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361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02372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O&amp;M_LTE_CMF_01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Bloquera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3262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06-jul-26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3512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02-ene-27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3785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-273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870797"/>
                  </a:ext>
                </a:extLst>
              </a:tr>
              <a:tr h="389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O&amp;M_LTE_CMM_10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Cerro Pisquero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3811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01-jul-26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4061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28-dic-26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4364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-303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978875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O&amp;M_LTE_CMM_11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ventiladores.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553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05-mar-26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803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01-sep-26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1196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-393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927317"/>
                  </a:ext>
                </a:extLst>
              </a:tr>
              <a:tr h="3324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O&amp;M_LTE_CMM_05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 Barrio Cívico 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2398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24-jun-26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2648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21-dic-26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3129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-481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612112"/>
                  </a:ext>
                </a:extLst>
              </a:tr>
              <a:tr h="38944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O&amp;M_LTE_CMM_06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Mirador Fase 2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3571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04-jun-26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3821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b="1" i="0" u="none" strike="noStrike" dirty="0">
                          <a:solidFill>
                            <a:srgbClr val="36F42C"/>
                          </a:solidFill>
                          <a:effectLst/>
                          <a:latin typeface="Aptos Narrow" panose="020B0004020202020204" pitchFamily="34" charset="0"/>
                        </a:rPr>
                        <a:t>01-dic-26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4406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-585</a:t>
                      </a:r>
                    </a:p>
                  </a:txBody>
                  <a:tcPr marL="7620" marR="7620" marT="76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33261"/>
                  </a:ext>
                </a:extLst>
              </a:tr>
            </a:tbl>
          </a:graphicData>
        </a:graphic>
      </p:graphicFrame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CBC6283-58A3-A677-2F4A-C54E3FE35F92}"/>
              </a:ext>
            </a:extLst>
          </p:cNvPr>
          <p:cNvSpPr/>
          <p:nvPr/>
        </p:nvSpPr>
        <p:spPr>
          <a:xfrm>
            <a:off x="9150350" y="355633"/>
            <a:ext cx="2895610" cy="908017"/>
          </a:xfrm>
          <a:prstGeom prst="roundRect">
            <a:avLst/>
          </a:prstGeom>
          <a:solidFill>
            <a:srgbClr val="18296F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Hasta la fecha 01-09-2026</a:t>
            </a:r>
          </a:p>
        </p:txBody>
      </p:sp>
    </p:spTree>
    <p:extLst>
      <p:ext uri="{BB962C8B-B14F-4D97-AF65-F5344CB8AC3E}">
        <p14:creationId xmlns:p14="http://schemas.microsoft.com/office/powerpoint/2010/main" val="3775961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8A42B65-566C-0A41-B8C2-5032B07BD19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4933B-DF67-D14D-ACC6-194EA400210B}"/>
              </a:ext>
            </a:extLst>
          </p:cNvPr>
          <p:cNvSpPr/>
          <p:nvPr/>
        </p:nvSpPr>
        <p:spPr>
          <a:xfrm>
            <a:off x="2947643" y="3389971"/>
            <a:ext cx="629671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AVANCES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Bar graph with upward trend with solid fill">
            <a:extLst>
              <a:ext uri="{FF2B5EF4-FFF2-40B4-BE49-F238E27FC236}">
                <a16:creationId xmlns:a16="http://schemas.microsoft.com/office/drawing/2014/main" id="{D06CA14A-1988-B749-953E-210BAD5FF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829" y="70803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936434"/>
      </p:ext>
    </p:extLst>
  </p:cSld>
  <p:clrMapOvr>
    <a:masterClrMapping/>
  </p:clrMapOvr>
  <p:transition spd="slow" advTm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43957-891F-E2CB-1A37-A8E273CB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954573F-D775-EEBA-C06C-A90F9535F1A1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06D798-EAD7-5166-FE6D-ED688117C741}"/>
              </a:ext>
            </a:extLst>
          </p:cNvPr>
          <p:cNvSpPr/>
          <p:nvPr/>
        </p:nvSpPr>
        <p:spPr>
          <a:xfrm>
            <a:off x="3330712" y="793125"/>
            <a:ext cx="5619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AVANCE DE ACTIVIDADES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8BD2160-1570-C215-C393-544BBC1FE812}"/>
              </a:ext>
            </a:extLst>
          </p:cNvPr>
          <p:cNvSpPr/>
          <p:nvPr/>
        </p:nvSpPr>
        <p:spPr>
          <a:xfrm>
            <a:off x="1778000" y="1365569"/>
            <a:ext cx="8636000" cy="4687786"/>
          </a:xfrm>
          <a:prstGeom prst="roundRect">
            <a:avLst>
              <a:gd name="adj" fmla="val 8157"/>
            </a:avLst>
          </a:prstGeom>
          <a:solidFill>
            <a:srgbClr val="18296F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ubo 2">
            <a:extLst>
              <a:ext uri="{FF2B5EF4-FFF2-40B4-BE49-F238E27FC236}">
                <a16:creationId xmlns:a16="http://schemas.microsoft.com/office/drawing/2014/main" id="{FD7A6B81-F67B-4C37-F7A9-F1F5635DE8CC}"/>
              </a:ext>
            </a:extLst>
          </p:cNvPr>
          <p:cNvSpPr/>
          <p:nvPr/>
        </p:nvSpPr>
        <p:spPr>
          <a:xfrm>
            <a:off x="7872341" y="3336880"/>
            <a:ext cx="167322" cy="773173"/>
          </a:xfrm>
          <a:prstGeom prst="cub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D226AF3-889A-EB77-8E74-B009B9C71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495674"/>
              </p:ext>
            </p:extLst>
          </p:nvPr>
        </p:nvGraphicFramePr>
        <p:xfrm>
          <a:off x="3815934" y="1781090"/>
          <a:ext cx="3638855" cy="117669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638855">
                  <a:extLst>
                    <a:ext uri="{9D8B030D-6E8A-4147-A177-3AD203B41FA5}">
                      <a16:colId xmlns:a16="http://schemas.microsoft.com/office/drawing/2014/main" val="2399935657"/>
                    </a:ext>
                  </a:extLst>
                </a:gridCol>
              </a:tblGrid>
              <a:tr h="260609"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Registro Data </a:t>
                      </a:r>
                      <a:r>
                        <a:rPr lang="es-C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GG_Sitio</a:t>
                      </a:r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162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4437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Toma de </a:t>
                      </a:r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Odómetro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118121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Registro de niveles de aceite y refrigerante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12784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Horas totales de funcionamiento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742231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Numero de Partidas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79808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Parámetros de Vertiv del Sitio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02372"/>
                  </a:ext>
                </a:extLst>
              </a:tr>
            </a:tbl>
          </a:graphicData>
        </a:graphic>
      </p:graphicFrame>
      <p:sp>
        <p:nvSpPr>
          <p:cNvPr id="6" name="Cubo 5">
            <a:extLst>
              <a:ext uri="{FF2B5EF4-FFF2-40B4-BE49-F238E27FC236}">
                <a16:creationId xmlns:a16="http://schemas.microsoft.com/office/drawing/2014/main" id="{DE1B7C1F-35D1-B0F8-9BF8-9FB8BAC2AB39}"/>
              </a:ext>
            </a:extLst>
          </p:cNvPr>
          <p:cNvSpPr/>
          <p:nvPr/>
        </p:nvSpPr>
        <p:spPr>
          <a:xfrm>
            <a:off x="7872341" y="2043410"/>
            <a:ext cx="167322" cy="748733"/>
          </a:xfrm>
          <a:prstGeom prst="cube">
            <a:avLst/>
          </a:prstGeom>
          <a:solidFill>
            <a:srgbClr val="EF84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831B3CF-1CDA-2717-398A-C3D9ADEC3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07251"/>
              </p:ext>
            </p:extLst>
          </p:nvPr>
        </p:nvGraphicFramePr>
        <p:xfrm>
          <a:off x="3815934" y="4315374"/>
          <a:ext cx="3638854" cy="1176694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638854">
                  <a:extLst>
                    <a:ext uri="{9D8B030D-6E8A-4147-A177-3AD203B41FA5}">
                      <a16:colId xmlns:a16="http://schemas.microsoft.com/office/drawing/2014/main" val="2399935657"/>
                    </a:ext>
                  </a:extLst>
                </a:gridCol>
              </a:tblGrid>
              <a:tr h="260609"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Mantención de Generador: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162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84437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Cambio de aceite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118121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Relleno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de refrigerante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12784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Cambio de filtros de aceite y combustible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742231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Revisión/Cambio de correa de distribución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79808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Cambio filtro de aire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02372"/>
                  </a:ext>
                </a:extLst>
              </a:tr>
            </a:tbl>
          </a:graphicData>
        </a:graphic>
      </p:graphicFrame>
      <p:sp>
        <p:nvSpPr>
          <p:cNvPr id="12" name="Cubo 11">
            <a:extLst>
              <a:ext uri="{FF2B5EF4-FFF2-40B4-BE49-F238E27FC236}">
                <a16:creationId xmlns:a16="http://schemas.microsoft.com/office/drawing/2014/main" id="{51369770-29EA-EBEF-33EC-A041EF381A15}"/>
              </a:ext>
            </a:extLst>
          </p:cNvPr>
          <p:cNvSpPr/>
          <p:nvPr/>
        </p:nvSpPr>
        <p:spPr>
          <a:xfrm>
            <a:off x="7872341" y="4654791"/>
            <a:ext cx="167322" cy="748733"/>
          </a:xfrm>
          <a:prstGeom prst="cub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highlight>
                <a:srgbClr val="FFFF00"/>
              </a:highlight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B967A447-F351-7E2C-B1BC-7ABD80BB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68278"/>
              </p:ext>
            </p:extLst>
          </p:nvPr>
        </p:nvGraphicFramePr>
        <p:xfrm>
          <a:off x="3815935" y="2955463"/>
          <a:ext cx="3638854" cy="1359911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3638854">
                  <a:extLst>
                    <a:ext uri="{9D8B030D-6E8A-4147-A177-3AD203B41FA5}">
                      <a16:colId xmlns:a16="http://schemas.microsoft.com/office/drawing/2014/main" val="1692698506"/>
                    </a:ext>
                  </a:extLst>
                </a:gridCol>
              </a:tblGrid>
              <a:tr h="260609">
                <a:tc>
                  <a:txBody>
                    <a:bodyPr/>
                    <a:lstStyle/>
                    <a:p>
                      <a:pPr algn="ctr" fontAlgn="b"/>
                      <a:r>
                        <a:rPr lang="es-C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Mantención preventiva O&amp;M: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rgbClr val="162B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755198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Limpieza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paneles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solares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010147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Limpieza de equipos a nivel de piso y gabinetes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67159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Toma de Registros en Banda Base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157622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Limpieza básica a Grupo Generador y niveles de aceite y refrigerante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040132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Limpieza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general </a:t>
                      </a:r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del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sitio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75155"/>
                  </a:ext>
                </a:extLst>
              </a:tr>
              <a:tr h="183217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Medición</a:t>
                      </a:r>
                      <a:r>
                        <a:rPr lang="pt-BR" sz="9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de </a:t>
                      </a:r>
                      <a:r>
                        <a:rPr lang="pt-BR" sz="9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baterías</a:t>
                      </a:r>
                      <a:endParaRPr lang="pt-BR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179581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D17DF601-EFDB-1C4B-D072-034F1A53CDDD}"/>
              </a:ext>
            </a:extLst>
          </p:cNvPr>
          <p:cNvSpPr/>
          <p:nvPr/>
        </p:nvSpPr>
        <p:spPr>
          <a:xfrm>
            <a:off x="3702945" y="-1104971"/>
            <a:ext cx="5619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CL" sz="2400" b="1" dirty="0">
                <a:solidFill>
                  <a:schemeClr val="bg1"/>
                </a:solidFill>
              </a:rPr>
              <a:t>08/10/2025</a:t>
            </a:r>
            <a:endParaRPr kumimoji="0" lang="es-ES" sz="24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601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FB2CB-F51B-A692-6AD4-1E21EE26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7699217-5F36-D2AC-0348-8CF43AE01336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8BBD23-3658-D07A-2650-BACAB671D019}"/>
              </a:ext>
            </a:extLst>
          </p:cNvPr>
          <p:cNvSpPr/>
          <p:nvPr/>
        </p:nvSpPr>
        <p:spPr>
          <a:xfrm>
            <a:off x="3330712" y="524507"/>
            <a:ext cx="5619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ES" sz="2000" b="1" spc="-150" dirty="0"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AVANCE DE ACTIVIDADES</a:t>
            </a:r>
          </a:p>
          <a:p>
            <a:pPr lvl="0" algn="ctr">
              <a:defRPr/>
            </a:pPr>
            <a:r>
              <a:rPr kumimoji="0" lang="es-CL" sz="20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Semanal</a:t>
            </a:r>
            <a:endParaRPr kumimoji="0" lang="es-ES" sz="20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571B2B4-052B-5DB5-11A8-6A25D38712EB}"/>
              </a:ext>
            </a:extLst>
          </p:cNvPr>
          <p:cNvSpPr/>
          <p:nvPr/>
        </p:nvSpPr>
        <p:spPr>
          <a:xfrm>
            <a:off x="366011" y="1365568"/>
            <a:ext cx="11459978" cy="5289852"/>
          </a:xfrm>
          <a:prstGeom prst="roundRect">
            <a:avLst>
              <a:gd name="adj" fmla="val 8157"/>
            </a:avLst>
          </a:prstGeom>
          <a:solidFill>
            <a:srgbClr val="18296F">
              <a:alpha val="6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7201477"/>
              </p:ext>
            </p:extLst>
          </p:nvPr>
        </p:nvGraphicFramePr>
        <p:xfrm>
          <a:off x="1108952" y="1621829"/>
          <a:ext cx="10242242" cy="4967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75279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47BB0-6EDF-1BC6-D258-1122D72B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903BFCE-85F3-E91D-4342-532D8EE65AC7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C09ABC-CFD9-E080-6807-EFDD0FE5A4DA}"/>
              </a:ext>
            </a:extLst>
          </p:cNvPr>
          <p:cNvSpPr/>
          <p:nvPr/>
        </p:nvSpPr>
        <p:spPr>
          <a:xfrm>
            <a:off x="2947643" y="3389971"/>
            <a:ext cx="629671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88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uLnTx/>
                <a:uFillTx/>
                <a:latin typeface="Raleway Black" panose="020B0503030101060003" pitchFamily="34" charset="77"/>
                <a:ea typeface="+mn-ea"/>
                <a:cs typeface="+mn-cs"/>
              </a:rPr>
              <a:t>CPE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Camión monstruo con relleno sólido">
            <a:extLst>
              <a:ext uri="{FF2B5EF4-FFF2-40B4-BE49-F238E27FC236}">
                <a16:creationId xmlns:a16="http://schemas.microsoft.com/office/drawing/2014/main" id="{40F84E01-C33D-A529-0070-197170C9F5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43346" y="105582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867767"/>
      </p:ext>
    </p:extLst>
  </p:cSld>
  <p:clrMapOvr>
    <a:masterClrMapping/>
  </p:clrMapOvr>
  <p:transition spd="slow" advTm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7442B-00B8-01E6-1823-F7C3884A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65577B2-E88A-9557-949A-0C4A168E8CAA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872AD1-7213-30BC-F4B8-7C6233527032}"/>
              </a:ext>
            </a:extLst>
          </p:cNvPr>
          <p:cNvSpPr/>
          <p:nvPr/>
        </p:nvSpPr>
        <p:spPr>
          <a:xfrm>
            <a:off x="4143761" y="732454"/>
            <a:ext cx="39044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CL" sz="3200" b="1" dirty="0">
                <a:solidFill>
                  <a:schemeClr val="bg1"/>
                </a:solidFill>
              </a:rPr>
              <a:t>RESUMEN DE ESTADO </a:t>
            </a:r>
          </a:p>
          <a:p>
            <a:pPr lvl="0" algn="ctr">
              <a:defRPr/>
            </a:pPr>
            <a:r>
              <a:rPr lang="es-CL" sz="3200" b="1" dirty="0">
                <a:solidFill>
                  <a:schemeClr val="bg1"/>
                </a:solidFill>
              </a:rPr>
              <a:t>OPERATIVO DE CPES</a:t>
            </a:r>
            <a:endParaRPr kumimoji="0" lang="es-ES" sz="3200" b="1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5" name="Vista general de sección 14">
                <a:extLst>
                  <a:ext uri="{FF2B5EF4-FFF2-40B4-BE49-F238E27FC236}">
                    <a16:creationId xmlns:a16="http://schemas.microsoft.com/office/drawing/2014/main" id="{01821326-E53C-48A7-20C7-1E099BACA08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0997515"/>
                  </p:ext>
                </p:extLst>
              </p:nvPr>
            </p:nvGraphicFramePr>
            <p:xfrm>
              <a:off x="9468738" y="5381630"/>
              <a:ext cx="2624658" cy="1476370"/>
            </p:xfrm>
            <a:graphic>
              <a:graphicData uri="http://schemas.microsoft.com/office/powerpoint/2016/sectionzoom">
                <psez:sectionZm>
                  <psez:sectionZmObj sectionId="{CB682FA2-4B36-4F95-A693-DD000D89DC4D}">
                    <psez:zmPr id="{08A09024-4E37-4A81-913E-8851B8B9E319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24658" cy="1476370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5" name="Vista general de sección 1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1821326-E53C-48A7-20C7-1E099BACA08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8738" y="5381630"/>
                <a:ext cx="2624658" cy="1476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Vista general de sección 16">
                <a:extLst>
                  <a:ext uri="{FF2B5EF4-FFF2-40B4-BE49-F238E27FC236}">
                    <a16:creationId xmlns:a16="http://schemas.microsoft.com/office/drawing/2014/main" id="{07FA49A8-C871-79AB-15A5-FCEB2E1E84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20855137"/>
                  </p:ext>
                </p:extLst>
              </p:nvPr>
            </p:nvGraphicFramePr>
            <p:xfrm>
              <a:off x="9366529" y="163568"/>
              <a:ext cx="2677388" cy="1506031"/>
            </p:xfrm>
            <a:graphic>
              <a:graphicData uri="http://schemas.microsoft.com/office/powerpoint/2016/sectionzoom">
                <psez:sectionZm>
                  <psez:sectionZmObj sectionId="{CE686DF3-A404-4BF4-8439-3E22BA5D4CA5}">
                    <psez:zmPr id="{B72F2CAF-75D8-4787-8FEF-6EF6C4ABD765}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677388" cy="1506031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Vista general de sección 1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07FA49A8-C871-79AB-15A5-FCEB2E1E84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66529" y="163568"/>
                <a:ext cx="2677388" cy="1506031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Graphic 4" descr="Camión monstruo con relleno sólido">
            <a:extLst>
              <a:ext uri="{FF2B5EF4-FFF2-40B4-BE49-F238E27FC236}">
                <a16:creationId xmlns:a16="http://schemas.microsoft.com/office/drawing/2014/main" id="{BDE3F0CA-47DA-6339-BB57-673BEF590E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99653" y="1865178"/>
            <a:ext cx="3904478" cy="390447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C66DCC5-F45A-19BF-12F0-7B0701BFF50F}"/>
              </a:ext>
            </a:extLst>
          </p:cNvPr>
          <p:cNvSpPr/>
          <p:nvPr/>
        </p:nvSpPr>
        <p:spPr>
          <a:xfrm>
            <a:off x="2465539" y="2018449"/>
            <a:ext cx="7172705" cy="4286976"/>
          </a:xfrm>
          <a:prstGeom prst="roundRect">
            <a:avLst>
              <a:gd name="adj" fmla="val 8157"/>
            </a:avLst>
          </a:prstGeom>
          <a:solidFill>
            <a:srgbClr val="18296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042E3745-5E04-C896-B922-90BDD7E17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784820"/>
              </p:ext>
            </p:extLst>
          </p:nvPr>
        </p:nvGraphicFramePr>
        <p:xfrm>
          <a:off x="2683014" y="2290528"/>
          <a:ext cx="6955230" cy="3977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6409EAD-D38F-AE8F-41CC-7D8EA657CD2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9938" b="20276"/>
          <a:stretch>
            <a:fillRect/>
          </a:stretch>
        </p:blipFill>
        <p:spPr>
          <a:xfrm>
            <a:off x="266471" y="70607"/>
            <a:ext cx="1550416" cy="20598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23474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5016A3-05C9-5D8E-6120-847ACA7B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71C7A70-1FFA-35B9-BEB8-86DC84BD4CEC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BBDF6D-0EA3-3435-8F48-529AC5B3FF74}"/>
              </a:ext>
            </a:extLst>
          </p:cNvPr>
          <p:cNvSpPr/>
          <p:nvPr/>
        </p:nvSpPr>
        <p:spPr>
          <a:xfrm>
            <a:off x="2947643" y="3389971"/>
            <a:ext cx="6296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CL" sz="4000" b="1" dirty="0">
                <a:solidFill>
                  <a:schemeClr val="bg1"/>
                </a:solidFill>
              </a:rPr>
              <a:t>DESINSTALACIONES </a:t>
            </a:r>
            <a:endParaRPr kumimoji="0" lang="en-LT" sz="88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uLnTx/>
              <a:uFillTx/>
              <a:latin typeface="Raleway Black" panose="020B0503030101060003" pitchFamily="34" charset="77"/>
              <a:ea typeface="+mn-ea"/>
              <a:cs typeface="+mn-cs"/>
            </a:endParaRPr>
          </a:p>
        </p:txBody>
      </p:sp>
      <p:pic>
        <p:nvPicPr>
          <p:cNvPr id="3" name="Graphic 4" descr="Camión monstruo con relleno sólido">
            <a:extLst>
              <a:ext uri="{FF2B5EF4-FFF2-40B4-BE49-F238E27FC236}">
                <a16:creationId xmlns:a16="http://schemas.microsoft.com/office/drawing/2014/main" id="{1D63F347-C1AF-50F7-12C3-3DBCDA6B0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43346" y="105582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C0CD419-57F5-FC4A-A9C3-AF83A81419AB}"/>
              </a:ext>
            </a:extLst>
          </p:cNvPr>
          <p:cNvSpPr/>
          <p:nvPr/>
        </p:nvSpPr>
        <p:spPr>
          <a:xfrm>
            <a:off x="-1521732" y="7470429"/>
            <a:ext cx="3043464" cy="538836"/>
          </a:xfrm>
          <a:prstGeom prst="roundRect">
            <a:avLst/>
          </a:prstGeom>
          <a:solidFill>
            <a:schemeClr val="accent1">
              <a:alpha val="55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dirty="0"/>
              <a:t>Se espera validación del documento para continuar con la instalación en EXC 1601.</a:t>
            </a:r>
            <a:endParaRPr lang="es-CL" sz="13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1FCAA67-C558-E12E-BB53-C185DA79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548" y="-1595449"/>
            <a:ext cx="3318024" cy="3190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45731050"/>
      </p:ext>
    </p:extLst>
  </p:cSld>
  <p:clrMapOvr>
    <a:masterClrMapping/>
  </p:clrMapOvr>
  <p:transition spd="slow" advTm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646EF-16BD-6E59-A4F1-75306D2B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B3DEDE2-CEC7-D4BD-497E-1641EC7BE4CF}"/>
              </a:ext>
            </a:extLst>
          </p:cNvPr>
          <p:cNvSpPr/>
          <p:nvPr/>
        </p:nvSpPr>
        <p:spPr>
          <a:xfrm>
            <a:off x="1642217" y="1508301"/>
            <a:ext cx="8922689" cy="4932770"/>
          </a:xfrm>
          <a:prstGeom prst="roundRect">
            <a:avLst>
              <a:gd name="adj" fmla="val 8157"/>
            </a:avLst>
          </a:prstGeom>
          <a:solidFill>
            <a:srgbClr val="18296F">
              <a:alpha val="9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DC9503-645F-D313-C702-B011A8AC4FCE}"/>
              </a:ext>
            </a:extLst>
          </p:cNvPr>
          <p:cNvSpPr/>
          <p:nvPr/>
        </p:nvSpPr>
        <p:spPr>
          <a:xfrm>
            <a:off x="2796089" y="92431"/>
            <a:ext cx="62931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600" b="1" i="0" u="none" strike="noStrike" kern="1200" spc="100" baseline="0">
                <a:solidFill>
                  <a:prstClr val="white">
                    <a:lumMod val="95000"/>
                  </a:prst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s-CL" sz="4000" dirty="0"/>
              <a:t>Estado de Desinstalaciones CPE por Equipo Minero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6E6E31E4-3F0B-0498-E366-6C989987E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9E927EE7-A2C7-0847-FD10-E730F8AA5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093" y="1018721"/>
            <a:ext cx="2553746" cy="24559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5DCD80-2EAE-0FDD-D5BF-BFDAE7E1B9C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>
            <a:off x="1642217" y="1508301"/>
            <a:ext cx="8907566" cy="4932770"/>
          </a:xfrm>
          <a:prstGeom prst="rect">
            <a:avLst/>
          </a:prstGeom>
        </p:spPr>
      </p:pic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E2A2809-3AE4-E5F6-A95E-A224C5E29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259406"/>
              </p:ext>
            </p:extLst>
          </p:nvPr>
        </p:nvGraphicFramePr>
        <p:xfrm>
          <a:off x="2165042" y="1829571"/>
          <a:ext cx="7555252" cy="4475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F83153A3-EC98-3D86-E450-9CBB2CF2F1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88" b="25388"/>
          <a:stretch/>
        </p:blipFill>
        <p:spPr>
          <a:xfrm>
            <a:off x="9115218" y="193102"/>
            <a:ext cx="2899376" cy="10704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3502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36BD7-AC14-A392-D2C4-01EBE8EE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88C38BC-669F-836F-075F-1BDC2CF66F3B}"/>
              </a:ext>
            </a:extLst>
          </p:cNvPr>
          <p:cNvSpPr/>
          <p:nvPr/>
        </p:nvSpPr>
        <p:spPr>
          <a:xfrm>
            <a:off x="2869581" y="202582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9C6E9C-AEFB-A583-3F99-8CDCE772C8E5}"/>
              </a:ext>
            </a:extLst>
          </p:cNvPr>
          <p:cNvSpPr/>
          <p:nvPr/>
        </p:nvSpPr>
        <p:spPr>
          <a:xfrm>
            <a:off x="2947643" y="3389971"/>
            <a:ext cx="6296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s-CL" sz="4000" b="1" spc="-150" dirty="0">
                <a:solidFill>
                  <a:schemeClr val="bg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ATENCION DE FALLAS</a:t>
            </a:r>
            <a:endParaRPr lang="es-CL" sz="3900" b="1" spc="-150" dirty="0"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pic>
        <p:nvPicPr>
          <p:cNvPr id="3" name="Graphic 4" descr="Camión monstruo con relleno sólido">
            <a:extLst>
              <a:ext uri="{FF2B5EF4-FFF2-40B4-BE49-F238E27FC236}">
                <a16:creationId xmlns:a16="http://schemas.microsoft.com/office/drawing/2014/main" id="{D74F612F-B638-FC8A-991C-224DAEC37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43346" y="1055822"/>
            <a:ext cx="2505308" cy="2505308"/>
          </a:xfrm>
          <a:prstGeom prst="rect">
            <a:avLst/>
          </a:prstGeom>
          <a:effectLst>
            <a:outerShdw blurRad="1778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4143360"/>
      </p:ext>
    </p:extLst>
  </p:cSld>
  <p:clrMapOvr>
    <a:masterClrMapping/>
  </p:clrMapOvr>
  <p:transition spd="slow" advTm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2FA0E-295D-5600-63BF-10FF02B3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591BD90-8B39-2D42-2C11-AE93358C183E}"/>
              </a:ext>
            </a:extLst>
          </p:cNvPr>
          <p:cNvSpPr/>
          <p:nvPr/>
        </p:nvSpPr>
        <p:spPr>
          <a:xfrm>
            <a:off x="2869580" y="217936"/>
            <a:ext cx="6452840" cy="6452838"/>
          </a:xfrm>
          <a:prstGeom prst="ellipse">
            <a:avLst/>
          </a:prstGeom>
          <a:solidFill>
            <a:srgbClr val="12231D">
              <a:alpha val="4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LT" sz="8000" b="1" i="0" u="none" strike="noStrike" kern="1200" cap="none" spc="-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leway" panose="020B0503030101060003" pitchFamily="34" charset="77"/>
              <a:ea typeface="+mn-ea"/>
              <a:cs typeface="+mn-cs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18ABE94-8AC0-4CDF-547C-6DC0194A55E3}"/>
              </a:ext>
            </a:extLst>
          </p:cNvPr>
          <p:cNvSpPr/>
          <p:nvPr/>
        </p:nvSpPr>
        <p:spPr>
          <a:xfrm>
            <a:off x="6977739" y="5144433"/>
            <a:ext cx="4796045" cy="1376388"/>
          </a:xfrm>
          <a:prstGeom prst="roundRect">
            <a:avLst/>
          </a:prstGeom>
          <a:solidFill>
            <a:schemeClr val="accent1">
              <a:alpha val="9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944FD21D-B842-050A-F5EA-9B9169F6B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36558" y="5379171"/>
            <a:ext cx="1902814" cy="107033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0CB40E6-5893-9C1C-89D5-4F8BE2B097C1}"/>
              </a:ext>
            </a:extLst>
          </p:cNvPr>
          <p:cNvSpPr txBox="1"/>
          <p:nvPr/>
        </p:nvSpPr>
        <p:spPr>
          <a:xfrm>
            <a:off x="8619147" y="5147536"/>
            <a:ext cx="29251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SIN INSTALACIONES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0F5A3D01-2781-E899-2009-7FD9B015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38632" y="6723401"/>
            <a:ext cx="5908213" cy="15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MEJORAMIENTO CONTINUO </a:t>
            </a:r>
          </a:p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PRACTICAS OPERACIONALES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52C399D-F38F-AD17-2B1F-4A4423E5BB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6" y="-2444201"/>
            <a:ext cx="5821555" cy="230691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7103370-0177-B9C6-EC5D-34DE4AD0693A}"/>
              </a:ext>
            </a:extLst>
          </p:cNvPr>
          <p:cNvSpPr txBox="1"/>
          <p:nvPr/>
        </p:nvSpPr>
        <p:spPr>
          <a:xfrm>
            <a:off x="3397763" y="1034132"/>
            <a:ext cx="52318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spc="-150" dirty="0">
                <a:solidFill>
                  <a:schemeClr val="bg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REPORTE DE FALLAS Y </a:t>
            </a:r>
          </a:p>
          <a:p>
            <a:pPr algn="ctr"/>
            <a:r>
              <a:rPr lang="es-ES" sz="3200" b="1" spc="-150" dirty="0">
                <a:solidFill>
                  <a:schemeClr val="bg1"/>
                </a:solidFill>
                <a:effectLst>
                  <a:outerShdw blurRad="419100" sx="102000" sy="102000" algn="ctr" rotWithShape="0">
                    <a:prstClr val="black">
                      <a:alpha val="29000"/>
                    </a:prstClr>
                  </a:outerShdw>
                </a:effectLst>
                <a:latin typeface="Raleway Black" panose="020B0503030101060003" pitchFamily="34" charset="77"/>
              </a:rPr>
              <a:t>ATENCIÓN DE EQUIPOS CPE</a:t>
            </a:r>
            <a:endParaRPr lang="es-CL" sz="3200" b="1" spc="-150" dirty="0">
              <a:solidFill>
                <a:schemeClr val="bg1"/>
              </a:solidFill>
              <a:effectLst>
                <a:outerShdw blurRad="419100" sx="102000" sy="102000" algn="ctr" rotWithShape="0">
                  <a:prstClr val="black">
                    <a:alpha val="29000"/>
                  </a:prstClr>
                </a:outerShdw>
              </a:effectLst>
              <a:latin typeface="Raleway Black" panose="020B0503030101060003" pitchFamily="34" charset="77"/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BBDDFC89-9E90-2589-720C-1F84AE5C2A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0154952"/>
              </p:ext>
            </p:extLst>
          </p:nvPr>
        </p:nvGraphicFramePr>
        <p:xfrm>
          <a:off x="488103" y="161636"/>
          <a:ext cx="2131729" cy="21337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9332D8A-059E-2FC8-BF4C-81FF7E5871BE}"/>
              </a:ext>
            </a:extLst>
          </p:cNvPr>
          <p:cNvSpPr/>
          <p:nvPr/>
        </p:nvSpPr>
        <p:spPr>
          <a:xfrm>
            <a:off x="238355" y="2594344"/>
            <a:ext cx="5890713" cy="2988194"/>
          </a:xfrm>
          <a:prstGeom prst="roundRect">
            <a:avLst/>
          </a:pr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3354F8-4F95-8853-F296-4A3DF85AAB6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14000"/>
          </a:blip>
          <a:stretch>
            <a:fillRect/>
          </a:stretch>
        </p:blipFill>
        <p:spPr>
          <a:xfrm>
            <a:off x="259276" y="2700670"/>
            <a:ext cx="5890713" cy="2881868"/>
          </a:xfrm>
          <a:prstGeom prst="roundRect">
            <a:avLst>
              <a:gd name="adj" fmla="val 1272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5542EE9-D162-CB31-862A-092142AEF8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234631"/>
              </p:ext>
            </p:extLst>
          </p:nvPr>
        </p:nvGraphicFramePr>
        <p:xfrm>
          <a:off x="452503" y="2835869"/>
          <a:ext cx="5396279" cy="2648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AEB78971-079A-2B09-0EB6-F243AF882B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11291" b="11291"/>
          <a:stretch/>
        </p:blipFill>
        <p:spPr>
          <a:xfrm>
            <a:off x="8739372" y="2521239"/>
            <a:ext cx="3367567" cy="2217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Image 18">
            <a:extLst>
              <a:ext uri="{FF2B5EF4-FFF2-40B4-BE49-F238E27FC236}">
                <a16:creationId xmlns:a16="http://schemas.microsoft.com/office/drawing/2014/main" id="{CB86B7FE-8F41-CEA8-C871-BCF2CBF06A3B}"/>
              </a:ext>
            </a:extLst>
          </p:cNvPr>
          <p:cNvPicPr>
            <a:picLocks/>
          </p:cNvPicPr>
          <p:nvPr/>
        </p:nvPicPr>
        <p:blipFill>
          <a:blip r:embed="rId14"/>
          <a:srcRect l="11897" r="11897"/>
          <a:stretch/>
        </p:blipFill>
        <p:spPr>
          <a:xfrm>
            <a:off x="6484363" y="2521239"/>
            <a:ext cx="1974723" cy="22133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8506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9564D77-0573-4C8B-B550-99A49E126169}"/>
              </a:ext>
            </a:extLst>
          </p:cNvPr>
          <p:cNvSpPr txBox="1"/>
          <p:nvPr/>
        </p:nvSpPr>
        <p:spPr>
          <a:xfrm>
            <a:off x="3258900" y="2781401"/>
            <a:ext cx="31775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MINERÍA 4.0</a:t>
            </a:r>
            <a:endParaRPr lang="es-ES_tradnl" sz="3000" b="1" dirty="0">
              <a:solidFill>
                <a:schemeClr val="bg1"/>
              </a:solidFill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-1" y="4449159"/>
            <a:ext cx="6436427" cy="1517179"/>
          </a:xfrm>
          <a:prstGeom prst="rect">
            <a:avLst/>
          </a:prstGeom>
          <a:solidFill>
            <a:srgbClr val="2F377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E2D34D79-96DA-4669-BC0E-14A2030F5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13" y="4449161"/>
            <a:ext cx="5908213" cy="1517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L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MEJORAMIENTO CONTINUO </a:t>
            </a:r>
          </a:p>
          <a:p>
            <a:pPr algn="l">
              <a:lnSpc>
                <a:spcPts val="3840"/>
              </a:lnSpc>
            </a:pPr>
            <a:r>
              <a:rPr lang="es-MX" altLang="es-CL" sz="3200" b="1" dirty="0">
                <a:latin typeface="Trebuchet MS" charset="0"/>
                <a:ea typeface="Trebuchet MS" charset="0"/>
                <a:cs typeface="Trebuchet MS" charset="0"/>
              </a:rPr>
              <a:t>PRACTICAS OPERACIONALES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73BFEA7-CC62-1142-BB29-C61AF27247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45" y="305659"/>
            <a:ext cx="5821555" cy="23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alpha val="55000"/>
          </a:schemeClr>
        </a:solidFill>
        <a:ln w="76200"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45F82"/>
    </a:accent1>
    <a:accent2>
      <a:srgbClr val="E87331"/>
    </a:accent2>
    <a:accent3>
      <a:srgbClr val="186C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45F82"/>
    </a:accent1>
    <a:accent2>
      <a:srgbClr val="E87331"/>
    </a:accent2>
    <a:accent3>
      <a:srgbClr val="186C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165065</TotalTime>
  <Words>1811</Words>
  <Application>Microsoft Office PowerPoint</Application>
  <PresentationFormat>Panorámica</PresentationFormat>
  <Paragraphs>503</Paragraphs>
  <Slides>31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43" baseType="lpstr">
      <vt:lpstr>Aptos</vt:lpstr>
      <vt:lpstr>Aptos Narrow</vt:lpstr>
      <vt:lpstr>Calibri Light</vt:lpstr>
      <vt:lpstr>Arial MT</vt:lpstr>
      <vt:lpstr>Calibri</vt:lpstr>
      <vt:lpstr>ADLaM Display</vt:lpstr>
      <vt:lpstr>Raleway Black</vt:lpstr>
      <vt:lpstr>Arial</vt:lpstr>
      <vt:lpstr>Trebuchet MS</vt:lpstr>
      <vt:lpstr>Raleway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Vanesa Aguilar Veloso</dc:creator>
  <cp:lastModifiedBy>Williams Vicente Barraza Gallardo</cp:lastModifiedBy>
  <cp:revision>171</cp:revision>
  <cp:lastPrinted>2025-12-25T23:29:48Z</cp:lastPrinted>
  <dcterms:created xsi:type="dcterms:W3CDTF">2023-10-03T06:31:12Z</dcterms:created>
  <dcterms:modified xsi:type="dcterms:W3CDTF">2026-09-01T18:59:55Z</dcterms:modified>
</cp:coreProperties>
</file>