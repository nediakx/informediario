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  <p:sldMasterId id="2147483660" r:id="rId2"/>
  </p:sldMasterIdLst>
  <p:notesMasterIdLst>
    <p:notesMasterId r:id="rId34"/>
  </p:notesMasterIdLst>
  <p:sldIdLst>
    <p:sldId id="267" r:id="rId3"/>
    <p:sldId id="268" r:id="rId4"/>
    <p:sldId id="1680" r:id="rId5"/>
    <p:sldId id="1679" r:id="rId6"/>
    <p:sldId id="270" r:id="rId7"/>
    <p:sldId id="1664" r:id="rId8"/>
    <p:sldId id="1671" r:id="rId11"/>
    <p:sldId id="1672" r:id="rId12"/>
    <p:sldId id="1731" r:id="rId13"/>
    <p:sldId id="1734" r:id="rId14"/>
    <p:sldId id="1670" r:id="rId15"/>
    <p:sldId id="1676" r:id="rId16"/>
    <p:sldId id="1685" r:id="rId17"/>
    <p:sldId id="1691" r:id="rId18"/>
    <p:sldId id="1697" r:id="rId19"/>
    <p:sldId id="1732" r:id="rId20"/>
    <p:sldId id="1733" r:id="rId21"/>
    <p:sldId id="366" r:id="rId33"/>
  </p:sldIdLst>
  <p:sldSz cx="12192000" cy="6858000"/>
  <p:notesSz cx="7104063" cy="10234613"/>
  <p:embeddedFontLst>
    <p:embeddedFont>
      <p:font typeface="ADLaM Display" panose="02010000000000000000" pitchFamily="2" charset="0"/>
      <p:regular r:id="rId35"/>
    </p:embeddedFont>
    <p:embeddedFont>
      <p:font typeface="Aptos Narrow" panose="020B0004020202020204" pitchFamily="34" charset="0"/>
      <p:regular r:id="rId36"/>
      <p:bold r:id="rId37"/>
      <p:italic r:id="rId38"/>
      <p:boldItalic r:id="rId39"/>
    </p:embeddedFont>
    <p:embeddedFont>
      <p:font typeface="Raleway" pitchFamily="2" charset="0"/>
      <p:regular r:id="rId40"/>
      <p:bold r:id="rId41"/>
      <p:italic r:id="rId42"/>
      <p:boldItalic r:id="rId43"/>
    </p:embeddedFont>
    <p:embeddedFont>
      <p:font typeface="Raleway Black" pitchFamily="2" charset="0"/>
      <p:bold r:id="rId44"/>
      <p:boldItalic r:id="rId45"/>
    </p:embeddedFont>
    <p:embeddedFont>
      <p:font typeface="Trebuchet MS" panose="020B0603020202020204" pitchFamily="34" charset="0"/>
      <p:regular r:id="rId46"/>
      <p:bold r:id="rId47"/>
      <p:italic r:id="rId48"/>
      <p:boldItalic r:id="rId49"/>
    </p:embeddedFont>
  </p:embeddedFontLst>
  <p:defaultTextStyle>
    <a:defPPr>
      <a:defRPr lang="en-L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Home Slide" id="{C41E965D-1BB0-6E42-80C1-B0CE61D34D0F}">
          <p14:sldIdLst>
            <p14:sldId id="267"/>
          </p14:sldIdLst>
        </p14:section>
        <p14:section name="RESUMEN TURNOS" id="{2FE6B519-480C-434A-96D0-B06036B49864}">
          <p14:sldIdLst>
            <p14:sldId id="268"/>
            <p14:sldId id="1680"/>
            <p14:sldId id="1679"/>
          </p14:sldIdLst>
        </p14:section>
        <p14:section name="ACTIVIDADES DIARIAS" id="{DBB0F080-D76F-2449-A8A8-97428CE5CDE4}">
          <p14:sldIdLst>
            <p14:sldId id="270"/>
            <p14:sldId id="1664"/>
          </p14:sldIdLst>
        </p14:section>
        <p14:section name="REPORTABILIDAD" id="{0EE20D05-537A-4B50-9B8A-AC4069C25E74}">
          <p14:sldIdLst>
            <p14:sldId id="1671"/>
            <p14:sldId id="1672"/>
            <p14:sldId id="1731"/>
          </p14:sldIdLst>
        </p14:section>
        <p14:section name="DIFUSIONES" id="{663C72DC-B12D-4C31-88E5-BA5A135B2E35}">
          <p14:sldIdLst>
            <p14:sldId id="1734"/>
            <p14:sldId id="1670"/>
            <p14:sldId id="1676"/>
            <p14:sldId id="1685"/>
            <p14:sldId id="1691"/>
            <p14:sldId id="1697"/>
            <p14:sldId id="1732"/>
            <p14:sldId id="1733"/>
          </p14:sldIdLst>
        </p14:section>
        <p14:section name="CPE OBSERVACIONES Y PRÓXIMOS PASOS" id="{CE686DF3-A404-4BF4-8439-3E22BA5D4CA5}">
          <p14:sldIdLst>
            <p14:sldId id="36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6F42C"/>
    <a:srgbClr val="FF6E01"/>
    <a:srgbClr val="0F6FC6"/>
    <a:srgbClr val="EF8426"/>
    <a:srgbClr val="34B4D6"/>
    <a:srgbClr val="180928"/>
    <a:srgbClr val="12231D"/>
    <a:srgbClr val="101519"/>
    <a:srgbClr val="273E32"/>
    <a:srgbClr val="0D14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5" autoAdjust="0"/>
    <p:restoredTop sz="91616" autoAdjust="0"/>
  </p:normalViewPr>
  <p:slideViewPr>
    <p:cSldViewPr snapToGrid="0" snapToObjects="1">
      <p:cViewPr varScale="1">
        <p:scale>
          <a:sx n="101" d="100"/>
          <a:sy n="101" d="100"/>
        </p:scale>
        <p:origin x="990" y="72"/>
      </p:cViewPr>
      <p:guideLst>
        <p:guide orient="horz" pos="2183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font" Target="fonts/font5.fntdata"/><Relationship Id="rId21" Type="http://schemas.openxmlformats.org/officeDocument/2006/relationships/slide" Target="slides/slide19.xml"/><Relationship Id="rId34" Type="http://schemas.openxmlformats.org/officeDocument/2006/relationships/notesMaster" Target="notesMasters/notesMaster1.xml"/><Relationship Id="rId42" Type="http://schemas.openxmlformats.org/officeDocument/2006/relationships/font" Target="fonts/font8.fntdata"/><Relationship Id="rId47" Type="http://schemas.openxmlformats.org/officeDocument/2006/relationships/font" Target="fonts/font13.fntdata"/><Relationship Id="rId50" Type="http://schemas.openxmlformats.org/officeDocument/2006/relationships/presProps" Target="pres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7" Type="http://schemas.openxmlformats.org/officeDocument/2006/relationships/font" Target="fonts/font3.fntdata"/><Relationship Id="rId40" Type="http://schemas.openxmlformats.org/officeDocument/2006/relationships/font" Target="fonts/font6.fntdata"/><Relationship Id="rId45" Type="http://schemas.openxmlformats.org/officeDocument/2006/relationships/font" Target="fonts/font11.fntdata"/><Relationship Id="rId53" Type="http://schemas.openxmlformats.org/officeDocument/2006/relationships/tableStyles" Target="tableStyles.xml"/><Relationship Id="rId5" Type="http://schemas.openxmlformats.org/officeDocument/2006/relationships/slide" Target="slides/slide3.xml"/><Relationship Id="rId19" Type="http://schemas.openxmlformats.org/officeDocument/2006/relationships/slide" Target="slides/slide17.xml"/><Relationship Id="rId44" Type="http://schemas.openxmlformats.org/officeDocument/2006/relationships/font" Target="fonts/font10.fntdata"/><Relationship Id="rId52" Type="http://schemas.openxmlformats.org/officeDocument/2006/relationships/theme" Target="theme/theme1.xml"/><Relationship Id="rId4" Type="http://schemas.openxmlformats.org/officeDocument/2006/relationships/slide" Target="slides/slide2.xml"/><Relationship Id="rId14" Type="http://schemas.openxmlformats.org/officeDocument/2006/relationships/slide" Target="slides/slide12.xml"/><Relationship Id="rId35" Type="http://schemas.openxmlformats.org/officeDocument/2006/relationships/font" Target="fonts/font1.fntdata"/><Relationship Id="rId43" Type="http://schemas.openxmlformats.org/officeDocument/2006/relationships/font" Target="fonts/font9.fntdata"/><Relationship Id="rId48" Type="http://schemas.openxmlformats.org/officeDocument/2006/relationships/font" Target="fonts/font14.fntdata"/><Relationship Id="rId8" Type="http://schemas.openxmlformats.org/officeDocument/2006/relationships/slide" Target="slides/slide6.xml"/><Relationship Id="rId51" Type="http://schemas.openxmlformats.org/officeDocument/2006/relationships/viewProps" Target="view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33" Type="http://schemas.openxmlformats.org/officeDocument/2006/relationships/slide" Target="slides/slide31.xml"/><Relationship Id="rId38" Type="http://schemas.openxmlformats.org/officeDocument/2006/relationships/font" Target="fonts/font4.fntdata"/><Relationship Id="rId46" Type="http://schemas.openxmlformats.org/officeDocument/2006/relationships/font" Target="fonts/font12.fntdata"/><Relationship Id="rId20" Type="http://schemas.openxmlformats.org/officeDocument/2006/relationships/slide" Target="slides/slide18.xml"/><Relationship Id="rId41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36" Type="http://schemas.openxmlformats.org/officeDocument/2006/relationships/font" Target="fonts/font2.fntdata"/><Relationship Id="rId49" Type="http://schemas.openxmlformats.org/officeDocument/2006/relationships/font" Target="fonts/font1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3078427" cy="513508"/>
          </a:xfrm>
          <a:prstGeom prst="rect">
            <a:avLst/>
          </a:prstGeom>
        </p:spPr>
        <p:txBody>
          <a:bodyPr vert="horz" lIns="99062" tIns="49531" rIns="99062" bIns="49531" rtlCol="0"/>
          <a:lstStyle>
            <a:lvl1pPr algn="l">
              <a:defRPr sz="1300"/>
            </a:lvl1pPr>
          </a:lstStyle>
          <a:p>
            <a:endParaRPr lang="en-L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1"/>
            <a:ext cx="3078427" cy="513508"/>
          </a:xfrm>
          <a:prstGeom prst="rect">
            <a:avLst/>
          </a:prstGeom>
        </p:spPr>
        <p:txBody>
          <a:bodyPr vert="horz" lIns="99062" tIns="49531" rIns="99062" bIns="49531" rtlCol="0"/>
          <a:lstStyle>
            <a:lvl1pPr algn="r">
              <a:defRPr sz="1300"/>
            </a:lvl1pPr>
          </a:lstStyle>
          <a:p>
            <a:fld id="{97AF6D82-066C-FA4D-8270-4E3B76B0A85B}" type="datetimeFigureOut">
              <a:t>01-09-2026</a:t>
            </a:fld>
            <a:endParaRPr lang="en-L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2" tIns="49531" rIns="99062" bIns="49531" rtlCol="0" anchor="ctr"/>
          <a:lstStyle/>
          <a:p>
            <a:endParaRPr lang="en-L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8"/>
            <a:ext cx="5683250" cy="4029879"/>
          </a:xfrm>
          <a:prstGeom prst="rect">
            <a:avLst/>
          </a:prstGeom>
        </p:spPr>
        <p:txBody>
          <a:bodyPr vert="horz" lIns="99062" tIns="49531" rIns="99062" bIns="49531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L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8427" cy="513507"/>
          </a:xfrm>
          <a:prstGeom prst="rect">
            <a:avLst/>
          </a:prstGeom>
        </p:spPr>
        <p:txBody>
          <a:bodyPr vert="horz" lIns="99062" tIns="49531" rIns="99062" bIns="49531" rtlCol="0" anchor="b"/>
          <a:lstStyle>
            <a:lvl1pPr algn="l">
              <a:defRPr sz="1300"/>
            </a:lvl1pPr>
          </a:lstStyle>
          <a:p>
            <a:endParaRPr lang="en-L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8"/>
            <a:ext cx="3078427" cy="513507"/>
          </a:xfrm>
          <a:prstGeom prst="rect">
            <a:avLst/>
          </a:prstGeom>
        </p:spPr>
        <p:txBody>
          <a:bodyPr vert="horz" lIns="99062" tIns="49531" rIns="99062" bIns="49531" rtlCol="0" anchor="b"/>
          <a:lstStyle>
            <a:lvl1pPr algn="r">
              <a:defRPr sz="1300"/>
            </a:lvl1pPr>
          </a:lstStyle>
          <a:p>
            <a:fld id="{5BE92847-51ED-1449-A9AF-8F855167E8E6}" type="slidenum">
              <a:t>‹Nº›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28135098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L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E92847-51ED-1449-A9AF-8F855167E8E6}" type="slidenum">
              <a:t>1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4709649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LISTO HASTA EL 30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E92847-51ED-1449-A9AF-8F855167E8E6}" type="slidenum">
              <a:rPr lang="es-CL" smtClean="0"/>
              <a:t>3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505578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E92847-51ED-1449-A9AF-8F855167E8E6}" type="slidenum">
              <a:rPr lang="es-CL" smtClean="0"/>
              <a:t>4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5814234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Listo hasta el 01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E92847-51ED-1449-A9AF-8F855167E8E6}" type="slidenum">
              <a:rPr lang="es-CL" smtClean="0"/>
              <a:t>10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120232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Listo</a:t>
            </a:r>
          </a:p>
          <a:p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E92847-51ED-1449-A9AF-8F855167E8E6}" type="slidenum">
              <a:rPr lang="es-CL" smtClean="0"/>
              <a:t>13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5852666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Pendiente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E92847-51ED-1449-A9AF-8F855167E8E6}" type="slidenum">
              <a:rPr lang="es-CL" smtClean="0"/>
              <a:t>14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3334422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L" dirty="0"/>
              <a:t>Pendiente</a:t>
            </a:r>
          </a:p>
          <a:p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E92847-51ED-1449-A9AF-8F855167E8E6}" type="slidenum">
              <a:rPr lang="es-CL" smtClean="0"/>
              <a:t>15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1237456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L" dirty="0"/>
              <a:t>Pendiente</a:t>
            </a:r>
          </a:p>
          <a:p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E92847-51ED-1449-A9AF-8F855167E8E6}" type="slidenum">
              <a:rPr lang="es-CL" smtClean="0"/>
              <a:t>16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51667445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E92847-51ED-1449-A9AF-8F855167E8E6}" type="slidenum">
              <a:rPr lang="es-CL" smtClean="0"/>
              <a:t>17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10352240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E92847-51ED-1449-A9AF-8F855167E8E6}" type="slidenum">
              <a:rPr lang="es-CL" smtClean="0"/>
              <a:t>18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764478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E92847-51ED-1449-A9AF-8F855167E8E6}" type="slidenum">
              <a:rPr lang="es-CL" smtClean="0"/>
              <a:t>19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4862431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E4C029-E600-4190-8AE8-26B2F7F80486}" type="slidenum">
              <a:rPr lang="es-CL" smtClean="0"/>
              <a:t>31</a:t>
            </a:fld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5023813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BE682-BC13-E443-B955-4FA79FB3F1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L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43E81D-F660-B04A-A02A-7771D9835F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L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20CAD2-F4B0-6D4F-A3DB-59C0869B6D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621EB-52E9-864A-B0F6-E4DE6976EFAF}" type="datetimeFigureOut">
              <a:t>01-09-2026</a:t>
            </a:fld>
            <a:endParaRPr lang="en-L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559959-8F63-1C46-9846-971A9FA82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4FAE86-30FA-9842-986E-368BD12DB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2A2A8-704E-EF48-80AE-D3783EE37A42}" type="slidenum">
              <a:t>‹Nº›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810520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BF467-98F8-1240-ACB7-FB89C8182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L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DF9D25-2E40-A546-8E08-F406112B18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L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78E3D-659B-5845-B58C-F7CE0FEDA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621EB-52E9-864A-B0F6-E4DE6976EFAF}" type="datetimeFigureOut">
              <a:t>01-09-2026</a:t>
            </a:fld>
            <a:endParaRPr lang="en-L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F348E1-52F7-3740-BECC-A872BC9527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63AFA0-CF5D-CB4F-86DA-A26B2DDDD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2A2A8-704E-EF48-80AE-D3783EE37A42}" type="slidenum">
              <a:t>‹Nº›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15446148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FBE51-5261-8649-BBAC-76D794105D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L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5328B6-1619-BD43-AFD5-7594537CB9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3C310A-FBFE-6A4B-94FD-CD0539AA4D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621EB-52E9-864A-B0F6-E4DE6976EFAF}" type="datetimeFigureOut">
              <a:t>01-09-2026</a:t>
            </a:fld>
            <a:endParaRPr lang="en-L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09B160-B8F3-9845-896E-719CFEDB9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CFF698-F77F-6B4B-84A3-6571531AC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2A2A8-704E-EF48-80AE-D3783EE37A42}" type="slidenum">
              <a:t>‹Nº›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9689716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ED5FF-D86B-9747-848F-2C768AE53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L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78C517-D3BF-1840-B5E3-D495BF943C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L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F0A760-A9DA-0E47-8642-F4561309DD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L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D07266-6075-214C-9A0F-1B14A182D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621EB-52E9-864A-B0F6-E4DE6976EFAF}" type="datetimeFigureOut">
              <a:t>01-09-2026</a:t>
            </a:fld>
            <a:endParaRPr lang="en-L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6FDC8C-B2B0-4245-A63C-2FB5D90D3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EF4FA8-9897-264C-B54C-3F8F18770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2A2A8-704E-EF48-80AE-D3783EE37A42}" type="slidenum">
              <a:t>‹Nº›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7032258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2B15F-C6FA-D84D-AB7C-2B5E418D39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L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0F8AC2-AA47-514A-8FDD-22D9C7EA77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2D7083-810C-DE49-887E-B07C6D7484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L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78EA05-E088-664F-95B0-F7ACC95192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53E967E-B198-B644-85C4-9E2D8C07E3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L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4430866-AC10-394E-BF2C-D6905A00C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621EB-52E9-864A-B0F6-E4DE6976EFAF}" type="datetimeFigureOut">
              <a:t>01-09-2026</a:t>
            </a:fld>
            <a:endParaRPr lang="en-L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A4192B9-1A8F-5643-8EDB-7F6741B9DB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D7EE84F-1143-8540-BC3E-2E7FBEDE2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2A2A8-704E-EF48-80AE-D3783EE37A42}" type="slidenum">
              <a:t>‹Nº›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1578886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BE082-AEA3-514F-B09D-1F6E78F66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L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91E451-9867-6C42-8057-6E95D2F36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621EB-52E9-864A-B0F6-E4DE6976EFAF}" type="datetimeFigureOut">
              <a:t>01-09-2026</a:t>
            </a:fld>
            <a:endParaRPr lang="en-L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A23332-F96E-2A45-BF20-B5E13FB94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08CDD1-FCB4-B145-AA09-3E794E237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2A2A8-704E-EF48-80AE-D3783EE37A42}" type="slidenum">
              <a:t>‹Nº›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609508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6BC489A-8D6C-DC47-B468-186F9A4696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621EB-52E9-864A-B0F6-E4DE6976EFAF}" type="datetimeFigureOut">
              <a:t>01-09-2026</a:t>
            </a:fld>
            <a:endParaRPr lang="en-L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7229109-1C34-5244-ADE5-222459E6E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09E646-008A-3748-BCE2-BCCC6ED32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2A2A8-704E-EF48-80AE-D3783EE37A42}" type="slidenum">
              <a:t>‹Nº›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1459180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D4E5A1-F2E4-4441-8387-1A6E6B207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L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ADA04F-4005-F044-8FE5-2EC8060FA3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L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5CDADC-814E-244E-B9E5-2C9051426D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33663C-1FF4-3D4E-854F-A5AA4B8A5D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621EB-52E9-864A-B0F6-E4DE6976EFAF}" type="datetimeFigureOut">
              <a:t>01-09-2026</a:t>
            </a:fld>
            <a:endParaRPr lang="en-L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040EC2-135F-FE46-92F3-F3CD1E63A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4625FC-8AEA-F74B-9DD8-E453DBA5FB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2A2A8-704E-EF48-80AE-D3783EE37A42}" type="slidenum">
              <a:t>‹Nº›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844066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E0717-7D74-B44F-9E66-235930CCAE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L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290095B-B62E-3C44-845A-8D31260A60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L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AA383A-A1BD-3449-AEF4-F5EB7E8FAA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2DE627-2BED-3549-9D80-6D0263AB6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621EB-52E9-864A-B0F6-E4DE6976EFAF}" type="datetimeFigureOut">
              <a:t>01-09-2026</a:t>
            </a:fld>
            <a:endParaRPr lang="en-L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475BC9-5EA8-9D48-A131-684734B30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7BAA5F-2F19-D749-8E4B-44ABBE824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2A2A8-704E-EF48-80AE-D3783EE37A42}" type="slidenum">
              <a:t>‹Nº›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28820497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1BE3B-CFC3-5A4C-B7F9-83501BEBB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L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6FE2E7-8408-F64E-AC06-6E9B1F7B6D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L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B17EA7-EDC0-674E-87AF-81F0CC4A4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621EB-52E9-864A-B0F6-E4DE6976EFAF}" type="datetimeFigureOut">
              <a:t>01-09-2026</a:t>
            </a:fld>
            <a:endParaRPr lang="en-L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A66A1F-640A-DD4A-8A62-FC15E9D3F5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ED5553-91F0-6547-ABB8-D9C439CB0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2A2A8-704E-EF48-80AE-D3783EE37A42}" type="slidenum">
              <a:t>‹Nº›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30869993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81D21FB-DAFB-DF4B-B7CA-DF378245F1B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L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C020F6-65AA-B149-8A98-D754BD2D85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L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9CA0BA-7E42-374F-BCF5-EDBE9B1CA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621EB-52E9-864A-B0F6-E4DE6976EFAF}" type="datetimeFigureOut">
              <a:t>01-09-2026</a:t>
            </a:fld>
            <a:endParaRPr lang="en-L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F8169A-AD4F-B54D-BD6E-4A85F6C023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67CF1D-B5A0-C945-8BEF-46A5BA840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2A2A8-704E-EF48-80AE-D3783EE37A42}" type="slidenum">
              <a:t>‹Nº›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10407749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BE682-BC13-E443-B955-4FA79FB3F1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L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43E81D-F660-B04A-A02A-7771D9835F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L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20CAD2-F4B0-6D4F-A3DB-59C0869B6D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621EB-52E9-864A-B0F6-E4DE6976EFAF}" type="datetimeFigureOut">
              <a:t>01-09-2026</a:t>
            </a:fld>
            <a:endParaRPr lang="en-L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559959-8F63-1C46-9846-971A9FA82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4FAE86-30FA-9842-986E-368BD12DB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2A2A8-704E-EF48-80AE-D3783EE37A42}" type="slidenum">
              <a:t>‹Nº›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28774449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BF467-98F8-1240-ACB7-FB89C8182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L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DF9D25-2E40-A546-8E08-F406112B18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L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78E3D-659B-5845-B58C-F7CE0FEDA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621EB-52E9-864A-B0F6-E4DE6976EFAF}" type="datetimeFigureOut">
              <a:t>01-09-2026</a:t>
            </a:fld>
            <a:endParaRPr lang="en-L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F348E1-52F7-3740-BECC-A872BC9527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63AFA0-CF5D-CB4F-86DA-A26B2DDDD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2A2A8-704E-EF48-80AE-D3783EE37A42}" type="slidenum">
              <a:t>‹Nº›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14661500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FBE51-5261-8649-BBAC-76D794105D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L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5328B6-1619-BD43-AFD5-7594537CB9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3C310A-FBFE-6A4B-94FD-CD0539AA4D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621EB-52E9-864A-B0F6-E4DE6976EFAF}" type="datetimeFigureOut">
              <a:t>01-09-2026</a:t>
            </a:fld>
            <a:endParaRPr lang="en-L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09B160-B8F3-9845-896E-719CFEDB9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CFF698-F77F-6B4B-84A3-6571531AC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2A2A8-704E-EF48-80AE-D3783EE37A42}" type="slidenum">
              <a:t>‹Nº›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29831450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ED5FF-D86B-9747-848F-2C768AE53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L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78C517-D3BF-1840-B5E3-D495BF943C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L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F0A760-A9DA-0E47-8642-F4561309DD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L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D07266-6075-214C-9A0F-1B14A182D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621EB-52E9-864A-B0F6-E4DE6976EFAF}" type="datetimeFigureOut">
              <a:t>01-09-2026</a:t>
            </a:fld>
            <a:endParaRPr lang="en-L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6FDC8C-B2B0-4245-A63C-2FB5D90D3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EF4FA8-9897-264C-B54C-3F8F18770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2A2A8-704E-EF48-80AE-D3783EE37A42}" type="slidenum">
              <a:t>‹Nº›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5805336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2B15F-C6FA-D84D-AB7C-2B5E418D39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L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0F8AC2-AA47-514A-8FDD-22D9C7EA77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2D7083-810C-DE49-887E-B07C6D7484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L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78EA05-E088-664F-95B0-F7ACC95192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53E967E-B198-B644-85C4-9E2D8C07E3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L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4430866-AC10-394E-BF2C-D6905A00C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621EB-52E9-864A-B0F6-E4DE6976EFAF}" type="datetimeFigureOut">
              <a:t>01-09-2026</a:t>
            </a:fld>
            <a:endParaRPr lang="en-L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A4192B9-1A8F-5643-8EDB-7F6741B9DB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D7EE84F-1143-8540-BC3E-2E7FBEDE2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2A2A8-704E-EF48-80AE-D3783EE37A42}" type="slidenum">
              <a:t>‹Nº›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97600254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BE082-AEA3-514F-B09D-1F6E78F66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L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91E451-9867-6C42-8057-6E95D2F36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621EB-52E9-864A-B0F6-E4DE6976EFAF}" type="datetimeFigureOut">
              <a:t>01-09-2026</a:t>
            </a:fld>
            <a:endParaRPr lang="en-L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A23332-F96E-2A45-BF20-B5E13FB94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08CDD1-FCB4-B145-AA09-3E794E237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2A2A8-704E-EF48-80AE-D3783EE37A42}" type="slidenum">
              <a:t>‹Nº›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335817964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6BC489A-8D6C-DC47-B468-186F9A4696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621EB-52E9-864A-B0F6-E4DE6976EFAF}" type="datetimeFigureOut">
              <a:t>01-09-2026</a:t>
            </a:fld>
            <a:endParaRPr lang="en-L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7229109-1C34-5244-ADE5-222459E6E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09E646-008A-3748-BCE2-BCCC6ED32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2A2A8-704E-EF48-80AE-D3783EE37A42}" type="slidenum">
              <a:t>‹Nº›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361460773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D4E5A1-F2E4-4441-8387-1A6E6B207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L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ADA04F-4005-F044-8FE5-2EC8060FA3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L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5CDADC-814E-244E-B9E5-2C9051426D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33663C-1FF4-3D4E-854F-A5AA4B8A5D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621EB-52E9-864A-B0F6-E4DE6976EFAF}" type="datetimeFigureOut">
              <a:t>01-09-2026</a:t>
            </a:fld>
            <a:endParaRPr lang="en-L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040EC2-135F-FE46-92F3-F3CD1E63A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4625FC-8AEA-F74B-9DD8-E453DBA5FB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2A2A8-704E-EF48-80AE-D3783EE37A42}" type="slidenum">
              <a:t>‹Nº›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65483540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E0717-7D74-B44F-9E66-235930CCAE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L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290095B-B62E-3C44-845A-8D31260A60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L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AA383A-A1BD-3449-AEF4-F5EB7E8FAA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2DE627-2BED-3549-9D80-6D0263AB6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621EB-52E9-864A-B0F6-E4DE6976EFAF}" type="datetimeFigureOut">
              <a:t>01-09-2026</a:t>
            </a:fld>
            <a:endParaRPr lang="en-L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475BC9-5EA8-9D48-A131-684734B30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7BAA5F-2F19-D749-8E4B-44ABBE824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2A2A8-704E-EF48-80AE-D3783EE37A42}" type="slidenum">
              <a:t>‹Nº›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253724108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1BE3B-CFC3-5A4C-B7F9-83501BEBB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L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6FE2E7-8408-F64E-AC06-6E9B1F7B6D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L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B17EA7-EDC0-674E-87AF-81F0CC4A4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621EB-52E9-864A-B0F6-E4DE6976EFAF}" type="datetimeFigureOut">
              <a:t>01-09-2026</a:t>
            </a:fld>
            <a:endParaRPr lang="en-L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A66A1F-640A-DD4A-8A62-FC15E9D3F5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ED5553-91F0-6547-ABB8-D9C439CB0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2A2A8-704E-EF48-80AE-D3783EE37A42}" type="slidenum">
              <a:t>‹Nº›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391408680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81D21FB-DAFB-DF4B-B7CA-DF378245F1B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L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C020F6-65AA-B149-8A98-D754BD2D85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L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9CA0BA-7E42-374F-BCF5-EDBE9B1CA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621EB-52E9-864A-B0F6-E4DE6976EFAF}" type="datetimeFigureOut">
              <a:t>01-09-2026</a:t>
            </a:fld>
            <a:endParaRPr lang="en-L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F8169A-AD4F-B54D-BD6E-4A85F6C023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67CF1D-B5A0-C945-8BEF-46A5BA840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2A2A8-704E-EF48-80AE-D3783EE37A42}" type="slidenum">
              <a:t>‹Nº›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20495347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AAB91E-8D3B-5049-91E0-681A6BD550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L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C0D1AD-7B0F-C243-8060-E31261F402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L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B009B1-730F-3948-AFDB-A7D2295142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1621EB-52E9-864A-B0F6-E4DE6976EFAF}" type="datetimeFigureOut">
              <a:t>01-09-2026</a:t>
            </a:fld>
            <a:endParaRPr lang="en-L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368CD1-C846-864B-8FF5-193D2956B8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L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75D875-456D-074B-9AD9-F14C62DF5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72A2A8-704E-EF48-80AE-D3783EE37A42}" type="slidenum">
              <a:t>‹Nº›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26700814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L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AAB91E-8D3B-5049-91E0-681A6BD550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L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C0D1AD-7B0F-C243-8060-E31261F402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L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B009B1-730F-3948-AFDB-A7D2295142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1621EB-52E9-864A-B0F6-E4DE6976EFAF}" type="datetimeFigureOut">
              <a:t>01-09-2026</a:t>
            </a:fld>
            <a:endParaRPr lang="en-L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368CD1-C846-864B-8FF5-193D2956B8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L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75D875-456D-074B-9AD9-F14C62DF5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72A2A8-704E-EF48-80AE-D3783EE37A42}" type="slidenum">
              <a:t>‹Nº›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1393275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L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8" Type="http://schemas.openxmlformats.org/officeDocument/2006/relationships/slide" Target="slide5.xml"/><Relationship Id="rId18" Type="http://schemas.openxmlformats.org/officeDocument/2006/relationships/slide" Target="slide2.xml"/><Relationship Id="rId3" Type="http://schemas.openxmlformats.org/officeDocument/2006/relationships/image" Target="../media/image1.jpeg"/><Relationship Id="rId1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10" Type="http://schemas.openxmlformats.org/officeDocument/2006/relationships/image" Target="../media/image3.png"/><Relationship Id="rId19" Type="http://schemas.openxmlformats.org/officeDocument/2006/relationships/image" Target="../media/image610.png"/><Relationship Id="rId4" Type="http://schemas.openxmlformats.org/officeDocument/2006/relationships/image" Target="../media/image2.png"/><Relationship Id="rId9" Type="http://schemas.openxmlformats.org/officeDocument/2006/relationships/image" Target="../media/image26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18.xml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4.xml.rels><?xml version='1.0' encoding='UTF-8' standalone='yes'?>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8" Type="http://schemas.openxmlformats.org/officeDocument/2006/relationships/slide" Target="slide9.xml"/><Relationship Id="rId7" Type="http://schemas.openxmlformats.org/officeDocument/2006/relationships/image" Target="../media/image13.png"/><Relationship Id="rId12" Type="http://schemas.openxmlformats.org/officeDocument/2006/relationships/image" Target="../media/image14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11" Type="http://schemas.openxmlformats.org/officeDocument/2006/relationships/slide" Target="slide12.xml"/><Relationship Id="rId10" Type="http://schemas.openxmlformats.org/officeDocument/2006/relationships/image" Target="../media/image14.png"/><Relationship Id="rId9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svg"/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Marcador" Type="http://schemas.openxmlformats.org/officeDocument/2006/relationships/image" Target="../media/marcador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Marcador" Type="http://schemas.openxmlformats.org/officeDocument/2006/relationships/image" Target="../media/marcador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svg"/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2" Type="http://schemas.microsoft.com/office/2007/relationships/hdphoto" Target="../media/hdphoto3.wdp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microsoft.com/office/2007/relationships/hdphoto" Target="../media/hdphoto1.wdp"/><Relationship Id="rId9" Type="http://schemas.microsoft.com/office/2007/relationships/hdphoto" Target="../media/hdphoto2.wdp"/><Relationship Id="rId14" Type="http://schemas.microsoft.com/office/2007/relationships/hdphoto" Target="../media/hdphoto4.wdp"/><Relationship Id="rIdMarcador" Type="http://schemas.openxmlformats.org/officeDocument/2006/relationships/image" Target="../media/marcador.png"/></Relationships>
</file>

<file path=ppt/slides/_rels/slide14.xml.rels><?xml version='1.0' encoding='UTF-8' standalone='yes'?>
<Relationships xmlns="http://schemas.openxmlformats.org/package/2006/relationships"><Relationship Id="rId13" Type="http://schemas.microsoft.com/office/2007/relationships/hdphoto" Target="../media/hdphoto7.wdp"/><Relationship Id="rId7" Type="http://schemas.microsoft.com/office/2007/relationships/hdphoto" Target="../media/hdphoto5.wdp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Relationship Id="rId9" Type="http://schemas.microsoft.com/office/2007/relationships/hdphoto" Target="../media/hdphoto6.wdp"/><Relationship Id="rIdMarcador" Type="http://schemas.openxmlformats.org/officeDocument/2006/relationships/image" Target="../media/marcador.png"/></Relationships>
</file>

<file path=ppt/slides/_rels/slide15.xml.rels><?xml version='1.0' encoding='UTF-8' standalone='yes'?>
<Relationships xmlns="http://schemas.openxmlformats.org/package/2006/relationships"><Relationship Id="rId13" Type="http://schemas.microsoft.com/office/2007/relationships/hdphoto" Target="../media/hdphoto10.wdp"/><Relationship Id="rId3" Type="http://schemas.openxmlformats.org/officeDocument/2006/relationships/image" Target="../media/image17.png"/><Relationship Id="rId7" Type="http://schemas.microsoft.com/office/2007/relationships/hdphoto" Target="../media/hdphoto9.wdp"/><Relationship Id="rId17" Type="http://schemas.microsoft.com/office/2007/relationships/hdphoto" Target="../media/hdphoto12.wdp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microsoft.com/office/2007/relationships/hdphoto" Target="../media/hdphoto8.wdp"/><Relationship Id="rId15" Type="http://schemas.microsoft.com/office/2007/relationships/hdphoto" Target="../media/hdphoto11.wdp"/><Relationship Id="rIdMarcador" Type="http://schemas.openxmlformats.org/officeDocument/2006/relationships/image" Target="../media/marcador.png"/></Relationships>
</file>

<file path=ppt/slides/_rels/slide16.xml.rels><?xml version='1.0' encoding='UTF-8' standalone='yes'?>
<Relationships xmlns="http://schemas.openxmlformats.org/package/2006/relationships"><Relationship Id="rId8" Type="http://schemas.microsoft.com/office/2007/relationships/hdphoto" Target="../media/hdphoto14.wdp"/><Relationship Id="rId17" Type="http://schemas.microsoft.com/office/2007/relationships/hdphoto" Target="../media/hdphoto16.wdp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microsoft.com/office/2007/relationships/hdphoto" Target="../media/hdphoto13.wdp"/><Relationship Id="rId15" Type="http://schemas.microsoft.com/office/2007/relationships/hdphoto" Target="../media/hdphoto15.wdp"/><Relationship Id="rIdMarcador" Type="http://schemas.openxmlformats.org/officeDocument/2006/relationships/image" Target="../media/marcador.png"/></Relationships>
</file>

<file path=ppt/slides/_rels/slide17.xml.rels><?xml version='1.0' encoding='UTF-8' standalone='yes'?>
<Relationships xmlns="http://schemas.openxmlformats.org/package/2006/relationships"><Relationship Id="rId8" Type="http://schemas.microsoft.com/office/2007/relationships/hdphoto" Target="../media/hdphoto18.wdp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10" Type="http://schemas.microsoft.com/office/2007/relationships/hdphoto" Target="../media/hdphoto19.wdp"/><Relationship Id="rId4" Type="http://schemas.microsoft.com/office/2007/relationships/hdphoto" Target="../media/hdphoto17.wdp"/><Relationship Id="rIdMarcador" Type="http://schemas.openxmlformats.org/officeDocument/2006/relationships/image" Target="../media/marcador.png"/></Relationships>
</file>

<file path=ppt/slides/_rels/slide18.xml.rels><?xml version='1.0' encoding='UTF-8' standalone='yes'?>
<Relationships xmlns="http://schemas.openxmlformats.org/package/2006/relationships"><Relationship Id="rId7" Type="http://schemas.microsoft.com/office/2007/relationships/hdphoto" Target="../media/hdphoto21.wdp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10" Type="http://schemas.microsoft.com/office/2007/relationships/hdphoto" Target="../media/hdphoto22.wdp"/><Relationship Id="rId4" Type="http://schemas.microsoft.com/office/2007/relationships/hdphoto" Target="../media/hdphoto20.wdp"/><Relationship Id="rIdMarcador" Type="http://schemas.openxmlformats.org/officeDocument/2006/relationships/image" Target="../media/marcador.png"/></Relationships>
</file>

<file path=ppt/slides/_rels/slide19.xml.rels><?xml version='1.0' encoding='UTF-8' standalone='yes'?>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Marcador" Type="http://schemas.openxmlformats.org/officeDocument/2006/relationships/image" Target="../media/marcador.png"/></Relationships>
</file>

<file path=ppt/slides/_rels/slide31.xml.rels><?xml version='1.0' encoding='UTF-8' standalone='yes'?>
<Relationships xmlns="http://schemas.openxmlformats.org/package/2006/relationships"><Relationship Id="rId3" Type="http://schemas.openxmlformats.org/officeDocument/2006/relationships/image" Target="../media/image95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F17727F2-87E1-463E-39C5-FA3186ACB2C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-1" y="232"/>
            <a:ext cx="12191999" cy="6857535"/>
          </a:xfrm>
          <a:prstGeom prst="rect">
            <a:avLst/>
          </a:prstGeom>
        </p:spPr>
      </p:pic>
      <mc:AlternateContent xmlns:mc="http://schemas.openxmlformats.org/markup-compatibility/2006" xmlns:psez="http://schemas.microsoft.com/office/powerpoint/2016/sectionzoom">
        <mc:Choice Requires="psez">
          <p:graphicFrame>
            <p:nvGraphicFramePr>
              <p:cNvPr id="4" name="Section Zoom 3">
                <a:extLst>
                  <a:ext uri="{FF2B5EF4-FFF2-40B4-BE49-F238E27FC236}">
                    <a16:creationId xmlns:a16="http://schemas.microsoft.com/office/drawing/2014/main" id="{B2D661A4-8895-1E43-9238-4B6D30F2FF2A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850247898"/>
                  </p:ext>
                </p:extLst>
              </p:nvPr>
            </p:nvGraphicFramePr>
            <p:xfrm>
              <a:off x="1930378" y="1918766"/>
              <a:ext cx="3048000" cy="1714500"/>
            </p:xfrm>
            <a:graphic>
              <a:graphicData uri="http://schemas.microsoft.com/office/powerpoint/2016/sectionzoom">
                <psez:sectionZm>
                  <psez:sectionZmObj sectionId="{DBB0F080-D76F-2449-A8A8-97428CE5CDE4}">
                    <psez:zmPr id="{E31B0801-3E89-AF44-A1B1-5F4CCB54772F}" transitionDur="1000" showBg="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3048000" cy="1714500"/>
                        </a:xfrm>
                        <a:prstGeom prst="rect">
                          <a:avLst/>
                        </a:prstGeom>
                      </p166:spPr>
                    </psez:zmPr>
                  </psez:sectionZmObj>
                </psez:sectionZm>
              </a:graphicData>
            </a:graphic>
          </p:graphicFrame>
        </mc:Choice>
        <mc:Fallback xmlns="">
          <p:pic>
            <p:nvPicPr>
              <p:cNvPr id="4" name="Section Zoom 3">
                <a:hlinkClick r:id="rId8" action="ppaction://hlinksldjump"/>
                <a:extLst>
                  <a:ext uri="{FF2B5EF4-FFF2-40B4-BE49-F238E27FC236}">
                    <a16:creationId xmlns:a16="http://schemas.microsoft.com/office/drawing/2014/main" id="{B2D661A4-8895-1E43-9238-4B6D30F2FF2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930378" y="1918766"/>
                <a:ext cx="3048000" cy="1714500"/>
              </a:xfrm>
              <a:prstGeom prst="rect">
                <a:avLst/>
              </a:prstGeom>
            </p:spPr>
          </p:pic>
        </mc:Fallback>
      </mc:AlternateContent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9D3EC1FB-71E1-4861-1FA8-7F3FBC323C37}"/>
              </a:ext>
            </a:extLst>
          </p:cNvPr>
          <p:cNvSpPr/>
          <p:nvPr/>
        </p:nvSpPr>
        <p:spPr>
          <a:xfrm>
            <a:off x="5857974" y="74278"/>
            <a:ext cx="6044874" cy="1426896"/>
          </a:xfrm>
          <a:prstGeom prst="roundRect">
            <a:avLst/>
          </a:prstGeom>
          <a:solidFill>
            <a:schemeClr val="accent1">
              <a:alpha val="17000"/>
            </a:schemeClr>
          </a:solidFill>
          <a:ln w="444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dirty="0"/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9640197C-0DB2-9CBA-9C26-FD6218005379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9764" y="81162"/>
            <a:ext cx="4174302" cy="1654152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7D1D4DDA-3BA2-7F47-974A-FC6F909C89E4}"/>
              </a:ext>
            </a:extLst>
          </p:cNvPr>
          <p:cNvSpPr/>
          <p:nvPr/>
        </p:nvSpPr>
        <p:spPr>
          <a:xfrm>
            <a:off x="6007574" y="433783"/>
            <a:ext cx="5745675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CL" sz="2000" b="1" spc="-10" dirty="0">
                <a:solidFill>
                  <a:srgbClr val="FFFFFF"/>
                </a:solidFill>
                <a:latin typeface="Trebuchet MS" charset="0"/>
                <a:ea typeface="Trebuchet MS" charset="0"/>
                <a:cs typeface="Trebuchet MS" charset="0"/>
              </a:rPr>
              <a:t>REPORTE DE ACTIVIDADES TURNO A DÍA/NOCHE</a:t>
            </a:r>
          </a:p>
          <a:p>
            <a:r>
              <a:rPr lang="es-CL" sz="2000" b="1" spc="-10" dirty="0">
                <a:solidFill>
                  <a:srgbClr val="FFFFFF"/>
                </a:solidFill>
                <a:latin typeface="Trebuchet MS" charset="0"/>
                <a:ea typeface="Trebuchet MS" charset="0"/>
                <a:cs typeface="Trebuchet MS" charset="0"/>
              </a:rPr>
              <a:t>26/08/2026 – 01/09/2026</a:t>
            </a:r>
            <a:endParaRPr lang="es-ES_tradnl" sz="900" b="1" spc="-10" dirty="0">
              <a:solidFill>
                <a:srgbClr val="FFFFFF"/>
              </a:solidFill>
              <a:latin typeface="Trebuchet MS" charset="0"/>
              <a:ea typeface="Trebuchet MS" charset="0"/>
              <a:cs typeface="Trebuchet MS" charset="0"/>
            </a:endParaRPr>
          </a:p>
        </p:txBody>
      </p:sp>
      <p:cxnSp>
        <p:nvCxnSpPr>
          <p:cNvPr id="14" name="Straight Connector 27">
            <a:extLst>
              <a:ext uri="{FF2B5EF4-FFF2-40B4-BE49-F238E27FC236}">
                <a16:creationId xmlns:a16="http://schemas.microsoft.com/office/drawing/2014/main" id="{F005C244-9B4E-F30F-B2F7-2678FAE73430}"/>
              </a:ext>
            </a:extLst>
          </p:cNvPr>
          <p:cNvCxnSpPr>
            <a:cxnSpLocks/>
          </p:cNvCxnSpPr>
          <p:nvPr/>
        </p:nvCxnSpPr>
        <p:spPr>
          <a:xfrm flipV="1">
            <a:off x="2047758" y="3402209"/>
            <a:ext cx="863705" cy="777261"/>
          </a:xfrm>
          <a:prstGeom prst="line">
            <a:avLst/>
          </a:prstGeom>
          <a:solidFill>
            <a:srgbClr val="12231D">
              <a:alpha val="40000"/>
            </a:srgbClr>
          </a:solidFill>
          <a:ln w="63500" cap="rnd">
            <a:solidFill>
              <a:schemeClr val="bg1"/>
            </a:solidFill>
            <a:prstDash val="sysDot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 xmlns:psez="http://schemas.microsoft.com/office/powerpoint/2016/sectionzoom">
        <mc:Choice Requires="psez">
          <p:graphicFrame>
            <p:nvGraphicFramePr>
              <p:cNvPr id="6" name="Vista general de sección 5">
                <a:extLst>
                  <a:ext uri="{FF2B5EF4-FFF2-40B4-BE49-F238E27FC236}">
                    <a16:creationId xmlns:a16="http://schemas.microsoft.com/office/drawing/2014/main" id="{98CFF69B-087C-6C8E-9365-40FBA962E111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85121412"/>
                  </p:ext>
                </p:extLst>
              </p:nvPr>
            </p:nvGraphicFramePr>
            <p:xfrm>
              <a:off x="-8402" y="4004476"/>
              <a:ext cx="3048000" cy="1714500"/>
            </p:xfrm>
            <a:graphic>
              <a:graphicData uri="http://schemas.microsoft.com/office/powerpoint/2016/sectionzoom">
                <psez:sectionZm>
                  <psez:sectionZmObj sectionId="{2FE6B519-480C-434A-96D0-B06036B49864}">
                    <psez:zmPr id="{59A0AF0F-2654-44CC-8802-E4CFED1CB76B}" transitionDur="1000" showBg="0">
                      <p166:blipFill xmlns:p166="http://schemas.microsoft.com/office/powerpoint/2016/6/main">
                        <a:blip r:embed="rId17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3048000" cy="1714500"/>
                        </a:xfrm>
                        <a:prstGeom prst="rect">
                          <a:avLst/>
                        </a:prstGeom>
                      </p166:spPr>
                    </psez:zmPr>
                  </psez:sectionZmObj>
                </psez:sectionZm>
              </a:graphicData>
            </a:graphic>
          </p:graphicFrame>
        </mc:Choice>
        <mc:Fallback xmlns="">
          <p:pic>
            <p:nvPicPr>
              <p:cNvPr id="6" name="Vista general de sección 5">
                <a:hlinkClick r:id="rId18" action="ppaction://hlinksldjump"/>
                <a:extLst>
                  <a:ext uri="{FF2B5EF4-FFF2-40B4-BE49-F238E27FC236}">
                    <a16:creationId xmlns:a16="http://schemas.microsoft.com/office/drawing/2014/main" id="{98CFF69B-087C-6C8E-9365-40FBA962E11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-8402" y="4004476"/>
                <a:ext cx="3048000" cy="17145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85354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repeatCount="indefinite" accel="50000" decel="50000" autoRev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4000" fill="hold"/>
                                        <p:tgtEl>
                                          <p:spTgt spid="10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B8A42B65-566C-0A41-B8C2-5032B07BD196}"/>
              </a:ext>
            </a:extLst>
          </p:cNvPr>
          <p:cNvSpPr/>
          <p:nvPr/>
        </p:nvSpPr>
        <p:spPr>
          <a:xfrm>
            <a:off x="2869581" y="202582"/>
            <a:ext cx="6452840" cy="6452838"/>
          </a:xfrm>
          <a:prstGeom prst="ellipse">
            <a:avLst/>
          </a:prstGeom>
          <a:solidFill>
            <a:srgbClr val="12231D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LT" sz="8000" b="1" i="0" u="none" strike="noStrike" kern="1200" cap="none" spc="-15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aleway" panose="020B0503030101060003" pitchFamily="34" charset="77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674933B-DF67-D14D-ACC6-194EA400210B}"/>
              </a:ext>
            </a:extLst>
          </p:cNvPr>
          <p:cNvSpPr/>
          <p:nvPr/>
        </p:nvSpPr>
        <p:spPr>
          <a:xfrm>
            <a:off x="4056019" y="3532924"/>
            <a:ext cx="4079963" cy="10926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6500" b="1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uLnTx/>
                <a:uFillTx/>
                <a:latin typeface="Raleway Black" panose="020B0503030101060003" pitchFamily="34" charset="77"/>
                <a:ea typeface="+mn-ea"/>
                <a:cs typeface="+mn-cs"/>
              </a:rPr>
              <a:t>RESUMEN</a:t>
            </a:r>
            <a:endParaRPr kumimoji="0" lang="en-LT" sz="6500" b="1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blurRad="419100" sx="102000" sy="102000" algn="ctr" rotWithShape="0">
                  <a:prstClr val="black">
                    <a:alpha val="29000"/>
                  </a:prstClr>
                </a:outerShdw>
              </a:effectLst>
              <a:uLnTx/>
              <a:uFillTx/>
              <a:latin typeface="Raleway Black" panose="020B0503030101060003" pitchFamily="34" charset="77"/>
              <a:ea typeface="+mn-ea"/>
              <a:cs typeface="+mn-cs"/>
            </a:endParaRPr>
          </a:p>
        </p:txBody>
      </p:sp>
      <p:pic>
        <p:nvPicPr>
          <p:cNvPr id="7" name="Graphic 6" descr="Lights On with solid fill">
            <a:extLst>
              <a:ext uri="{FF2B5EF4-FFF2-40B4-BE49-F238E27FC236}">
                <a16:creationId xmlns:a16="http://schemas.microsoft.com/office/drawing/2014/main" id="{3169A18E-29C1-B14B-9DAC-9A1603958F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20683" y="782444"/>
            <a:ext cx="2750634" cy="2750634"/>
          </a:xfrm>
          <a:prstGeom prst="rect">
            <a:avLst/>
          </a:prstGeom>
          <a:effectLst>
            <a:outerShdw blurRad="177800" sx="102000" sy="102000" algn="c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97523264"/>
      </p:ext>
    </p:extLst>
  </p:cSld>
  <p:clrMapOvr>
    <a:masterClrMapping/>
  </p:clrMapOvr>
  <p:transition spd="slow" advTm="0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4D3380-FF7B-02D3-653E-04521A3BE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50A2D1AD-58B2-33E8-8979-7366BD19CE9D}"/>
              </a:ext>
            </a:extLst>
          </p:cNvPr>
          <p:cNvSpPr/>
          <p:nvPr/>
        </p:nvSpPr>
        <p:spPr>
          <a:xfrm>
            <a:off x="2869581" y="202582"/>
            <a:ext cx="6452840" cy="6452838"/>
          </a:xfrm>
          <a:prstGeom prst="ellipse">
            <a:avLst/>
          </a:prstGeom>
          <a:solidFill>
            <a:srgbClr val="12231D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LT" sz="8000" b="1" i="0" u="none" strike="noStrike" kern="1200" cap="none" spc="-15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aleway" panose="020B0503030101060003" pitchFamily="34" charset="77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A41D5E-E47B-47F4-CCDE-9BBA01198DAD}"/>
              </a:ext>
            </a:extLst>
          </p:cNvPr>
          <p:cNvSpPr/>
          <p:nvPr/>
        </p:nvSpPr>
        <p:spPr>
          <a:xfrm>
            <a:off x="4631963" y="799186"/>
            <a:ext cx="296709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4000" b="1" i="0" u="none" strike="noStrike" kern="1200" cap="none" spc="-15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uLnTx/>
                <a:uFillTx/>
                <a:latin typeface="Raleway Black" panose="020B0503030101060003" pitchFamily="34" charset="77"/>
                <a:ea typeface="+mn-ea"/>
                <a:cs typeface="+mn-cs"/>
              </a:rPr>
              <a:t>TURNO DIA</a:t>
            </a:r>
            <a:endParaRPr kumimoji="0" lang="en-LT" sz="4000" b="1" i="0" u="none" strike="noStrike" kern="1200" cap="none" spc="-150" normalizeH="0" baseline="0" noProof="0" dirty="0">
              <a:ln>
                <a:noFill/>
              </a:ln>
              <a:solidFill>
                <a:srgbClr val="FFFFFF"/>
              </a:solidFill>
              <a:effectLst>
                <a:outerShdw blurRad="419100" sx="102000" sy="102000" algn="ctr" rotWithShape="0">
                  <a:prstClr val="black">
                    <a:alpha val="29000"/>
                  </a:prstClr>
                </a:outerShdw>
              </a:effectLst>
              <a:uLnTx/>
              <a:uFillTx/>
              <a:latin typeface="Raleway Black" panose="020B0503030101060003" pitchFamily="34" charset="77"/>
              <a:ea typeface="+mn-ea"/>
              <a:cs typeface="+mn-cs"/>
            </a:endParaRPr>
          </a:p>
        </p:txBody>
      </p:sp>
      <p:grpSp>
        <p:nvGrpSpPr>
          <p:cNvPr id="60" name="Grupo 59">
            <a:extLst>
              <a:ext uri="{FF2B5EF4-FFF2-40B4-BE49-F238E27FC236}">
                <a16:creationId xmlns:a16="http://schemas.microsoft.com/office/drawing/2014/main" id="{C94C3E6F-EE8F-EAAF-39D6-818AF4878D20}"/>
              </a:ext>
            </a:extLst>
          </p:cNvPr>
          <p:cNvGrpSpPr/>
          <p:nvPr/>
        </p:nvGrpSpPr>
        <p:grpSpPr>
          <a:xfrm>
            <a:off x="575229" y="358096"/>
            <a:ext cx="3817489" cy="2035373"/>
            <a:chOff x="575229" y="358096"/>
            <a:chExt cx="3817489" cy="2035373"/>
          </a:xfrm>
        </p:grpSpPr>
        <p:grpSp>
          <p:nvGrpSpPr>
            <p:cNvPr id="56" name="Grupo 55">
              <a:extLst>
                <a:ext uri="{FF2B5EF4-FFF2-40B4-BE49-F238E27FC236}">
                  <a16:creationId xmlns:a16="http://schemas.microsoft.com/office/drawing/2014/main" id="{AB4473B0-4FE6-1174-1A8A-48421800E9FF}"/>
                </a:ext>
              </a:extLst>
            </p:cNvPr>
            <p:cNvGrpSpPr/>
            <p:nvPr/>
          </p:nvGrpSpPr>
          <p:grpSpPr>
            <a:xfrm>
              <a:off x="575229" y="767025"/>
              <a:ext cx="3817489" cy="1626444"/>
              <a:chOff x="575229" y="767025"/>
              <a:chExt cx="3817489" cy="1626444"/>
            </a:xfrm>
          </p:grpSpPr>
          <p:sp>
            <p:nvSpPr>
              <p:cNvPr id="8" name="Rectángulo: esquinas redondeadas 7">
                <a:extLst>
                  <a:ext uri="{FF2B5EF4-FFF2-40B4-BE49-F238E27FC236}">
                    <a16:creationId xmlns:a16="http://schemas.microsoft.com/office/drawing/2014/main" id="{0B12D7FD-C726-361F-8BD9-205D73B8AC2A}"/>
                  </a:ext>
                </a:extLst>
              </p:cNvPr>
              <p:cNvSpPr/>
              <p:nvPr/>
            </p:nvSpPr>
            <p:spPr>
              <a:xfrm>
                <a:off x="575229" y="767025"/>
                <a:ext cx="3758183" cy="1498548"/>
              </a:xfrm>
              <a:prstGeom prst="roundRect">
                <a:avLst/>
              </a:prstGeom>
              <a:solidFill>
                <a:srgbClr val="002060"/>
              </a:solidFill>
              <a:ln w="762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CL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1CF41DC3-893C-B8DF-CF81-C08184E3FE4F}"/>
                  </a:ext>
                </a:extLst>
              </p:cNvPr>
              <p:cNvSpPr txBox="1"/>
              <p:nvPr/>
            </p:nvSpPr>
            <p:spPr>
              <a:xfrm>
                <a:off x="634535" y="799186"/>
                <a:ext cx="3758183" cy="159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indent="-171450">
                  <a:lnSpc>
                    <a:spcPct val="120000"/>
                  </a:lnSpc>
                  <a:buFont typeface="Arial" panose="020B0604020202020204" pitchFamily="34" charset="0"/>
                  <a:buChar char="•"/>
                  <a:defRPr/>
                </a:pPr>
                <a:r>
                  <a:rPr lang="es-ES" sz="800" dirty="0">
                    <a:solidFill>
                      <a:srgbClr val="FFFFFF"/>
                    </a:solidFill>
                  </a:rPr>
                  <a:t>CHARLA INICIO DE TURNO.</a:t>
                </a:r>
              </a:p>
              <a:p>
                <a:pPr indent="-171450">
                  <a:buFont typeface="Arial" panose="020B0604020202020204" pitchFamily="34" charset="0"/>
                  <a:buChar char="•"/>
                </a:pPr>
                <a:r>
                  <a:rPr lang="es-ES" sz="800" dirty="0">
                    <a:solidFill>
                      <a:srgbClr val="FFFFFF"/>
                    </a:solidFill>
                  </a:rPr>
                  <a:t>CONTROLES SSO DIARIOS.</a:t>
                </a:r>
              </a:p>
              <a:p>
                <a:pPr indent="-171450">
                  <a:buFont typeface="Arial" panose="020B0604020202020204" pitchFamily="34" charset="0"/>
                  <a:buChar char="•"/>
                </a:pPr>
                <a:r>
                  <a:rPr lang="es-ES" sz="800" dirty="0">
                    <a:solidFill>
                      <a:srgbClr val="FFFFFF"/>
                    </a:solidFill>
                  </a:rPr>
                  <a:t>DIFUSIÓN POR STREAMING FLORA Y FAUNA EL SALVADOR CHILE.</a:t>
                </a:r>
              </a:p>
              <a:p>
                <a:pPr indent="-171450">
                  <a:buFont typeface="Arial" panose="020B0604020202020204" pitchFamily="34" charset="0"/>
                  <a:buChar char="•"/>
                </a:pPr>
                <a:r>
                  <a:rPr lang="es-ES" sz="800" dirty="0">
                    <a:solidFill>
                      <a:srgbClr val="FFFFFF"/>
                    </a:solidFill>
                  </a:rPr>
                  <a:t>REUNIÓN CON SSO/ADC SOBRE RF1.</a:t>
                </a:r>
              </a:p>
              <a:p>
                <a:pPr indent="-171450">
                  <a:buFont typeface="Arial" panose="020B0604020202020204" pitchFamily="34" charset="0"/>
                  <a:buChar char="•"/>
                </a:pPr>
                <a:r>
                  <a:rPr lang="es-ES" sz="800" dirty="0">
                    <a:solidFill>
                      <a:srgbClr val="FFFFFF"/>
                    </a:solidFill>
                  </a:rPr>
                  <a:t>MANTENIMIENTO GENERADOR CARRO LTE_CMM_07.</a:t>
                </a:r>
              </a:p>
              <a:p>
                <a:pPr indent="-171450">
                  <a:buFont typeface="Arial" panose="020B0604020202020204" pitchFamily="34" charset="0"/>
                  <a:buChar char="•"/>
                </a:pPr>
                <a:r>
                  <a:rPr lang="es-ES" sz="800" dirty="0">
                    <a:solidFill>
                      <a:srgbClr val="FFFFFF"/>
                    </a:solidFill>
                  </a:rPr>
                  <a:t>GESTIÓN PARA LA RECARGA DE COMBUSTIBLE CARRO LTE_CMM_07 – OPERATIVO.</a:t>
                </a:r>
              </a:p>
              <a:p>
                <a:pPr indent="-171450">
                  <a:buFont typeface="Arial" panose="020B0604020202020204" pitchFamily="34" charset="0"/>
                  <a:buChar char="•"/>
                </a:pPr>
                <a:r>
                  <a:rPr lang="es-ES" sz="800" dirty="0">
                    <a:solidFill>
                      <a:srgbClr val="FFFFFF"/>
                    </a:solidFill>
                  </a:rPr>
                  <a:t>REUNIÓN MENSUAL DE SSO.</a:t>
                </a:r>
              </a:p>
              <a:p>
                <a:pPr indent="-171450">
                  <a:buFont typeface="Arial" panose="020B0604020202020204" pitchFamily="34" charset="0"/>
                  <a:buChar char="•"/>
                </a:pPr>
                <a:r>
                  <a:rPr lang="es-ES" sz="800" dirty="0">
                    <a:solidFill>
                      <a:srgbClr val="FFFFFF"/>
                    </a:solidFill>
                  </a:rPr>
                  <a:t>CAMBIO DE BATERÍA EN GENERADOR LTE_MMOO_01 POR FALLA DE VIDA ÚTIL.</a:t>
                </a:r>
              </a:p>
              <a:p>
                <a:pPr indent="-171450">
                  <a:buFont typeface="Arial" panose="020B0604020202020204" pitchFamily="34" charset="0"/>
                  <a:buChar char="•"/>
                </a:pPr>
                <a:r>
                  <a:rPr lang="es-ES" sz="800" dirty="0">
                    <a:solidFill>
                      <a:srgbClr val="FFFFFF"/>
                    </a:solidFill>
                  </a:rPr>
                  <a:t>CAMBIO DE CORREA Y REPARACIÓN DE MANGUERA DE COMBUSTIBLE EN CARRO LTE_CMM_07.</a:t>
                </a:r>
              </a:p>
              <a:p>
                <a:pPr indent="-171450">
                  <a:buFont typeface="Arial" panose="020B0604020202020204" pitchFamily="34" charset="0"/>
                  <a:buChar char="•"/>
                </a:pPr>
                <a:endParaRPr lang="es-ES" sz="800" dirty="0">
                  <a:solidFill>
                    <a:srgbClr val="FFFFFF"/>
                  </a:solidFill>
                </a:endParaRPr>
              </a:p>
            </p:txBody>
          </p:sp>
        </p:grpSp>
        <p:sp>
          <p:nvSpPr>
            <p:cNvPr id="33" name="CuadroTexto 32">
              <a:extLst>
                <a:ext uri="{FF2B5EF4-FFF2-40B4-BE49-F238E27FC236}">
                  <a16:creationId xmlns:a16="http://schemas.microsoft.com/office/drawing/2014/main" id="{5A5F2736-BC76-E4EB-E5DC-3B0DF914D62F}"/>
                </a:ext>
              </a:extLst>
            </p:cNvPr>
            <p:cNvSpPr txBox="1"/>
            <p:nvPr/>
          </p:nvSpPr>
          <p:spPr>
            <a:xfrm>
              <a:off x="2030484" y="358096"/>
              <a:ext cx="1678193" cy="4025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MX" b="1" dirty="0">
                  <a:solidFill>
                    <a:prstClr val="white"/>
                  </a:solidFill>
                  <a:latin typeface="Calibri" panose="020F0502020204030204"/>
                </a:rPr>
                <a:t>26/08</a:t>
              </a: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/2026</a:t>
              </a:r>
            </a:p>
          </p:txBody>
        </p:sp>
      </p:grpSp>
      <p:grpSp>
        <p:nvGrpSpPr>
          <p:cNvPr id="59" name="Grupo 58">
            <a:extLst>
              <a:ext uri="{FF2B5EF4-FFF2-40B4-BE49-F238E27FC236}">
                <a16:creationId xmlns:a16="http://schemas.microsoft.com/office/drawing/2014/main" id="{0A6C17BC-5E2C-1F34-C014-544520C19598}"/>
              </a:ext>
            </a:extLst>
          </p:cNvPr>
          <p:cNvGrpSpPr/>
          <p:nvPr/>
        </p:nvGrpSpPr>
        <p:grpSpPr>
          <a:xfrm>
            <a:off x="149637" y="2263828"/>
            <a:ext cx="3758183" cy="1903149"/>
            <a:chOff x="149637" y="2263828"/>
            <a:chExt cx="3758183" cy="1903149"/>
          </a:xfrm>
        </p:grpSpPr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DCB18678-A472-59D8-69AD-FD26D6A2C7E5}"/>
                </a:ext>
              </a:extLst>
            </p:cNvPr>
            <p:cNvSpPr txBox="1"/>
            <p:nvPr/>
          </p:nvSpPr>
          <p:spPr>
            <a:xfrm>
              <a:off x="1362318" y="2263828"/>
              <a:ext cx="1678193" cy="4025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lnSpc>
                  <a:spcPct val="120000"/>
                </a:lnSpc>
                <a:defRPr/>
              </a:pPr>
              <a:r>
                <a:rPr lang="es-MX" b="1" dirty="0">
                  <a:solidFill>
                    <a:prstClr val="white"/>
                  </a:solidFill>
                </a:rPr>
                <a:t>27/08/2026</a:t>
              </a:r>
            </a:p>
          </p:txBody>
        </p:sp>
        <p:grpSp>
          <p:nvGrpSpPr>
            <p:cNvPr id="57" name="Grupo 56">
              <a:extLst>
                <a:ext uri="{FF2B5EF4-FFF2-40B4-BE49-F238E27FC236}">
                  <a16:creationId xmlns:a16="http://schemas.microsoft.com/office/drawing/2014/main" id="{E517E959-D2D6-ABF3-2BAC-5B4098B9C274}"/>
                </a:ext>
              </a:extLst>
            </p:cNvPr>
            <p:cNvGrpSpPr/>
            <p:nvPr/>
          </p:nvGrpSpPr>
          <p:grpSpPr>
            <a:xfrm>
              <a:off x="149637" y="2649485"/>
              <a:ext cx="3758183" cy="1517492"/>
              <a:chOff x="149637" y="2649485"/>
              <a:chExt cx="3758183" cy="1517492"/>
            </a:xfrm>
          </p:grpSpPr>
          <p:sp>
            <p:nvSpPr>
              <p:cNvPr id="46" name="Rectángulo: esquinas redondeadas 45">
                <a:extLst>
                  <a:ext uri="{FF2B5EF4-FFF2-40B4-BE49-F238E27FC236}">
                    <a16:creationId xmlns:a16="http://schemas.microsoft.com/office/drawing/2014/main" id="{279B65F7-35E1-1A2B-E175-F68A1EBA7537}"/>
                  </a:ext>
                </a:extLst>
              </p:cNvPr>
              <p:cNvSpPr/>
              <p:nvPr/>
            </p:nvSpPr>
            <p:spPr>
              <a:xfrm>
                <a:off x="149637" y="2649485"/>
                <a:ext cx="3758183" cy="1498548"/>
              </a:xfrm>
              <a:prstGeom prst="roundRect">
                <a:avLst/>
              </a:prstGeom>
              <a:solidFill>
                <a:srgbClr val="002060"/>
              </a:solidFill>
              <a:ln w="762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CL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3" name="CuadroTexto 42">
                <a:extLst>
                  <a:ext uri="{FF2B5EF4-FFF2-40B4-BE49-F238E27FC236}">
                    <a16:creationId xmlns:a16="http://schemas.microsoft.com/office/drawing/2014/main" id="{08EC6C67-4261-0303-2D62-A8A8177E952F}"/>
                  </a:ext>
                </a:extLst>
              </p:cNvPr>
              <p:cNvSpPr txBox="1"/>
              <p:nvPr/>
            </p:nvSpPr>
            <p:spPr>
              <a:xfrm>
                <a:off x="244152" y="2858927"/>
                <a:ext cx="3613751" cy="13080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  <a:defRPr/>
                </a:pPr>
                <a:r>
                  <a:rPr lang="es-MX" sz="1000" dirty="0">
                    <a:solidFill>
                      <a:prstClr val="white"/>
                    </a:solidFill>
                    <a:latin typeface="Aptos" panose="02110004020202020204"/>
                  </a:rPr>
                  <a:t>CHARLA DE INICIO DE JORNADA.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  <a:defRPr/>
                </a:pPr>
                <a:r>
                  <a:rPr lang="es-ES" sz="1000" dirty="0">
                    <a:solidFill>
                      <a:srgbClr val="FFFFFF"/>
                    </a:solidFill>
                  </a:rPr>
                  <a:t>CONTROLES SSO DIARIOS</a:t>
                </a:r>
                <a:endParaRPr lang="es-MX" sz="1000" dirty="0">
                  <a:solidFill>
                    <a:prstClr val="white"/>
                  </a:solidFill>
                  <a:latin typeface="Aptos" panose="02110004020202020204"/>
                </a:endParaRPr>
              </a:p>
              <a:p>
                <a:pPr marL="171450" indent="-171450">
                  <a:buFont typeface="Arial" panose="020B0604020202020204" pitchFamily="34" charset="0"/>
                  <a:buChar char="•"/>
                  <a:defRPr/>
                </a:pPr>
                <a:r>
                  <a:rPr lang="es-ES" sz="1000" dirty="0">
                    <a:solidFill>
                      <a:prstClr val="white"/>
                    </a:solidFill>
                    <a:latin typeface="Aptos" panose="02110004020202020204"/>
                  </a:rPr>
                  <a:t>DIFUSIÓN POR STREAMING EFICIENCIA ENERGÉTICA.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  <a:defRPr/>
                </a:pPr>
                <a:r>
                  <a:rPr lang="es-ES" sz="1000" dirty="0">
                    <a:solidFill>
                      <a:prstClr val="white"/>
                    </a:solidFill>
                    <a:latin typeface="Aptos" panose="02110004020202020204"/>
                  </a:rPr>
                  <a:t>MANTENIMIENTO DE GENERADOR LTE_CMF_04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  <a:defRPr/>
                </a:pPr>
                <a:r>
                  <a:rPr lang="es-ES" sz="1000" dirty="0">
                    <a:solidFill>
                      <a:prstClr val="white"/>
                    </a:solidFill>
                    <a:latin typeface="Aptos" panose="02110004020202020204"/>
                  </a:rPr>
                  <a:t>REUNIÓN ONLINE DE INICIO DE TFDS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  <a:defRPr/>
                </a:pPr>
                <a:r>
                  <a:rPr lang="es-ES" sz="1000" dirty="0">
                    <a:solidFill>
                      <a:prstClr val="white"/>
                    </a:solidFill>
                    <a:latin typeface="Aptos" panose="02110004020202020204"/>
                  </a:rPr>
                  <a:t>REUNIÓN DE TRONADURA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  <a:defRPr/>
                </a:pPr>
                <a:r>
                  <a:rPr lang="es-ES" sz="1000" dirty="0">
                    <a:solidFill>
                      <a:prstClr val="white"/>
                    </a:solidFill>
                    <a:latin typeface="Aptos" panose="02110004020202020204"/>
                  </a:rPr>
                  <a:t>ATENCIÓN FALLA CARRO LIGHT LTE_12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  <a:defRPr/>
                </a:pPr>
                <a:endParaRPr lang="es-ES" sz="900" dirty="0">
                  <a:solidFill>
                    <a:prstClr val="white"/>
                  </a:solidFill>
                  <a:latin typeface="Aptos" panose="02110004020202020204"/>
                </a:endParaRPr>
              </a:p>
            </p:txBody>
          </p:sp>
        </p:grpSp>
      </p:grpSp>
      <p:grpSp>
        <p:nvGrpSpPr>
          <p:cNvPr id="58" name="Grupo 57">
            <a:extLst>
              <a:ext uri="{FF2B5EF4-FFF2-40B4-BE49-F238E27FC236}">
                <a16:creationId xmlns:a16="http://schemas.microsoft.com/office/drawing/2014/main" id="{91854512-4DE5-F91F-0BAD-56346608B81A}"/>
              </a:ext>
            </a:extLst>
          </p:cNvPr>
          <p:cNvGrpSpPr/>
          <p:nvPr/>
        </p:nvGrpSpPr>
        <p:grpSpPr>
          <a:xfrm>
            <a:off x="322322" y="4189882"/>
            <a:ext cx="3758183" cy="2170255"/>
            <a:chOff x="322322" y="4189882"/>
            <a:chExt cx="3758183" cy="2170255"/>
          </a:xfrm>
        </p:grpSpPr>
        <p:sp>
          <p:nvSpPr>
            <p:cNvPr id="35" name="CuadroTexto 34">
              <a:extLst>
                <a:ext uri="{FF2B5EF4-FFF2-40B4-BE49-F238E27FC236}">
                  <a16:creationId xmlns:a16="http://schemas.microsoft.com/office/drawing/2014/main" id="{E4C826B0-702A-2754-E05E-17960E023A19}"/>
                </a:ext>
              </a:extLst>
            </p:cNvPr>
            <p:cNvSpPr txBox="1"/>
            <p:nvPr/>
          </p:nvSpPr>
          <p:spPr>
            <a:xfrm>
              <a:off x="1362319" y="4189882"/>
              <a:ext cx="1678193" cy="4025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lnSpc>
                  <a:spcPct val="120000"/>
                </a:lnSpc>
                <a:defRPr/>
              </a:pPr>
              <a:r>
                <a:rPr lang="es-MX" b="1" dirty="0">
                  <a:solidFill>
                    <a:prstClr val="white"/>
                  </a:solidFill>
                </a:rPr>
                <a:t>28/08/2026</a:t>
              </a:r>
            </a:p>
          </p:txBody>
        </p:sp>
        <p:sp>
          <p:nvSpPr>
            <p:cNvPr id="47" name="Rectángulo: esquinas redondeadas 46">
              <a:extLst>
                <a:ext uri="{FF2B5EF4-FFF2-40B4-BE49-F238E27FC236}">
                  <a16:creationId xmlns:a16="http://schemas.microsoft.com/office/drawing/2014/main" id="{3D2F1E3B-9CEB-2E39-6531-A56470D6E050}"/>
                </a:ext>
              </a:extLst>
            </p:cNvPr>
            <p:cNvSpPr/>
            <p:nvPr/>
          </p:nvSpPr>
          <p:spPr>
            <a:xfrm>
              <a:off x="322322" y="4592427"/>
              <a:ext cx="3758183" cy="1498548"/>
            </a:xfrm>
            <a:prstGeom prst="roundRect">
              <a:avLst/>
            </a:prstGeom>
            <a:solidFill>
              <a:srgbClr val="002060"/>
            </a:solidFill>
            <a:ln w="762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CL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4" name="CuadroTexto 43">
              <a:extLst>
                <a:ext uri="{FF2B5EF4-FFF2-40B4-BE49-F238E27FC236}">
                  <a16:creationId xmlns:a16="http://schemas.microsoft.com/office/drawing/2014/main" id="{350B435A-6DAB-C190-9FA1-10DE44E0A92E}"/>
                </a:ext>
              </a:extLst>
            </p:cNvPr>
            <p:cNvSpPr txBox="1"/>
            <p:nvPr/>
          </p:nvSpPr>
          <p:spPr>
            <a:xfrm>
              <a:off x="418068" y="4605811"/>
              <a:ext cx="3613751" cy="17543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marR="0" lvl="0" indent="-17145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 typeface="Arial" panose="020B0604020202020204" pitchFamily="34" charset="0"/>
                <a:buChar char="•"/>
                <a:tabLst/>
                <a:defRPr/>
              </a:pPr>
              <a:r>
                <a:rPr lang="es-MX" sz="900" dirty="0">
                  <a:solidFill>
                    <a:srgbClr val="FFFFFF"/>
                  </a:solidFill>
                </a:rPr>
                <a:t>CHARLA DE INICIO DE JORNADA.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900" dirty="0">
                  <a:solidFill>
                    <a:srgbClr val="FFFFFF"/>
                  </a:solidFill>
                </a:rPr>
                <a:t>CONTROLES SSO DIARIOS.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900" dirty="0">
                  <a:solidFill>
                    <a:srgbClr val="FFFFFF"/>
                  </a:solidFill>
                </a:rPr>
                <a:t>DIFUSIÓN PROCEDIMIENTO USO INSPECCIÓN REEMPLAZO ALTA VISIBILIDAD.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900" dirty="0">
                  <a:solidFill>
                    <a:srgbClr val="FFFFFF"/>
                  </a:solidFill>
                </a:rPr>
                <a:t>MANTENIMIENTO DE GENERADOR LTE_CMM_03.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900" dirty="0">
                  <a:solidFill>
                    <a:srgbClr val="FFFFFF"/>
                  </a:solidFill>
                </a:rPr>
                <a:t>REUNIÓN DE TRONADURA.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900" dirty="0">
                  <a:solidFill>
                    <a:srgbClr val="FFFFFF"/>
                  </a:solidFill>
                </a:rPr>
                <a:t>ATENCIÓN CAMBIO DE CORREA DE CARRO LTE_CMM_07.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900" dirty="0">
                  <a:solidFill>
                    <a:srgbClr val="FFFFFF"/>
                  </a:solidFill>
                </a:rPr>
                <a:t>DIFUSIÓN INFORME FLASH N°42 - REPORTE PREVENTIVO.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900" dirty="0">
                  <a:solidFill>
                    <a:srgbClr val="FFFFFF"/>
                  </a:solidFill>
                </a:rPr>
                <a:t>DIFUSIÓN INFORME FLASH N°43 DSAL – REPORTE PREVENTIVO.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900" dirty="0">
                  <a:solidFill>
                    <a:srgbClr val="FFFFFF"/>
                  </a:solidFill>
                </a:rPr>
                <a:t>MANTENIMIENTO DE GENERADOR LTE_CMF_02.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endParaRPr lang="es-ES" sz="900" dirty="0">
                <a:solidFill>
                  <a:srgbClr val="FFFFFF"/>
                </a:solidFill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endParaRPr lang="es-ES" sz="900" dirty="0">
                <a:solidFill>
                  <a:srgbClr val="FFFFFF"/>
                </a:solidFill>
              </a:endParaRPr>
            </a:p>
          </p:txBody>
        </p:sp>
      </p:grpSp>
      <p:grpSp>
        <p:nvGrpSpPr>
          <p:cNvPr id="64" name="Grupo 63">
            <a:extLst>
              <a:ext uri="{FF2B5EF4-FFF2-40B4-BE49-F238E27FC236}">
                <a16:creationId xmlns:a16="http://schemas.microsoft.com/office/drawing/2014/main" id="{D103D61E-B13D-00F6-2271-6084AA5714D2}"/>
              </a:ext>
            </a:extLst>
          </p:cNvPr>
          <p:cNvGrpSpPr/>
          <p:nvPr/>
        </p:nvGrpSpPr>
        <p:grpSpPr>
          <a:xfrm>
            <a:off x="4208941" y="4753239"/>
            <a:ext cx="3765328" cy="1925949"/>
            <a:chOff x="4208941" y="4753239"/>
            <a:chExt cx="3765328" cy="1925949"/>
          </a:xfrm>
        </p:grpSpPr>
        <p:sp>
          <p:nvSpPr>
            <p:cNvPr id="39" name="CuadroTexto 38">
              <a:extLst>
                <a:ext uri="{FF2B5EF4-FFF2-40B4-BE49-F238E27FC236}">
                  <a16:creationId xmlns:a16="http://schemas.microsoft.com/office/drawing/2014/main" id="{E4F791C4-1E7B-FA01-4F1F-B8B14C031C56}"/>
                </a:ext>
              </a:extLst>
            </p:cNvPr>
            <p:cNvSpPr txBox="1"/>
            <p:nvPr/>
          </p:nvSpPr>
          <p:spPr>
            <a:xfrm>
              <a:off x="5464039" y="4753239"/>
              <a:ext cx="1434853" cy="7004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  <a:defRPr/>
              </a:pPr>
              <a:r>
                <a:rPr lang="es-MX" b="1" dirty="0">
                  <a:solidFill>
                    <a:prstClr val="white"/>
                  </a:solidFill>
                </a:rPr>
                <a:t>29/08/2026</a:t>
              </a:r>
            </a:p>
            <a:p>
              <a:pPr>
                <a:lnSpc>
                  <a:spcPct val="120000"/>
                </a:lnSpc>
                <a:defRPr/>
              </a:pPr>
              <a:endParaRPr lang="es-MX" sz="1600" dirty="0">
                <a:solidFill>
                  <a:prstClr val="white"/>
                </a:solidFill>
              </a:endParaRPr>
            </a:p>
          </p:txBody>
        </p:sp>
        <p:sp>
          <p:nvSpPr>
            <p:cNvPr id="48" name="Rectángulo: esquinas redondeadas 47">
              <a:extLst>
                <a:ext uri="{FF2B5EF4-FFF2-40B4-BE49-F238E27FC236}">
                  <a16:creationId xmlns:a16="http://schemas.microsoft.com/office/drawing/2014/main" id="{62EF6B36-D04B-54FB-E1ED-FB29F0E27023}"/>
                </a:ext>
              </a:extLst>
            </p:cNvPr>
            <p:cNvSpPr/>
            <p:nvPr/>
          </p:nvSpPr>
          <p:spPr>
            <a:xfrm>
              <a:off x="4208941" y="5180640"/>
              <a:ext cx="3758183" cy="1498548"/>
            </a:xfrm>
            <a:prstGeom prst="roundRect">
              <a:avLst/>
            </a:prstGeom>
            <a:solidFill>
              <a:srgbClr val="002060"/>
            </a:solidFill>
            <a:ln w="762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CL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5" name="CuadroTexto 44">
              <a:extLst>
                <a:ext uri="{FF2B5EF4-FFF2-40B4-BE49-F238E27FC236}">
                  <a16:creationId xmlns:a16="http://schemas.microsoft.com/office/drawing/2014/main" id="{7FA0A755-5A31-C7F5-C1B6-235B651C8CA8}"/>
                </a:ext>
              </a:extLst>
            </p:cNvPr>
            <p:cNvSpPr txBox="1"/>
            <p:nvPr/>
          </p:nvSpPr>
          <p:spPr>
            <a:xfrm>
              <a:off x="4360518" y="5316590"/>
              <a:ext cx="3613751" cy="13388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marR="0" lvl="0" indent="-17145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 typeface="Arial" panose="020B0604020202020204" pitchFamily="34" charset="0"/>
                <a:buChar char="•"/>
                <a:tabLst/>
                <a:defRPr/>
              </a:pPr>
              <a:r>
                <a:rPr lang="es-MX" sz="900" dirty="0">
                  <a:solidFill>
                    <a:srgbClr val="FFFFFF"/>
                  </a:solidFill>
                </a:rPr>
                <a:t>CHARLA DE INICIO DE JORNADA.</a:t>
              </a:r>
            </a:p>
            <a:p>
              <a:pPr marL="171450" indent="-171450">
                <a:buSzPct val="100000"/>
                <a:buFont typeface="Arial" panose="020B0604020202020204" pitchFamily="34" charset="0"/>
                <a:buChar char="•"/>
                <a:defRPr/>
              </a:pPr>
              <a:r>
                <a:rPr lang="es-ES" sz="900" dirty="0">
                  <a:solidFill>
                    <a:srgbClr val="FFFFFF"/>
                  </a:solidFill>
                </a:rPr>
                <a:t>CONTROLES SSO DIARIOS.</a:t>
              </a:r>
              <a:endParaRPr lang="es-MX" sz="900" dirty="0">
                <a:solidFill>
                  <a:srgbClr val="FFFFFF"/>
                </a:solidFill>
              </a:endParaRPr>
            </a:p>
            <a:p>
              <a:pPr marL="171450" marR="0" lvl="0" indent="-17145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 typeface="Arial" panose="020B0604020202020204" pitchFamily="34" charset="0"/>
                <a:buChar char="•"/>
                <a:tabLst/>
                <a:defRPr/>
              </a:pPr>
              <a:r>
                <a:rPr lang="es-MX" sz="900" dirty="0">
                  <a:solidFill>
                    <a:srgbClr val="FFFFFF"/>
                  </a:solidFill>
                </a:rPr>
                <a:t>DIFUSIÓN NOTA INTERNA 02/2026 – MINERÍA – 02.</a:t>
              </a:r>
            </a:p>
            <a:p>
              <a:pPr marL="171450" marR="0" lvl="0" indent="-17145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 typeface="Arial" panose="020B0604020202020204" pitchFamily="34" charset="0"/>
                <a:buChar char="•"/>
                <a:tabLst/>
                <a:defRPr/>
              </a:pPr>
              <a:r>
                <a:rPr lang="es-MX" sz="900" dirty="0">
                  <a:solidFill>
                    <a:srgbClr val="FFFFFF"/>
                  </a:solidFill>
                </a:rPr>
                <a:t>DIFUSIÓN FLASH N°41 GMM, ESSL, 23 DE AGOSTO 2026, EMPRESAS. CODELCO, FASE 3, BAJANDO A CIRCUNVALACIÓN 1.</a:t>
              </a:r>
            </a:p>
            <a:p>
              <a:pPr marL="171450" marR="0" lvl="0" indent="-17145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 typeface="Arial" panose="020B0604020202020204" pitchFamily="34" charset="0"/>
                <a:buChar char="•"/>
                <a:tabLst/>
                <a:defRPr/>
              </a:pPr>
              <a:r>
                <a:rPr lang="es-MX" sz="900" dirty="0">
                  <a:solidFill>
                    <a:srgbClr val="FFFFFF"/>
                  </a:solidFill>
                </a:rPr>
                <a:t>DIFUSIÓN INFORME FLASH 322/26 ESSL, 323/26 ESSL Y N°112 ESSL.</a:t>
              </a:r>
            </a:p>
            <a:p>
              <a:pPr marL="171450" marR="0" lvl="0" indent="-17145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 typeface="Arial" panose="020B0604020202020204" pitchFamily="34" charset="0"/>
                <a:buChar char="•"/>
                <a:tabLst/>
                <a:defRPr/>
              </a:pPr>
              <a:r>
                <a:rPr lang="pt-BR" sz="900" dirty="0">
                  <a:solidFill>
                    <a:srgbClr val="FFFFFF"/>
                  </a:solidFill>
                </a:rPr>
                <a:t>MANTENIMENTO GENERADOR CARRO LTE_CMF_08.</a:t>
              </a:r>
            </a:p>
            <a:p>
              <a:pPr marL="171450" marR="0" lvl="0" indent="-17145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 typeface="Arial" panose="020B0604020202020204" pitchFamily="34" charset="0"/>
                <a:buChar char="•"/>
                <a:tabLst/>
                <a:defRPr/>
              </a:pPr>
              <a:r>
                <a:rPr lang="pt-BR" sz="900" dirty="0">
                  <a:solidFill>
                    <a:srgbClr val="FFFFFF"/>
                  </a:solidFill>
                </a:rPr>
                <a:t>TRASLADO DE CARRO LIGHT LTE_12 POR TRONADURA.</a:t>
              </a:r>
              <a:endParaRPr lang="es-MX" sz="900" dirty="0">
                <a:solidFill>
                  <a:srgbClr val="FFFFFF"/>
                </a:solidFill>
              </a:endParaRPr>
            </a:p>
            <a:p>
              <a:pPr marL="171450" marR="0" lvl="0" indent="-17145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 typeface="Arial" panose="020B0604020202020204" pitchFamily="34" charset="0"/>
                <a:buChar char="•"/>
                <a:tabLst/>
                <a:defRPr/>
              </a:pPr>
              <a:endParaRPr lang="es-MX" sz="900" dirty="0">
                <a:solidFill>
                  <a:srgbClr val="FFFFFF"/>
                </a:solidFill>
              </a:endParaRPr>
            </a:p>
          </p:txBody>
        </p:sp>
      </p:grpSp>
      <p:grpSp>
        <p:nvGrpSpPr>
          <p:cNvPr id="62" name="Grupo 61">
            <a:extLst>
              <a:ext uri="{FF2B5EF4-FFF2-40B4-BE49-F238E27FC236}">
                <a16:creationId xmlns:a16="http://schemas.microsoft.com/office/drawing/2014/main" id="{6604CDFC-EF81-8762-324D-096043F83CAB}"/>
              </a:ext>
            </a:extLst>
          </p:cNvPr>
          <p:cNvGrpSpPr/>
          <p:nvPr/>
        </p:nvGrpSpPr>
        <p:grpSpPr>
          <a:xfrm>
            <a:off x="8284180" y="2302226"/>
            <a:ext cx="3758183" cy="2606108"/>
            <a:chOff x="8284180" y="2302226"/>
            <a:chExt cx="3758183" cy="2606108"/>
          </a:xfrm>
        </p:grpSpPr>
        <p:sp>
          <p:nvSpPr>
            <p:cNvPr id="37" name="CuadroTexto 36">
              <a:extLst>
                <a:ext uri="{FF2B5EF4-FFF2-40B4-BE49-F238E27FC236}">
                  <a16:creationId xmlns:a16="http://schemas.microsoft.com/office/drawing/2014/main" id="{413A5FD6-0FDF-9CA2-DF4C-2B1F2B96E7DB}"/>
                </a:ext>
              </a:extLst>
            </p:cNvPr>
            <p:cNvSpPr txBox="1"/>
            <p:nvPr/>
          </p:nvSpPr>
          <p:spPr>
            <a:xfrm>
              <a:off x="9343911" y="2302226"/>
              <a:ext cx="1678193" cy="4025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  <a:defRPr/>
              </a:pPr>
              <a:r>
                <a:rPr lang="es-MX" b="1" dirty="0">
                  <a:solidFill>
                    <a:prstClr val="white"/>
                  </a:solidFill>
                </a:rPr>
                <a:t>31/08/2026</a:t>
              </a:r>
            </a:p>
          </p:txBody>
        </p:sp>
        <p:sp>
          <p:nvSpPr>
            <p:cNvPr id="50" name="Rectángulo: esquinas redondeadas 49">
              <a:extLst>
                <a:ext uri="{FF2B5EF4-FFF2-40B4-BE49-F238E27FC236}">
                  <a16:creationId xmlns:a16="http://schemas.microsoft.com/office/drawing/2014/main" id="{810FB2D5-E24D-F3CE-9C04-410E745F7614}"/>
                </a:ext>
              </a:extLst>
            </p:cNvPr>
            <p:cNvSpPr/>
            <p:nvPr/>
          </p:nvSpPr>
          <p:spPr>
            <a:xfrm>
              <a:off x="8284180" y="2709818"/>
              <a:ext cx="3758183" cy="1498548"/>
            </a:xfrm>
            <a:prstGeom prst="roundRect">
              <a:avLst/>
            </a:prstGeom>
            <a:solidFill>
              <a:srgbClr val="002060"/>
            </a:solidFill>
            <a:ln w="762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CL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3" name="CuadroTexto 52">
              <a:extLst>
                <a:ext uri="{FF2B5EF4-FFF2-40B4-BE49-F238E27FC236}">
                  <a16:creationId xmlns:a16="http://schemas.microsoft.com/office/drawing/2014/main" id="{CFBE041F-65F5-AE46-C4E6-E6B2FF3266E1}"/>
                </a:ext>
              </a:extLst>
            </p:cNvPr>
            <p:cNvSpPr txBox="1"/>
            <p:nvPr/>
          </p:nvSpPr>
          <p:spPr>
            <a:xfrm>
              <a:off x="8368428" y="2858927"/>
              <a:ext cx="3613751" cy="20494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28600" lvl="0" indent="-228600">
                <a:buSzPct val="100000"/>
                <a:buFont typeface="Arial" pitchFamily="34"/>
                <a:buChar char="•"/>
                <a:defRPr/>
              </a:pPr>
              <a:r>
                <a:rPr lang="es-MX" sz="900" dirty="0">
                  <a:solidFill>
                    <a:prstClr val="white"/>
                  </a:solidFill>
                  <a:latin typeface="Aptos"/>
                </a:rPr>
                <a:t>CHARLA DE INICIO DE JORNADA.</a:t>
              </a:r>
            </a:p>
            <a:p>
              <a:pPr marL="228600" indent="-228600">
                <a:buSzPct val="100000"/>
                <a:buFont typeface="Arial" pitchFamily="34"/>
                <a:buChar char="•"/>
                <a:defRPr/>
              </a:pPr>
              <a:r>
                <a:rPr lang="es-ES" sz="900" dirty="0">
                  <a:solidFill>
                    <a:srgbClr val="FFFFFF"/>
                  </a:solidFill>
                </a:rPr>
                <a:t>CONTROLES SSO DIARIOS.</a:t>
              </a:r>
              <a:endParaRPr lang="es-CL" dirty="0"/>
            </a:p>
            <a:p>
              <a:pPr marL="228600" indent="-228600">
                <a:buSzPct val="100000"/>
                <a:buFont typeface="Arial" pitchFamily="34"/>
                <a:buChar char="•"/>
                <a:defRPr/>
              </a:pPr>
              <a:r>
                <a:rPr lang="es-ES" sz="900" dirty="0">
                  <a:solidFill>
                    <a:prstClr val="white"/>
                  </a:solidFill>
                  <a:latin typeface="Aptos"/>
                </a:rPr>
                <a:t>REUNIÓN DE TRONADURA</a:t>
              </a:r>
            </a:p>
            <a:p>
              <a:pPr marL="228600" indent="-228600">
                <a:buSzPct val="100000"/>
                <a:buFont typeface="Arial" pitchFamily="34"/>
                <a:buChar char="•"/>
                <a:defRPr/>
              </a:pPr>
              <a:r>
                <a:rPr lang="es-ES" sz="900" dirty="0">
                  <a:solidFill>
                    <a:prstClr val="white"/>
                  </a:solidFill>
                  <a:latin typeface="Aptos"/>
                </a:rPr>
                <a:t>MANTENIMIENTO GENERADOR LTE_CMM_06</a:t>
              </a:r>
            </a:p>
            <a:p>
              <a:pPr marL="228600" indent="-228600">
                <a:buSzPct val="100000"/>
                <a:buFont typeface="Arial" pitchFamily="34"/>
                <a:buChar char="•"/>
                <a:defRPr/>
              </a:pPr>
              <a:r>
                <a:rPr lang="es-ES" sz="900" dirty="0">
                  <a:solidFill>
                    <a:prstClr val="white"/>
                  </a:solidFill>
                  <a:latin typeface="Aptos"/>
                </a:rPr>
                <a:t>LIDERAZGO DE ADC EN TERRENO</a:t>
              </a:r>
            </a:p>
            <a:p>
              <a:pPr marL="228600" indent="-228600">
                <a:buSzPct val="100000"/>
                <a:buFont typeface="Arial" pitchFamily="34"/>
                <a:buChar char="•"/>
                <a:defRPr/>
              </a:pPr>
              <a:r>
                <a:rPr lang="es-ES" sz="900" dirty="0">
                  <a:solidFill>
                    <a:prstClr val="white"/>
                  </a:solidFill>
                  <a:latin typeface="Aptos"/>
                </a:rPr>
                <a:t>Difusión Procedimiento de Higiene Ocupacional GSSO-LTE-P-HO-DSAL-07 Ver:02</a:t>
              </a:r>
            </a:p>
            <a:p>
              <a:pPr marL="228600" indent="-228600">
                <a:buSzPct val="100000"/>
                <a:buFont typeface="Arial" pitchFamily="34"/>
                <a:buChar char="•"/>
                <a:defRPr/>
              </a:pPr>
              <a:r>
                <a:rPr lang="es-ES" sz="900" dirty="0">
                  <a:solidFill>
                    <a:prstClr val="white"/>
                  </a:solidFill>
                  <a:latin typeface="Aptos"/>
                </a:rPr>
                <a:t>FORTALECIMIENTO DEL TRABAJO EN EQUIPO AGOSTO 2026</a:t>
              </a:r>
            </a:p>
            <a:p>
              <a:pPr marL="228600" indent="-228600">
                <a:buSzPct val="100000"/>
                <a:buFont typeface="Arial" pitchFamily="34"/>
                <a:buChar char="•"/>
                <a:defRPr/>
              </a:pPr>
              <a:endParaRPr lang="es-MX" sz="900" dirty="0">
                <a:solidFill>
                  <a:prstClr val="white"/>
                </a:solidFill>
                <a:latin typeface="Aptos"/>
              </a:endParaRPr>
            </a:p>
            <a:p>
              <a:pPr marL="228600" indent="-228600">
                <a:buSzPct val="100000"/>
                <a:buFont typeface="Arial" pitchFamily="34"/>
                <a:buChar char="•"/>
                <a:defRPr/>
              </a:pPr>
              <a:endParaRPr lang="es-CL" sz="900" dirty="0">
                <a:solidFill>
                  <a:prstClr val="white"/>
                </a:solidFill>
                <a:latin typeface="Aptos"/>
              </a:endParaRPr>
            </a:p>
            <a:p>
              <a:pPr marL="228600" indent="-228600">
                <a:buSzPct val="100000"/>
                <a:buFont typeface="Arial" pitchFamily="34"/>
                <a:buChar char="•"/>
                <a:defRPr/>
              </a:pPr>
              <a:endParaRPr lang="es-CL" sz="900" dirty="0">
                <a:solidFill>
                  <a:prstClr val="white"/>
                </a:solidFill>
                <a:latin typeface="Aptos"/>
              </a:endParaRPr>
            </a:p>
            <a:p>
              <a:pPr marL="228600" indent="-228600">
                <a:buSzPct val="100000"/>
                <a:buFont typeface="Arial" pitchFamily="34"/>
                <a:buChar char="•"/>
                <a:defRPr/>
              </a:pPr>
              <a:endParaRPr lang="es-MX" sz="900" dirty="0">
                <a:solidFill>
                  <a:prstClr val="white"/>
                </a:solidFill>
                <a:latin typeface="Aptos"/>
              </a:endParaRPr>
            </a:p>
            <a:p>
              <a:pPr marL="228600" indent="-228600">
                <a:buSzPct val="100000"/>
                <a:buFont typeface="Arial" pitchFamily="34"/>
                <a:buChar char="•"/>
                <a:defRPr/>
              </a:pPr>
              <a:endParaRPr lang="es-MX" sz="900" dirty="0">
                <a:solidFill>
                  <a:prstClr val="white"/>
                </a:solidFill>
                <a:latin typeface="Aptos"/>
              </a:endParaRPr>
            </a:p>
            <a:p>
              <a:pPr marR="0" lvl="0" algn="l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tabLst/>
                <a:defRPr/>
              </a:pPr>
              <a:endPara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+mn-cs"/>
              </a:endParaRPr>
            </a:p>
          </p:txBody>
        </p:sp>
      </p:grpSp>
      <p:grpSp>
        <p:nvGrpSpPr>
          <p:cNvPr id="61" name="Grupo 60">
            <a:extLst>
              <a:ext uri="{FF2B5EF4-FFF2-40B4-BE49-F238E27FC236}">
                <a16:creationId xmlns:a16="http://schemas.microsoft.com/office/drawing/2014/main" id="{25F88E71-ED56-3063-B6F0-FDDA3D7C9010}"/>
              </a:ext>
            </a:extLst>
          </p:cNvPr>
          <p:cNvGrpSpPr/>
          <p:nvPr/>
        </p:nvGrpSpPr>
        <p:grpSpPr>
          <a:xfrm>
            <a:off x="8210208" y="310329"/>
            <a:ext cx="3758183" cy="1930419"/>
            <a:chOff x="7858588" y="364479"/>
            <a:chExt cx="3758183" cy="1930419"/>
          </a:xfrm>
        </p:grpSpPr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3F02B15C-C09F-F836-61C9-D2A1E36AD151}"/>
                </a:ext>
              </a:extLst>
            </p:cNvPr>
            <p:cNvSpPr txBox="1"/>
            <p:nvPr/>
          </p:nvSpPr>
          <p:spPr>
            <a:xfrm>
              <a:off x="8691817" y="364479"/>
              <a:ext cx="1678193" cy="4025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lnSpc>
                  <a:spcPct val="120000"/>
                </a:lnSpc>
                <a:defRPr/>
              </a:pPr>
              <a:r>
                <a:rPr lang="es-MX" b="1" dirty="0">
                  <a:solidFill>
                    <a:prstClr val="white"/>
                  </a:solidFill>
                </a:rPr>
                <a:t>01/09/2026</a:t>
              </a:r>
            </a:p>
          </p:txBody>
        </p:sp>
        <p:sp>
          <p:nvSpPr>
            <p:cNvPr id="51" name="Rectángulo: esquinas redondeadas 50">
              <a:extLst>
                <a:ext uri="{FF2B5EF4-FFF2-40B4-BE49-F238E27FC236}">
                  <a16:creationId xmlns:a16="http://schemas.microsoft.com/office/drawing/2014/main" id="{7364A821-9B47-1F0A-008C-84026439FFF6}"/>
                </a:ext>
              </a:extLst>
            </p:cNvPr>
            <p:cNvSpPr/>
            <p:nvPr/>
          </p:nvSpPr>
          <p:spPr>
            <a:xfrm>
              <a:off x="7858588" y="796350"/>
              <a:ext cx="3758183" cy="1498548"/>
            </a:xfrm>
            <a:prstGeom prst="roundRect">
              <a:avLst/>
            </a:prstGeom>
            <a:solidFill>
              <a:srgbClr val="002060"/>
            </a:solidFill>
            <a:ln w="762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CL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4" name="CuadroTexto 53">
              <a:extLst>
                <a:ext uri="{FF2B5EF4-FFF2-40B4-BE49-F238E27FC236}">
                  <a16:creationId xmlns:a16="http://schemas.microsoft.com/office/drawing/2014/main" id="{72441E73-12C6-A101-EA57-58C0B7094D3C}"/>
                </a:ext>
              </a:extLst>
            </p:cNvPr>
            <p:cNvSpPr txBox="1"/>
            <p:nvPr/>
          </p:nvSpPr>
          <p:spPr>
            <a:xfrm>
              <a:off x="8026720" y="1035607"/>
              <a:ext cx="3536518" cy="10618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28600" indent="-228600">
                <a:buSzPct val="100000"/>
                <a:buFont typeface="Arial" pitchFamily="34"/>
                <a:buChar char="•"/>
                <a:defRPr/>
              </a:pPr>
              <a:endParaRPr lang="es-CL" sz="900" dirty="0">
                <a:solidFill>
                  <a:prstClr val="white"/>
                </a:solidFill>
              </a:endParaRPr>
            </a:p>
            <a:p>
              <a:pPr marL="228600" lvl="0" indent="-228600">
                <a:buSzPct val="100000"/>
                <a:buFont typeface="Arial" pitchFamily="34"/>
                <a:buChar char="•"/>
                <a:defRPr/>
              </a:pPr>
              <a:r>
                <a:rPr lang="es-ES" sz="900" dirty="0">
                  <a:solidFill>
                    <a:prstClr val="white"/>
                  </a:solidFill>
                  <a:latin typeface="Aptos"/>
                </a:rPr>
                <a:t>CHARLA DE INICIO DE JORNADA.</a:t>
              </a:r>
            </a:p>
            <a:p>
              <a:pPr marL="228600" indent="-228600">
                <a:buSzPct val="100000"/>
                <a:buFont typeface="Arial" pitchFamily="34"/>
                <a:buChar char="•"/>
                <a:defRPr/>
              </a:pPr>
              <a:r>
                <a:rPr lang="es-ES" sz="900" dirty="0">
                  <a:solidFill>
                    <a:srgbClr val="FFFFFF"/>
                  </a:solidFill>
                </a:rPr>
                <a:t>CONTROLES SSO DIARIOS.</a:t>
              </a:r>
            </a:p>
            <a:p>
              <a:pPr marL="228600" indent="-228600">
                <a:buSzPct val="100000"/>
                <a:buFont typeface="Arial" pitchFamily="34"/>
                <a:buChar char="•"/>
                <a:defRPr/>
              </a:pPr>
              <a:r>
                <a:rPr lang="es-ES" sz="900" dirty="0">
                  <a:solidFill>
                    <a:schemeClr val="bg1"/>
                  </a:solidFill>
                </a:rPr>
                <a:t>DIFUSIÓN ESTÁNDAR DE PREVENCIÓN DE FATALIDAD 5: EQUIPOS Y HERRAMIENTAS PORTÁTILES Y MANUALES</a:t>
              </a:r>
              <a:endParaRPr lang="es-ES" sz="900" dirty="0">
                <a:solidFill>
                  <a:prstClr val="white"/>
                </a:solidFill>
                <a:latin typeface="Aptos"/>
              </a:endParaRPr>
            </a:p>
            <a:p>
              <a:pPr marL="228600" lvl="0" indent="-228600">
                <a:buSzPct val="100000"/>
                <a:buFont typeface="Arial" pitchFamily="34"/>
                <a:buChar char="•"/>
                <a:defRPr/>
              </a:pPr>
              <a:r>
                <a:rPr lang="es-ES" sz="900" dirty="0">
                  <a:solidFill>
                    <a:prstClr val="white"/>
                  </a:solidFill>
                  <a:latin typeface="Aptos"/>
                </a:rPr>
                <a:t>REGISTRO REUNIÓN DE FINALIZACIÓN DE TURNO 7X7</a:t>
              </a:r>
              <a:endParaRPr lang="es-MX" sz="900" dirty="0">
                <a:solidFill>
                  <a:prstClr val="white"/>
                </a:solidFill>
                <a:latin typeface="Aptos"/>
              </a:endParaRPr>
            </a:p>
            <a:p>
              <a:pPr marL="228600" lvl="0" indent="-228600">
                <a:buSzPct val="100000"/>
                <a:buFont typeface="Arial" pitchFamily="34"/>
                <a:buChar char="•"/>
                <a:defRPr/>
              </a:pPr>
              <a:endParaRPr lang="es-MX" sz="900" dirty="0">
                <a:solidFill>
                  <a:prstClr val="white"/>
                </a:solidFill>
                <a:latin typeface="Aptos"/>
              </a:endParaRPr>
            </a:p>
          </p:txBody>
        </p:sp>
      </p:grpSp>
      <p:grpSp>
        <p:nvGrpSpPr>
          <p:cNvPr id="63" name="Grupo 62">
            <a:extLst>
              <a:ext uri="{FF2B5EF4-FFF2-40B4-BE49-F238E27FC236}">
                <a16:creationId xmlns:a16="http://schemas.microsoft.com/office/drawing/2014/main" id="{86FDD2E7-6CEE-1F45-F620-FCC14CB128FD}"/>
              </a:ext>
            </a:extLst>
          </p:cNvPr>
          <p:cNvGrpSpPr/>
          <p:nvPr/>
        </p:nvGrpSpPr>
        <p:grpSpPr>
          <a:xfrm>
            <a:off x="8095560" y="4220740"/>
            <a:ext cx="3758183" cy="2202789"/>
            <a:chOff x="8095560" y="4220740"/>
            <a:chExt cx="3758183" cy="2202789"/>
          </a:xfrm>
        </p:grpSpPr>
        <p:sp>
          <p:nvSpPr>
            <p:cNvPr id="38" name="CuadroTexto 37">
              <a:extLst>
                <a:ext uri="{FF2B5EF4-FFF2-40B4-BE49-F238E27FC236}">
                  <a16:creationId xmlns:a16="http://schemas.microsoft.com/office/drawing/2014/main" id="{F27BF01C-1128-5D11-8CE3-A5D0754E1513}"/>
                </a:ext>
              </a:extLst>
            </p:cNvPr>
            <p:cNvSpPr txBox="1"/>
            <p:nvPr/>
          </p:nvSpPr>
          <p:spPr>
            <a:xfrm>
              <a:off x="9322419" y="4220740"/>
              <a:ext cx="1678193" cy="4025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lnSpc>
                  <a:spcPct val="120000"/>
                </a:lnSpc>
                <a:defRPr/>
              </a:pPr>
              <a:r>
                <a:rPr lang="es-MX" b="1" dirty="0">
                  <a:solidFill>
                    <a:prstClr val="white"/>
                  </a:solidFill>
                </a:rPr>
                <a:t>30/08/2026</a:t>
              </a:r>
            </a:p>
          </p:txBody>
        </p:sp>
        <p:sp>
          <p:nvSpPr>
            <p:cNvPr id="49" name="Rectángulo: esquinas redondeadas 48">
              <a:extLst>
                <a:ext uri="{FF2B5EF4-FFF2-40B4-BE49-F238E27FC236}">
                  <a16:creationId xmlns:a16="http://schemas.microsoft.com/office/drawing/2014/main" id="{428ABE35-443B-5E74-A1E4-63EA6DA4E41D}"/>
                </a:ext>
              </a:extLst>
            </p:cNvPr>
            <p:cNvSpPr/>
            <p:nvPr/>
          </p:nvSpPr>
          <p:spPr>
            <a:xfrm>
              <a:off x="8095560" y="4635642"/>
              <a:ext cx="3758183" cy="1498548"/>
            </a:xfrm>
            <a:prstGeom prst="roundRect">
              <a:avLst/>
            </a:prstGeom>
            <a:solidFill>
              <a:srgbClr val="002060"/>
            </a:solidFill>
            <a:ln w="762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CL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5" name="CuadroTexto 54">
              <a:extLst>
                <a:ext uri="{FF2B5EF4-FFF2-40B4-BE49-F238E27FC236}">
                  <a16:creationId xmlns:a16="http://schemas.microsoft.com/office/drawing/2014/main" id="{D9D881BC-DE42-CA43-9D92-B48E7EA7774F}"/>
                </a:ext>
              </a:extLst>
            </p:cNvPr>
            <p:cNvSpPr txBox="1"/>
            <p:nvPr/>
          </p:nvSpPr>
          <p:spPr>
            <a:xfrm>
              <a:off x="8189622" y="4669203"/>
              <a:ext cx="3613751" cy="17543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marR="0" lvl="0" indent="-17145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 typeface="Arial" panose="020B0604020202020204" pitchFamily="34" charset="0"/>
                <a:buChar char="•"/>
                <a:tabLst/>
                <a:defRPr/>
              </a:pPr>
              <a:r>
                <a:rPr lang="es-MX" sz="900" dirty="0">
                  <a:solidFill>
                    <a:srgbClr val="FFFFFF"/>
                  </a:solidFill>
                </a:rPr>
                <a:t>CHARLA DE INICIO DE JORNADA.</a:t>
              </a:r>
            </a:p>
            <a:p>
              <a:pPr marL="171450" indent="-171450">
                <a:buSzPct val="100000"/>
                <a:buFont typeface="Arial" panose="020B0604020202020204" pitchFamily="34" charset="0"/>
                <a:buChar char="•"/>
                <a:defRPr/>
              </a:pPr>
              <a:r>
                <a:rPr lang="es-ES" sz="900" dirty="0">
                  <a:solidFill>
                    <a:srgbClr val="FFFFFF"/>
                  </a:solidFill>
                </a:rPr>
                <a:t>CONTROLES SSO DIARIOS.</a:t>
              </a:r>
              <a:endParaRPr lang="es-MX" sz="900" dirty="0">
                <a:solidFill>
                  <a:prstClr val="white"/>
                </a:solidFill>
                <a:latin typeface="Aptos"/>
              </a:endParaRPr>
            </a:p>
            <a:p>
              <a:pPr marL="171450" marR="0" lvl="0" indent="-17145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 typeface="Arial" panose="020B0604020202020204" pitchFamily="34" charset="0"/>
                <a:buChar char="•"/>
                <a:tabLst/>
                <a:defRPr/>
              </a:pPr>
              <a:r>
                <a:rPr lang="es-ES" sz="900" dirty="0">
                  <a:solidFill>
                    <a:srgbClr val="FFFFFF"/>
                  </a:solidFill>
                </a:rPr>
                <a:t>BAJADA COMUNICACIONAL – REUNIÓN MENSUAL CPHS – DELEGADO SST.</a:t>
              </a:r>
            </a:p>
            <a:p>
              <a:pPr marL="171450" marR="0" lvl="0" indent="-17145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 typeface="Arial" panose="020B0604020202020204" pitchFamily="34" charset="0"/>
                <a:buChar char="•"/>
                <a:tabLst/>
                <a:defRPr/>
              </a:pPr>
              <a:r>
                <a:rPr lang="es-ES" sz="900" dirty="0">
                  <a:solidFill>
                    <a:srgbClr val="FFFFFF"/>
                  </a:solidFill>
                </a:rPr>
                <a:t>CAPACITACIÓN USO, LIMPIEZA, DESINFECCIÓN Y ALMACENAMIENTO DE PROTECCIÓN RESPIRATORIA.</a:t>
              </a:r>
            </a:p>
            <a:p>
              <a:pPr marL="171450" marR="0" lvl="0" indent="-17145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 typeface="Arial" panose="020B0604020202020204" pitchFamily="34" charset="0"/>
                <a:buChar char="•"/>
                <a:tabLst/>
                <a:defRPr/>
              </a:pPr>
              <a:r>
                <a:rPr lang="es-ES" sz="900" dirty="0">
                  <a:solidFill>
                    <a:srgbClr val="FFFFFF"/>
                  </a:solidFill>
                </a:rPr>
                <a:t>DIFUSIÓN INFORME FLASH 324/26 ESSL.</a:t>
              </a:r>
            </a:p>
            <a:p>
              <a:pPr marL="171450" marR="0" lvl="0" indent="-17145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 typeface="Arial" panose="020B0604020202020204" pitchFamily="34" charset="0"/>
                <a:buChar char="•"/>
                <a:tabLst/>
                <a:defRPr/>
              </a:pPr>
              <a:r>
                <a:rPr lang="es-ES" sz="900" dirty="0">
                  <a:solidFill>
                    <a:srgbClr val="FFFFFF"/>
                  </a:solidFill>
                </a:rPr>
                <a:t>DIFUSIÓN INCIDENTES TFDS.</a:t>
              </a:r>
            </a:p>
            <a:p>
              <a:pPr marL="171450" marR="0" lvl="0" indent="-17145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 typeface="Arial" panose="020B0604020202020204" pitchFamily="34" charset="0"/>
                <a:buChar char="•"/>
                <a:tabLst/>
                <a:defRPr/>
              </a:pPr>
              <a:r>
                <a:rPr lang="es-ES" sz="900" dirty="0">
                  <a:solidFill>
                    <a:srgbClr val="FFFFFF"/>
                  </a:solidFill>
                </a:rPr>
                <a:t>MANTENIMIENTO GENERADOR CARRO LTE_CMF_09.</a:t>
              </a:r>
            </a:p>
            <a:p>
              <a:pPr marL="171450" marR="0" lvl="0" indent="-17145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 typeface="Arial" panose="020B0604020202020204" pitchFamily="34" charset="0"/>
                <a:buChar char="•"/>
                <a:tabLst/>
                <a:defRPr/>
              </a:pPr>
              <a:r>
                <a:rPr lang="es-ES" sz="900" dirty="0">
                  <a:solidFill>
                    <a:srgbClr val="FFFFFF"/>
                  </a:solidFill>
                </a:rPr>
                <a:t>REUNIÓN DE CIERRE TDFS.</a:t>
              </a:r>
            </a:p>
            <a:p>
              <a:pPr marL="171450" marR="0" lvl="0" indent="-17145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 typeface="Arial" panose="020B0604020202020204" pitchFamily="34" charset="0"/>
                <a:buChar char="•"/>
                <a:tabLst/>
                <a:defRPr/>
              </a:pPr>
              <a:endParaRPr lang="es-ES" sz="900" dirty="0">
                <a:solidFill>
                  <a:srgbClr val="FFFFFF"/>
                </a:solidFill>
              </a:endParaRPr>
            </a:p>
            <a:p>
              <a:pPr marL="171450" marR="0" lvl="0" indent="-17145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 typeface="Arial" panose="020B0604020202020204" pitchFamily="34" charset="0"/>
                <a:buChar char="•"/>
                <a:tabLst/>
                <a:defRPr/>
              </a:pPr>
              <a:endParaRPr lang="es-MX" sz="900" dirty="0">
                <a:solidFill>
                  <a:srgbClr val="FFFFFF"/>
                </a:solidFill>
              </a:endParaRPr>
            </a:p>
          </p:txBody>
        </p:sp>
      </p:grpSp>
      <p:pic>
        <p:nvPicPr>
          <p:cNvPr id="15" name="Imagen 14">
            <a:extLst>
              <a:ext uri="{FF2B5EF4-FFF2-40B4-BE49-F238E27FC236}">
                <a16:creationId xmlns:a16="http://schemas.microsoft.com/office/drawing/2014/main" id="{D447284C-3B9F-C9DE-CA71-52738EFF09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655" r="15655"/>
          <a:stretch/>
        </p:blipFill>
        <p:spPr>
          <a:xfrm>
            <a:off x="4601980" y="1491474"/>
            <a:ext cx="2988040" cy="326176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400046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3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486B6F-9043-CB60-4AA0-CC5030FC2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537767CC-0795-73D7-8F5B-214901290493}"/>
              </a:ext>
            </a:extLst>
          </p:cNvPr>
          <p:cNvSpPr/>
          <p:nvPr/>
        </p:nvSpPr>
        <p:spPr>
          <a:xfrm>
            <a:off x="2869580" y="172631"/>
            <a:ext cx="6452840" cy="6452838"/>
          </a:xfrm>
          <a:prstGeom prst="ellipse">
            <a:avLst/>
          </a:prstGeom>
          <a:solidFill>
            <a:srgbClr val="12231D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LT" sz="8000" b="1" i="0" u="none" strike="noStrike" kern="1200" cap="none" spc="-15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aleway" panose="020B0503030101060003" pitchFamily="34" charset="77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93A6DF1-23A3-BAD1-6C9C-EC2EC94B514B}"/>
              </a:ext>
            </a:extLst>
          </p:cNvPr>
          <p:cNvSpPr/>
          <p:nvPr/>
        </p:nvSpPr>
        <p:spPr>
          <a:xfrm>
            <a:off x="3867150" y="994258"/>
            <a:ext cx="4467225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4400" b="1" i="0" u="none" strike="noStrike" kern="1200" cap="none" spc="-15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uLnTx/>
                <a:uFillTx/>
                <a:latin typeface="Raleway Black" panose="020B0503030101060003" pitchFamily="34" charset="77"/>
                <a:ea typeface="+mn-ea"/>
                <a:cs typeface="+mn-cs"/>
              </a:rPr>
              <a:t>TURNO NOCHE</a:t>
            </a:r>
            <a:endParaRPr kumimoji="0" lang="en-LT" sz="4400" b="1" i="0" u="none" strike="noStrike" kern="1200" cap="none" spc="-150" normalizeH="0" baseline="0" noProof="0" dirty="0">
              <a:ln>
                <a:noFill/>
              </a:ln>
              <a:solidFill>
                <a:srgbClr val="FFFFFF"/>
              </a:solidFill>
              <a:effectLst>
                <a:outerShdw blurRad="419100" sx="102000" sy="102000" algn="ctr" rotWithShape="0">
                  <a:prstClr val="black">
                    <a:alpha val="29000"/>
                  </a:prstClr>
                </a:outerShdw>
              </a:effectLst>
              <a:uLnTx/>
              <a:uFillTx/>
              <a:latin typeface="Raleway Black" panose="020B0503030101060003" pitchFamily="34" charset="77"/>
              <a:ea typeface="+mn-ea"/>
              <a:cs typeface="+mn-cs"/>
            </a:endParaRP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32A411FF-8573-765D-B78F-E58F8EEDF958}"/>
              </a:ext>
            </a:extLst>
          </p:cNvPr>
          <p:cNvSpPr/>
          <p:nvPr/>
        </p:nvSpPr>
        <p:spPr>
          <a:xfrm>
            <a:off x="457200" y="4347472"/>
            <a:ext cx="10716178" cy="1072938"/>
          </a:xfrm>
          <a:prstGeom prst="roundRect">
            <a:avLst>
              <a:gd name="adj" fmla="val 10177"/>
            </a:avLst>
          </a:prstGeom>
          <a:solidFill>
            <a:schemeClr val="accent1">
              <a:alpha val="95000"/>
            </a:schemeClr>
          </a:solidFill>
          <a:ln w="28575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s-ES" sz="1200" b="1" dirty="0"/>
          </a:p>
          <a:p>
            <a:endParaRPr lang="es-ES" sz="1200" b="1" dirty="0"/>
          </a:p>
          <a:p>
            <a:endParaRPr lang="es-ES" sz="1200" b="1" dirty="0"/>
          </a:p>
          <a:p>
            <a:endParaRPr lang="es-ES" sz="1200" b="1" dirty="0"/>
          </a:p>
          <a:p>
            <a:r>
              <a:rPr lang="es-ES" sz="1200" b="1" dirty="0"/>
              <a:t>OBSERVACIONES:</a:t>
            </a:r>
          </a:p>
          <a:p>
            <a:endParaRPr lang="es-ES" sz="1200" b="1" dirty="0"/>
          </a:p>
          <a:p>
            <a:pPr marL="228600" indent="-228600">
              <a:buFont typeface="+mj-lt"/>
              <a:buAutoNum type="arabicPeriod"/>
            </a:pPr>
            <a:r>
              <a:rPr lang="es-ES" sz="1050" b="1" dirty="0"/>
              <a:t>DURANTE EL TURNO NO SE REGISTRARON INCIDENTES CRÍTICOS QUE AFECTARAN LA CONTINUIDAD OPERACIONAL GLOBAL DE LA RED LTE DSAL </a:t>
            </a:r>
          </a:p>
          <a:p>
            <a:pPr marL="228600" indent="-228600">
              <a:buFont typeface="+mj-lt"/>
              <a:buAutoNum type="arabicPeriod"/>
            </a:pPr>
            <a:endParaRPr lang="es-ES" sz="1050" b="1" dirty="0"/>
          </a:p>
          <a:p>
            <a:pPr marL="228600" indent="-228600">
              <a:buFont typeface="+mj-lt"/>
              <a:buAutoNum type="arabicPeriod"/>
            </a:pPr>
            <a:r>
              <a:rPr lang="es-ES" sz="1050" b="1" dirty="0"/>
              <a:t>NO SE REALIZA REPORTABILIDAD DE SITIO 5 EN TURNO DEBIDO A QUE SE ENCUENTRA REPLEGADO POR TRASLADO</a:t>
            </a:r>
          </a:p>
          <a:p>
            <a:endParaRPr lang="es-ES" sz="1050" b="1" dirty="0">
              <a:solidFill>
                <a:schemeClr val="bg1"/>
              </a:solidFill>
            </a:endParaRPr>
          </a:p>
          <a:p>
            <a:endParaRPr lang="es-ES" sz="1000" b="1" dirty="0"/>
          </a:p>
          <a:p>
            <a:pPr marL="228600" indent="-228600">
              <a:buFont typeface="+mj-lt"/>
              <a:buAutoNum type="arabicPeriod"/>
            </a:pPr>
            <a:endParaRPr lang="es-ES" sz="1000" b="1" dirty="0"/>
          </a:p>
          <a:p>
            <a:endParaRPr lang="es-ES" sz="1200" b="1" dirty="0"/>
          </a:p>
        </p:txBody>
      </p:sp>
      <p:grpSp>
        <p:nvGrpSpPr>
          <p:cNvPr id="6" name="Grupo 5">
            <a:extLst>
              <a:ext uri="{FF2B5EF4-FFF2-40B4-BE49-F238E27FC236}">
                <a16:creationId xmlns:a16="http://schemas.microsoft.com/office/drawing/2014/main" id="{719E7F9B-4B70-6CAF-CD7B-71FDC6084FE2}"/>
              </a:ext>
            </a:extLst>
          </p:cNvPr>
          <p:cNvGrpSpPr/>
          <p:nvPr/>
        </p:nvGrpSpPr>
        <p:grpSpPr>
          <a:xfrm>
            <a:off x="3273989" y="1868149"/>
            <a:ext cx="7802593" cy="2270690"/>
            <a:chOff x="149637" y="2636221"/>
            <a:chExt cx="3758183" cy="1498548"/>
          </a:xfrm>
        </p:grpSpPr>
        <p:sp>
          <p:nvSpPr>
            <p:cNvPr id="9" name="Rectángulo: esquinas redondeadas 8">
              <a:extLst>
                <a:ext uri="{FF2B5EF4-FFF2-40B4-BE49-F238E27FC236}">
                  <a16:creationId xmlns:a16="http://schemas.microsoft.com/office/drawing/2014/main" id="{AFADBF9E-E1BB-B1B8-49CA-C69B69568F8D}"/>
                </a:ext>
              </a:extLst>
            </p:cNvPr>
            <p:cNvSpPr/>
            <p:nvPr/>
          </p:nvSpPr>
          <p:spPr>
            <a:xfrm>
              <a:off x="149637" y="2636221"/>
              <a:ext cx="3758183" cy="1498548"/>
            </a:xfrm>
            <a:prstGeom prst="roundRect">
              <a:avLst/>
            </a:prstGeom>
            <a:solidFill>
              <a:srgbClr val="002060"/>
            </a:solidFill>
            <a:ln w="762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CL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" name="CuadroTexto 9">
              <a:extLst>
                <a:ext uri="{FF2B5EF4-FFF2-40B4-BE49-F238E27FC236}">
                  <a16:creationId xmlns:a16="http://schemas.microsoft.com/office/drawing/2014/main" id="{C073FA68-DD05-DDFB-FF4A-4FD8488B531D}"/>
                </a:ext>
              </a:extLst>
            </p:cNvPr>
            <p:cNvSpPr txBox="1"/>
            <p:nvPr/>
          </p:nvSpPr>
          <p:spPr>
            <a:xfrm>
              <a:off x="347985" y="2636221"/>
              <a:ext cx="3487618" cy="14668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 typeface="Arial" pitchFamily="34"/>
                <a:buNone/>
                <a:tabLst/>
                <a:defRPr/>
              </a:pPr>
              <a:r>
                <a:rPr kumimoji="0" lang="es-CL" sz="24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65000"/>
                    </a:prstClr>
                  </a:solidFill>
                  <a:effectLst/>
                  <a:uLnTx/>
                  <a:uFillTx/>
                  <a:latin typeface="Aptos"/>
                  <a:ea typeface="+mn-ea"/>
                  <a:cs typeface="+mn-cs"/>
                </a:rPr>
                <a:t>26/08/2026 al </a:t>
              </a:r>
              <a:r>
                <a:rPr lang="es-CL" sz="2400" b="1" dirty="0">
                  <a:solidFill>
                    <a:prstClr val="white">
                      <a:lumMod val="65000"/>
                    </a:prstClr>
                  </a:solidFill>
                  <a:latin typeface="Aptos"/>
                </a:rPr>
                <a:t>01/09</a:t>
              </a:r>
              <a:r>
                <a:rPr kumimoji="0" lang="es-CL" sz="24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65000"/>
                    </a:prstClr>
                  </a:solidFill>
                  <a:effectLst/>
                  <a:uLnTx/>
                  <a:uFillTx/>
                  <a:latin typeface="Aptos"/>
                  <a:ea typeface="+mn-ea"/>
                  <a:cs typeface="+mn-cs"/>
                </a:rPr>
                <a:t>/2026</a:t>
              </a:r>
            </a:p>
            <a:p>
              <a:pPr marL="0" marR="0" lvl="0" indent="0" algn="l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 typeface="Arial" pitchFamily="34"/>
                <a:buNone/>
                <a:tabLst/>
                <a:defRPr/>
              </a:pPr>
              <a:endParaRPr kumimoji="0" lang="es-ES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+mn-cs"/>
              </a:endParaRPr>
            </a:p>
            <a:p>
              <a:pPr marL="228600" marR="0" lvl="0" indent="-228600" algn="l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 typeface="Arial" pitchFamily="34"/>
                <a:buChar char="•"/>
                <a:tabLst/>
                <a:defRPr/>
              </a:pPr>
              <a:r>
                <a:rPr kumimoji="0" lang="es-ES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/>
                  <a:ea typeface="+mn-ea"/>
                  <a:cs typeface="+mn-cs"/>
                </a:rPr>
                <a:t>PLANIFICACIÓN ACTIVIDADES DIARIAS.</a:t>
              </a:r>
            </a:p>
            <a:p>
              <a:pPr marL="228600" marR="0" lvl="0" indent="-228600" algn="l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 typeface="Arial" pitchFamily="34"/>
                <a:buChar char="•"/>
                <a:tabLst/>
                <a:defRPr/>
              </a:pPr>
              <a:r>
                <a:rPr kumimoji="0" lang="es-ES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/>
                  <a:ea typeface="+mn-ea"/>
                  <a:cs typeface="+mn-cs"/>
                </a:rPr>
                <a:t>DIFUSIÓN ESTÁNDAR TÉCNICO ELABORACIÓN DE ANÁLISIS DE RIESGOS DEL TRABAJO (ART) CODELCO EL SALVADOR.</a:t>
              </a:r>
              <a:endParaRPr kumimoji="0" lang="es-CL" sz="1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+mn-cs"/>
              </a:endParaRPr>
            </a:p>
            <a:p>
              <a:pPr marL="228600" marR="0" lvl="0" indent="-228600" algn="l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 typeface="Arial" pitchFamily="34"/>
                <a:buChar char="•"/>
                <a:tabLst/>
                <a:defRPr/>
              </a:pPr>
              <a:r>
                <a:rPr kumimoji="0" lang="es-ES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/>
                  <a:ea typeface="+mn-ea"/>
                  <a:cs typeface="+mn-cs"/>
                </a:rPr>
                <a:t>CONTROL DE FATIGA Y SOMNOLENCIA (ENCUESTA GESTIÓN DE ALERTA TEMPRANA).</a:t>
              </a:r>
              <a:endParaRPr kumimoji="0" lang="es-CL" sz="1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+mn-cs"/>
              </a:endParaRPr>
            </a:p>
            <a:p>
              <a:pPr marL="228600" marR="0" lvl="0" indent="-228600" algn="l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 typeface="Arial" pitchFamily="34"/>
                <a:buChar char="•"/>
                <a:tabLst/>
                <a:defRPr/>
              </a:pPr>
              <a:r>
                <a:rPr kumimoji="0" lang="es-ES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/>
                  <a:ea typeface="+mn-ea"/>
                  <a:cs typeface="+mn-cs"/>
                </a:rPr>
                <a:t>CONFECCIÓN DE ANÁLISIS DE RIESGO DEL TRABAJO (ART).</a:t>
              </a:r>
              <a:endParaRPr kumimoji="0" lang="es-CL" sz="1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+mn-cs"/>
              </a:endParaRPr>
            </a:p>
            <a:p>
              <a:pPr marL="228600" marR="0" lvl="0" indent="-228600" algn="l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 typeface="Arial" pitchFamily="34"/>
                <a:buChar char="•"/>
                <a:tabLst/>
                <a:defRPr/>
              </a:pPr>
              <a:r>
                <a:rPr kumimoji="0" lang="es-ES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/>
                  <a:ea typeface="+mn-ea"/>
                  <a:cs typeface="+mn-cs"/>
                </a:rPr>
                <a:t>SE REALIZA REPORTABILIDAD DIARIA GG. LTE 01, 02, 03, 04, 06, 07, 08, 09, 10, 11 </a:t>
              </a:r>
              <a:r>
                <a:rPr lang="es-ES" sz="1000" b="1" dirty="0">
                  <a:solidFill>
                    <a:prstClr val="white"/>
                  </a:solidFill>
                  <a:latin typeface="Aptos"/>
                </a:rPr>
                <a:t> </a:t>
              </a:r>
              <a:r>
                <a:rPr kumimoji="0" lang="es-ES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/>
                  <a:ea typeface="+mn-ea"/>
                  <a:cs typeface="+mn-cs"/>
                </a:rPr>
                <a:t>Y MMOO</a:t>
              </a:r>
              <a:r>
                <a:rPr kumimoji="0" lang="es-CL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/>
                  <a:ea typeface="+mn-ea"/>
                  <a:cs typeface="+mn-cs"/>
                </a:rPr>
                <a:t>-</a:t>
              </a:r>
              <a:r>
                <a:rPr kumimoji="0" lang="es-ES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/>
                  <a:ea typeface="+mn-ea"/>
                  <a:cs typeface="+mn-cs"/>
                </a:rPr>
                <a:t>01.</a:t>
              </a:r>
              <a:endParaRPr kumimoji="0" lang="es-CL" sz="1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+mn-cs"/>
              </a:endParaRPr>
            </a:p>
            <a:p>
              <a:pPr marL="228600" marR="0" lvl="0" indent="-228600" algn="l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 typeface="Arial" pitchFamily="34"/>
                <a:buChar char="•"/>
                <a:tabLst/>
                <a:defRPr/>
              </a:pPr>
              <a:r>
                <a:rPr kumimoji="0" lang="es-ES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/>
                  <a:ea typeface="+mn-ea"/>
                  <a:cs typeface="+mn-cs"/>
                </a:rPr>
                <a:t>MONITOREO GENERAL STATUS ENODO B</a:t>
              </a:r>
              <a:endParaRPr kumimoji="0" lang="es-CL" sz="1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+mn-cs"/>
              </a:endParaRPr>
            </a:p>
            <a:p>
              <a:pPr marL="228600" marR="0" lvl="0" indent="-228600" algn="l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 typeface="Arial" pitchFamily="34"/>
                <a:buChar char="•"/>
                <a:tabLst/>
                <a:defRPr/>
              </a:pPr>
              <a:r>
                <a:rPr kumimoji="0" lang="es-ES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/>
                  <a:ea typeface="+mn-ea"/>
                  <a:cs typeface="+mn-cs"/>
                </a:rPr>
                <a:t>MONITOREO GENERAL STATUS DE ENERGÍA.</a:t>
              </a:r>
            </a:p>
            <a:p>
              <a:pPr marL="228600" marR="0" lvl="0" indent="-228600" algn="l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 typeface="Arial" pitchFamily="34"/>
                <a:buChar char="•"/>
                <a:tabLst/>
                <a:defRPr/>
              </a:pPr>
              <a:endParaRPr lang="es-ES" sz="1100" b="1" dirty="0">
                <a:solidFill>
                  <a:prstClr val="white"/>
                </a:solidFill>
                <a:latin typeface="Aptos"/>
              </a:endParaRPr>
            </a:p>
          </p:txBody>
        </p:sp>
      </p:grpSp>
      <p:pic>
        <p:nvPicPr>
          <p:cNvPr id="7" name="Imagen 6">
            <a:extLst>
              <a:ext uri="{FF2B5EF4-FFF2-40B4-BE49-F238E27FC236}">
                <a16:creationId xmlns:a16="http://schemas.microsoft.com/office/drawing/2014/main" id="{386C5666-05C1-4F1B-8B80-73C3FB2F9F4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210" b="18210"/>
          <a:stretch/>
        </p:blipFill>
        <p:spPr>
          <a:xfrm>
            <a:off x="340310" y="232531"/>
            <a:ext cx="2736733" cy="38666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sp>
        <p:nvSpPr>
          <p:cNvPr id="16" name="Rectangle 1">
            <a:extLst>
              <a:ext uri="{FF2B5EF4-FFF2-40B4-BE49-F238E27FC236}">
                <a16:creationId xmlns:a16="http://schemas.microsoft.com/office/drawing/2014/main" id="{DE09E051-BF88-BFE4-DECC-98ECF6DFD1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s-CL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10A454FA-C204-AFA0-90D9-C1DA906F1F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15240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s-CL"/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0709946B-FE33-E434-D212-962EAD95BD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" y="30480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s-CL"/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63082A0B-E906-3CF6-190A-E00463E466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5720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7331271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3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B8A42B65-566C-0A41-B8C2-5032B07BD196}"/>
              </a:ext>
            </a:extLst>
          </p:cNvPr>
          <p:cNvSpPr/>
          <p:nvPr/>
        </p:nvSpPr>
        <p:spPr>
          <a:xfrm>
            <a:off x="2869581" y="202582"/>
            <a:ext cx="6452840" cy="6452838"/>
          </a:xfrm>
          <a:prstGeom prst="ellipse">
            <a:avLst/>
          </a:prstGeom>
          <a:solidFill>
            <a:srgbClr val="12231D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LT" sz="8000" b="1" spc="-150">
              <a:latin typeface="Raleway" panose="020B0503030101060003" pitchFamily="34" charset="77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674933B-DF67-D14D-ACC6-194EA400210B}"/>
              </a:ext>
            </a:extLst>
          </p:cNvPr>
          <p:cNvSpPr/>
          <p:nvPr/>
        </p:nvSpPr>
        <p:spPr>
          <a:xfrm>
            <a:off x="2947643" y="3389971"/>
            <a:ext cx="6296718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L" sz="6000" b="1" spc="-150" dirty="0"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latin typeface="Raleway Black" panose="020B0503030101060003" pitchFamily="34" charset="77"/>
              </a:rPr>
              <a:t>ACTIVIDADES DIARIAS</a:t>
            </a:r>
            <a:endParaRPr kumimoji="0" lang="en-LT" sz="6000" b="1" i="0" u="none" strike="noStrike" kern="1200" cap="none" spc="-150" normalizeH="0" baseline="0" noProof="0" dirty="0">
              <a:ln>
                <a:noFill/>
              </a:ln>
              <a:solidFill>
                <a:srgbClr val="FFFFFF"/>
              </a:solidFill>
              <a:effectLst>
                <a:outerShdw blurRad="419100" sx="102000" sy="102000" algn="ctr" rotWithShape="0">
                  <a:prstClr val="black">
                    <a:alpha val="29000"/>
                  </a:prstClr>
                </a:outerShdw>
              </a:effectLst>
              <a:uLnTx/>
              <a:uFillTx/>
              <a:latin typeface="Raleway Black" panose="020B0503030101060003" pitchFamily="34" charset="77"/>
              <a:ea typeface="+mn-ea"/>
              <a:cs typeface="+mn-cs"/>
            </a:endParaRPr>
          </a:p>
        </p:txBody>
      </p:sp>
      <p:pic>
        <p:nvPicPr>
          <p:cNvPr id="3" name="Graphic 6" descr="Gears with solid fill">
            <a:extLst>
              <a:ext uri="{FF2B5EF4-FFF2-40B4-BE49-F238E27FC236}">
                <a16:creationId xmlns:a16="http://schemas.microsoft.com/office/drawing/2014/main" id="{A420769D-C5A6-74C1-11B8-9D1329DD22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42263" y="459058"/>
            <a:ext cx="3107474" cy="3107474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5CB5F465-DF0A-B25E-5911-D6BB6D9861B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08847" y="7368407"/>
            <a:ext cx="4174302" cy="1654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597831"/>
      </p:ext>
    </p:extLst>
  </p:cSld>
  <p:clrMapOvr>
    <a:masterClrMapping/>
  </p:clrMapOvr>
  <p:transition spd="slow" advTm="0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9">
            <a:extLst>
              <a:ext uri="{FF2B5EF4-FFF2-40B4-BE49-F238E27FC236}">
                <a16:creationId xmlns:a16="http://schemas.microsoft.com/office/drawing/2014/main" id="{3F92554E-C40A-2007-317A-47C954C1D55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1" y="-188547"/>
            <a:ext cx="12191999" cy="7102591"/>
          </a:xfrm>
          <a:prstGeom prst="rect">
            <a:avLst/>
          </a:prstGeom>
        </p:spPr>
      </p:pic>
      <p:pic>
        <p:nvPicPr>
          <p:cNvPr id="23" name="Imagen 22">
            <a:extLst>
              <a:ext uri="{FF2B5EF4-FFF2-40B4-BE49-F238E27FC236}">
                <a16:creationId xmlns:a16="http://schemas.microsoft.com/office/drawing/2014/main" id="{98B39382-98E5-450E-4CE3-3E36CDFED78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08849" y="4941596"/>
            <a:ext cx="4174302" cy="1654152"/>
          </a:xfrm>
          <a:prstGeom prst="rect">
            <a:avLst/>
          </a:prstGeom>
        </p:spPr>
      </p:pic>
      <p:cxnSp>
        <p:nvCxnSpPr>
          <p:cNvPr id="30" name="Straight Connector 12">
            <a:extLst>
              <a:ext uri="{FF2B5EF4-FFF2-40B4-BE49-F238E27FC236}">
                <a16:creationId xmlns:a16="http://schemas.microsoft.com/office/drawing/2014/main" id="{473FA2A6-5150-F510-9A0E-A782B23C8F51}"/>
              </a:ext>
            </a:extLst>
          </p:cNvPr>
          <p:cNvCxnSpPr>
            <a:cxnSpLocks/>
          </p:cNvCxnSpPr>
          <p:nvPr/>
        </p:nvCxnSpPr>
        <p:spPr>
          <a:xfrm flipH="1" flipV="1">
            <a:off x="6979716" y="2020212"/>
            <a:ext cx="1772398" cy="1321041"/>
          </a:xfrm>
          <a:prstGeom prst="line">
            <a:avLst/>
          </a:prstGeom>
          <a:solidFill>
            <a:srgbClr val="12231D">
              <a:alpha val="40000"/>
            </a:srgbClr>
          </a:solidFill>
          <a:ln w="63500" cap="rnd">
            <a:solidFill>
              <a:schemeClr val="bg1"/>
            </a:solidFill>
            <a:prstDash val="sysDot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 xmlns:psez="http://schemas.microsoft.com/office/powerpoint/2016/sectionzoom">
        <mc:Choice Requires="psez">
          <p:graphicFrame>
            <p:nvGraphicFramePr>
              <p:cNvPr id="4" name="Vista general de sección 3">
                <a:extLst>
                  <a:ext uri="{FF2B5EF4-FFF2-40B4-BE49-F238E27FC236}">
                    <a16:creationId xmlns:a16="http://schemas.microsoft.com/office/drawing/2014/main" id="{09E407A8-0B73-476C-03ED-26F19FB8A465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370152080"/>
                  </p:ext>
                </p:extLst>
              </p:nvPr>
            </p:nvGraphicFramePr>
            <p:xfrm>
              <a:off x="3343158" y="-130687"/>
              <a:ext cx="4946487" cy="2782399"/>
            </p:xfrm>
            <a:graphic>
              <a:graphicData uri="http://schemas.microsoft.com/office/powerpoint/2016/sectionzoom">
                <psez:sectionZm>
                  <psez:sectionZmObj sectionId="{0EE20D05-537A-4B50-9B8A-AC4069C25E74}">
                    <psez:zmPr id="{FF16D085-ED85-4001-99EB-BBB81C11D58F}" transitionDur="1000" showBg="0">
                      <p166:blipFill xmlns:p166="http://schemas.microsoft.com/office/powerpoint/2016/6/main">
                        <a:blip r:embed="rId7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4946487" cy="2782399"/>
                        </a:xfrm>
                        <a:prstGeom prst="rect">
                          <a:avLst/>
                        </a:prstGeom>
                      </p166:spPr>
                    </psez:zmPr>
                  </psez:sectionZmObj>
                </psez:sectionZm>
              </a:graphicData>
            </a:graphic>
          </p:graphicFrame>
        </mc:Choice>
        <mc:Fallback xmlns="">
          <p:pic>
            <p:nvPicPr>
              <p:cNvPr id="4" name="Vista general de sección 3">
                <a:hlinkClick r:id="rId8" action="ppaction://hlinksldjump"/>
                <a:extLst>
                  <a:ext uri="{FF2B5EF4-FFF2-40B4-BE49-F238E27FC236}">
                    <a16:creationId xmlns:a16="http://schemas.microsoft.com/office/drawing/2014/main" id="{09E407A8-0B73-476C-03ED-26F19FB8A46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343158" y="-130687"/>
                <a:ext cx="4946487" cy="278239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sez="http://schemas.microsoft.com/office/powerpoint/2016/sectionzoom">
        <mc:Choice Requires="psez">
          <p:graphicFrame>
            <p:nvGraphicFramePr>
              <p:cNvPr id="8" name="Vista general de sección 7">
                <a:extLst>
                  <a:ext uri="{FF2B5EF4-FFF2-40B4-BE49-F238E27FC236}">
                    <a16:creationId xmlns:a16="http://schemas.microsoft.com/office/drawing/2014/main" id="{D57C0600-A180-3C83-A8BC-FD001720CADA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85331645"/>
                  </p:ext>
                </p:extLst>
              </p:nvPr>
            </p:nvGraphicFramePr>
            <p:xfrm>
              <a:off x="7441043" y="2736234"/>
              <a:ext cx="4789230" cy="2693942"/>
            </p:xfrm>
            <a:graphic>
              <a:graphicData uri="http://schemas.microsoft.com/office/powerpoint/2016/sectionzoom">
                <psez:sectionZm>
                  <psez:sectionZmObj sectionId="{663C72DC-B12D-4C31-88E5-BA5A135B2E35}">
                    <psez:zmPr id="{3A0BAC2D-99CD-4A86-BFBB-9CDEE29ADC1C}" transitionDur="1000" showBg="0">
                      <p166:blipFill xmlns:p166="http://schemas.microsoft.com/office/powerpoint/2016/6/main">
                        <a:blip r:embed="rId10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4789230" cy="2693942"/>
                        </a:xfrm>
                        <a:prstGeom prst="rect">
                          <a:avLst/>
                        </a:prstGeom>
                      </p166:spPr>
                    </psez:zmPr>
                  </psez:sectionZmObj>
                </psez:sectionZm>
              </a:graphicData>
            </a:graphic>
          </p:graphicFrame>
        </mc:Choice>
        <mc:Fallback xmlns="">
          <p:pic>
            <p:nvPicPr>
              <p:cNvPr id="8" name="Vista general de sección 7">
                <a:hlinkClick r:id="rId11" action="ppaction://hlinksldjump"/>
                <a:extLst>
                  <a:ext uri="{FF2B5EF4-FFF2-40B4-BE49-F238E27FC236}">
                    <a16:creationId xmlns:a16="http://schemas.microsoft.com/office/drawing/2014/main" id="{D57C0600-A180-3C83-A8BC-FD001720CAD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7441043" y="2736234"/>
                <a:ext cx="4789230" cy="2693942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97789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repeatCount="indefinite" accel="50000" decel="50000" autoRev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4000" fill="hold"/>
                                        <p:tgtEl>
                                          <p:spTgt spid="2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DEF15A-FC7C-CDD3-67A8-2B84B7819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EC7BAB28-33C7-4AAA-82B0-71C51F79B401}"/>
              </a:ext>
            </a:extLst>
          </p:cNvPr>
          <p:cNvSpPr/>
          <p:nvPr/>
        </p:nvSpPr>
        <p:spPr>
          <a:xfrm>
            <a:off x="2869581" y="202582"/>
            <a:ext cx="6452840" cy="6452838"/>
          </a:xfrm>
          <a:prstGeom prst="ellipse">
            <a:avLst/>
          </a:prstGeom>
          <a:solidFill>
            <a:srgbClr val="12231D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LT" sz="8000" b="1" i="0" u="none" strike="noStrike" kern="1200" cap="none" spc="-15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aleway" panose="020B0503030101060003" pitchFamily="34" charset="77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0FF7AE-69A0-79D6-6BB9-861C9FB9F5DE}"/>
              </a:ext>
            </a:extLst>
          </p:cNvPr>
          <p:cNvSpPr/>
          <p:nvPr/>
        </p:nvSpPr>
        <p:spPr>
          <a:xfrm>
            <a:off x="2947643" y="3389971"/>
            <a:ext cx="6296718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L" sz="5400" b="1" spc="-150" dirty="0"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latin typeface="Raleway Black" panose="020B0503030101060003" pitchFamily="34" charset="77"/>
              </a:rPr>
              <a:t>REPORTABILIDAD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5400" b="1" i="0" u="none" strike="noStrike" kern="1200" cap="none" spc="-15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uLnTx/>
                <a:uFillTx/>
                <a:latin typeface="Raleway Black" panose="020B0503030101060003" pitchFamily="34" charset="77"/>
                <a:ea typeface="+mn-ea"/>
                <a:cs typeface="+mn-cs"/>
              </a:rPr>
              <a:t>GG</a:t>
            </a:r>
            <a:endParaRPr kumimoji="0" lang="en-LT" sz="5400" b="1" i="0" u="none" strike="noStrike" kern="1200" cap="none" spc="-150" normalizeH="0" baseline="0" noProof="0" dirty="0">
              <a:ln>
                <a:noFill/>
              </a:ln>
              <a:solidFill>
                <a:srgbClr val="FFFFFF"/>
              </a:solidFill>
              <a:effectLst>
                <a:outerShdw blurRad="419100" sx="102000" sy="102000" algn="ctr" rotWithShape="0">
                  <a:prstClr val="black">
                    <a:alpha val="29000"/>
                  </a:prstClr>
                </a:outerShdw>
              </a:effectLst>
              <a:uLnTx/>
              <a:uFillTx/>
              <a:latin typeface="Raleway Black" panose="020B0503030101060003" pitchFamily="34" charset="77"/>
              <a:ea typeface="+mn-ea"/>
              <a:cs typeface="+mn-cs"/>
            </a:endParaRPr>
          </a:p>
        </p:txBody>
      </p:sp>
      <p:pic>
        <p:nvPicPr>
          <p:cNvPr id="5" name="Graphic 6" descr="Proteger con relleno sólido">
            <a:extLst>
              <a:ext uri="{FF2B5EF4-FFF2-40B4-BE49-F238E27FC236}">
                <a16:creationId xmlns:a16="http://schemas.microsoft.com/office/drawing/2014/main" id="{6141FDEA-7943-7B90-D8DF-0906FD4252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915944" y="823073"/>
            <a:ext cx="2360111" cy="236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7311276"/>
      </p:ext>
    </p:extLst>
  </p:cSld>
  <p:clrMapOvr>
    <a:masterClrMapping/>
  </p:clrMapOvr>
  <p:transition spd="slow" advTm="0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8505CD-DB4B-1E74-A0B2-A9066D045D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1F9FEB2B-B06E-9A46-BF1D-D330F99BC9D9}"/>
              </a:ext>
            </a:extLst>
          </p:cNvPr>
          <p:cNvSpPr/>
          <p:nvPr/>
        </p:nvSpPr>
        <p:spPr>
          <a:xfrm>
            <a:off x="2869581" y="202582"/>
            <a:ext cx="6452840" cy="6452838"/>
          </a:xfrm>
          <a:prstGeom prst="ellipse">
            <a:avLst/>
          </a:prstGeom>
          <a:solidFill>
            <a:srgbClr val="12231D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LT" sz="8000" b="1" i="0" u="none" strike="noStrike" kern="1200" cap="none" spc="-15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aleway" panose="020B0503030101060003" pitchFamily="34" charset="77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AF0426C-2FF3-1A29-8270-CD40986261D6}"/>
              </a:ext>
            </a:extLst>
          </p:cNvPr>
          <p:cNvSpPr/>
          <p:nvPr/>
        </p:nvSpPr>
        <p:spPr>
          <a:xfrm>
            <a:off x="4711974" y="258580"/>
            <a:ext cx="2768052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2500" b="1" i="0" u="none" strike="noStrike" kern="1200" cap="none" spc="-15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uLnTx/>
                <a:uFillTx/>
                <a:latin typeface="Raleway Black" panose="020B0503030101060003" pitchFamily="34" charset="77"/>
                <a:ea typeface="+mn-ea"/>
                <a:cs typeface="+mn-cs"/>
              </a:rPr>
              <a:t>REPORTABILIDAD</a:t>
            </a:r>
            <a:r>
              <a:rPr kumimoji="0" lang="es-CL" sz="4000" b="1" i="0" u="none" strike="noStrike" kern="1200" cap="none" spc="-15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uLnTx/>
                <a:uFillTx/>
                <a:latin typeface="Raleway Black" panose="020B0503030101060003" pitchFamily="34" charset="77"/>
                <a:ea typeface="+mn-ea"/>
                <a:cs typeface="+mn-cs"/>
              </a:rPr>
              <a:t> </a:t>
            </a:r>
            <a:r>
              <a:rPr kumimoji="0" lang="es-CL" sz="2400" b="1" i="0" u="none" strike="noStrike" kern="1200" cap="none" spc="-15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uLnTx/>
                <a:uFillTx/>
                <a:latin typeface="Raleway Black" panose="020B0503030101060003" pitchFamily="34" charset="77"/>
                <a:ea typeface="+mn-ea"/>
                <a:cs typeface="+mn-cs"/>
              </a:rPr>
              <a:t>GENERADORES</a:t>
            </a:r>
            <a:endParaRPr kumimoji="0" lang="en-LT" sz="2400" b="1" i="0" u="none" strike="noStrike" kern="1200" cap="none" spc="-150" normalizeH="0" baseline="0" noProof="0" dirty="0">
              <a:ln>
                <a:noFill/>
              </a:ln>
              <a:solidFill>
                <a:srgbClr val="FFFFFF"/>
              </a:solidFill>
              <a:effectLst>
                <a:outerShdw blurRad="419100" sx="102000" sy="102000" algn="ctr" rotWithShape="0">
                  <a:prstClr val="black">
                    <a:alpha val="29000"/>
                  </a:prstClr>
                </a:outerShdw>
              </a:effectLst>
              <a:uLnTx/>
              <a:uFillTx/>
              <a:latin typeface="Raleway Black" panose="020B0503030101060003" pitchFamily="34" charset="77"/>
              <a:ea typeface="+mn-ea"/>
              <a:cs typeface="+mn-cs"/>
            </a:endParaRP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BF85E320-E32D-15F3-16EE-497157483431}"/>
              </a:ext>
            </a:extLst>
          </p:cNvPr>
          <p:cNvSpPr/>
          <p:nvPr/>
        </p:nvSpPr>
        <p:spPr>
          <a:xfrm>
            <a:off x="448164" y="3864990"/>
            <a:ext cx="3068034" cy="319515"/>
          </a:xfrm>
          <a:prstGeom prst="rect">
            <a:avLst/>
          </a:prstGeom>
          <a:solidFill>
            <a:schemeClr val="accent1"/>
          </a:solidFill>
          <a:ln w="3175">
            <a:solidFill>
              <a:schemeClr val="bg1"/>
            </a:solidFill>
          </a:ln>
          <a:effectLst>
            <a:softEdge rad="12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1600" b="1" dirty="0"/>
              <a:t>REPORTABILIDAD GG 28/08/2026</a:t>
            </a:r>
            <a:endParaRPr lang="es-CL" sz="1600" b="1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7D102AA-0500-B5BE-6CF0-E68FAE7539C8}"/>
              </a:ext>
            </a:extLst>
          </p:cNvPr>
          <p:cNvSpPr/>
          <p:nvPr/>
        </p:nvSpPr>
        <p:spPr>
          <a:xfrm>
            <a:off x="448164" y="1473633"/>
            <a:ext cx="3068034" cy="319515"/>
          </a:xfrm>
          <a:prstGeom prst="rect">
            <a:avLst/>
          </a:prstGeom>
          <a:solidFill>
            <a:schemeClr val="accent1"/>
          </a:solidFill>
          <a:ln w="3175">
            <a:solidFill>
              <a:schemeClr val="bg1"/>
            </a:solidFill>
          </a:ln>
          <a:effectLst>
            <a:softEdge rad="12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1600" b="1" dirty="0"/>
              <a:t>REPORTABILIDAD GG  26/08/2026</a:t>
            </a:r>
            <a:endParaRPr lang="es-CL" sz="1600" b="1" dirty="0"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272C00BC-209F-A6AA-8A5B-3B6AF5877A3E}"/>
              </a:ext>
            </a:extLst>
          </p:cNvPr>
          <p:cNvSpPr/>
          <p:nvPr/>
        </p:nvSpPr>
        <p:spPr>
          <a:xfrm>
            <a:off x="6492349" y="1473633"/>
            <a:ext cx="3068034" cy="319515"/>
          </a:xfrm>
          <a:prstGeom prst="rect">
            <a:avLst/>
          </a:prstGeom>
          <a:solidFill>
            <a:schemeClr val="accent1"/>
          </a:solidFill>
          <a:ln w="3175">
            <a:solidFill>
              <a:schemeClr val="bg1"/>
            </a:solidFill>
          </a:ln>
          <a:effectLst>
            <a:softEdge rad="12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1600" b="1" dirty="0"/>
              <a:t>REPORTABILIDAD GG  27/08/2026</a:t>
            </a:r>
            <a:endParaRPr lang="es-CL" sz="1600" b="1" dirty="0"/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5B54E655-8D6A-4AEC-2A67-22CF8524E7CB}"/>
              </a:ext>
            </a:extLst>
          </p:cNvPr>
          <p:cNvSpPr/>
          <p:nvPr/>
        </p:nvSpPr>
        <p:spPr>
          <a:xfrm>
            <a:off x="6492349" y="3864990"/>
            <a:ext cx="3068034" cy="319515"/>
          </a:xfrm>
          <a:prstGeom prst="rect">
            <a:avLst/>
          </a:prstGeom>
          <a:solidFill>
            <a:schemeClr val="accent1"/>
          </a:solidFill>
          <a:ln w="3175">
            <a:solidFill>
              <a:schemeClr val="bg1"/>
            </a:solidFill>
          </a:ln>
          <a:effectLst>
            <a:softEdge rad="12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1600" b="1" dirty="0"/>
              <a:t>REPORTABILIDAD GG 29/08/2026</a:t>
            </a:r>
            <a:endParaRPr lang="es-CL" sz="1600" b="1" dirty="0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D7D92639-F402-1377-CBC6-56F047F8A9EF}"/>
              </a:ext>
            </a:extLst>
          </p:cNvPr>
          <p:cNvPicPr>
            <a:picLocks noChangeAspect="1"/>
          </p:cNvPicPr>
          <p:nvPr/>
        </p:nvPicPr>
        <p:blipFill>
          <a:blip r:embed="rIdMarcador"/>
          <a:stretch/>
        </p:blipFill>
        <p:spPr>
          <a:xfrm>
            <a:off x="448164" y="1793148"/>
            <a:ext cx="5313806" cy="1712052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8DF14F91-DA76-997E-2BC0-270D4A3843E0}"/>
              </a:ext>
            </a:extLst>
          </p:cNvPr>
          <p:cNvPicPr>
            <a:picLocks noChangeAspect="1"/>
          </p:cNvPicPr>
          <p:nvPr/>
        </p:nvPicPr>
        <p:blipFill>
          <a:blip r:embed="rIdMarcador"/>
          <a:stretch/>
        </p:blipFill>
        <p:spPr>
          <a:xfrm>
            <a:off x="6492349" y="4184505"/>
            <a:ext cx="5251486" cy="1562403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AF5C12A6-9C10-FAD2-B712-6B66EBBE9CEF}"/>
              </a:ext>
            </a:extLst>
          </p:cNvPr>
          <p:cNvPicPr>
            <a:picLocks noChangeAspect="1"/>
          </p:cNvPicPr>
          <p:nvPr/>
        </p:nvPicPr>
        <p:blipFill>
          <a:blip r:embed="rIdMarcador"/>
          <a:stretch/>
        </p:blipFill>
        <p:spPr>
          <a:xfrm>
            <a:off x="6492349" y="1793148"/>
            <a:ext cx="5251486" cy="1712052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0EAA4F27-C694-EBB0-A337-0CDFC21FD457}"/>
              </a:ext>
            </a:extLst>
          </p:cNvPr>
          <p:cNvPicPr>
            <a:picLocks noChangeAspect="1"/>
          </p:cNvPicPr>
          <p:nvPr/>
        </p:nvPicPr>
        <p:blipFill>
          <a:blip r:embed="rIdMarcador"/>
          <a:stretch/>
        </p:blipFill>
        <p:spPr>
          <a:xfrm>
            <a:off x="448163" y="4190600"/>
            <a:ext cx="5313807" cy="1556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79944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3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36B18A-35F5-5F9B-CA0B-8CC720E56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1E9C189D-1B02-9578-1D52-A5EB9C77AF91}"/>
              </a:ext>
            </a:extLst>
          </p:cNvPr>
          <p:cNvSpPr/>
          <p:nvPr/>
        </p:nvSpPr>
        <p:spPr>
          <a:xfrm>
            <a:off x="2869581" y="146582"/>
            <a:ext cx="6452840" cy="6452838"/>
          </a:xfrm>
          <a:prstGeom prst="ellipse">
            <a:avLst/>
          </a:prstGeom>
          <a:solidFill>
            <a:srgbClr val="12231D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LT" sz="8000" b="1" i="0" u="none" strike="noStrike" kern="1200" cap="none" spc="-15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aleway" panose="020B0503030101060003" pitchFamily="34" charset="77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6C9922-DDCC-71B7-1C24-64323B4FDA0C}"/>
              </a:ext>
            </a:extLst>
          </p:cNvPr>
          <p:cNvSpPr/>
          <p:nvPr/>
        </p:nvSpPr>
        <p:spPr>
          <a:xfrm>
            <a:off x="4711974" y="258580"/>
            <a:ext cx="2768052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2500" b="1" i="0" u="none" strike="noStrike" kern="1200" cap="none" spc="-15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uLnTx/>
                <a:uFillTx/>
                <a:latin typeface="Raleway Black" panose="020B0503030101060003" pitchFamily="34" charset="77"/>
                <a:ea typeface="+mn-ea"/>
                <a:cs typeface="+mn-cs"/>
              </a:rPr>
              <a:t>REPORTABILIDAD</a:t>
            </a:r>
            <a:r>
              <a:rPr kumimoji="0" lang="es-CL" sz="4000" b="1" i="0" u="none" strike="noStrike" kern="1200" cap="none" spc="-15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uLnTx/>
                <a:uFillTx/>
                <a:latin typeface="Raleway Black" panose="020B0503030101060003" pitchFamily="34" charset="77"/>
                <a:ea typeface="+mn-ea"/>
                <a:cs typeface="+mn-cs"/>
              </a:rPr>
              <a:t> </a:t>
            </a:r>
            <a:r>
              <a:rPr kumimoji="0" lang="es-CL" sz="2400" b="1" i="0" u="none" strike="noStrike" kern="1200" cap="none" spc="-15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uLnTx/>
                <a:uFillTx/>
                <a:latin typeface="Raleway Black" panose="020B0503030101060003" pitchFamily="34" charset="77"/>
                <a:ea typeface="+mn-ea"/>
                <a:cs typeface="+mn-cs"/>
              </a:rPr>
              <a:t>GENERADORES</a:t>
            </a:r>
            <a:endParaRPr kumimoji="0" lang="en-LT" sz="2400" b="1" i="0" u="none" strike="noStrike" kern="1200" cap="none" spc="-150" normalizeH="0" baseline="0" noProof="0" dirty="0">
              <a:ln>
                <a:noFill/>
              </a:ln>
              <a:solidFill>
                <a:srgbClr val="FFFFFF"/>
              </a:solidFill>
              <a:effectLst>
                <a:outerShdw blurRad="419100" sx="102000" sy="102000" algn="ctr" rotWithShape="0">
                  <a:prstClr val="black">
                    <a:alpha val="29000"/>
                  </a:prstClr>
                </a:outerShdw>
              </a:effectLst>
              <a:uLnTx/>
              <a:uFillTx/>
              <a:latin typeface="Raleway Black" panose="020B0503030101060003" pitchFamily="34" charset="77"/>
              <a:ea typeface="+mn-ea"/>
              <a:cs typeface="+mn-cs"/>
            </a:endParaRP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13E4DFD8-6DDA-8447-F919-E325A26E59E4}"/>
              </a:ext>
            </a:extLst>
          </p:cNvPr>
          <p:cNvSpPr/>
          <p:nvPr/>
        </p:nvSpPr>
        <p:spPr>
          <a:xfrm>
            <a:off x="6492349" y="1473633"/>
            <a:ext cx="3068034" cy="319515"/>
          </a:xfrm>
          <a:prstGeom prst="rect">
            <a:avLst/>
          </a:prstGeom>
          <a:solidFill>
            <a:schemeClr val="accent1"/>
          </a:solidFill>
          <a:ln w="3175">
            <a:solidFill>
              <a:schemeClr val="bg1"/>
            </a:solidFill>
          </a:ln>
          <a:effectLst>
            <a:softEdge rad="12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1600" b="1" dirty="0"/>
              <a:t>REPORTABILIDAD GG 31/08/2026</a:t>
            </a:r>
            <a:endParaRPr lang="es-CL" sz="1600" b="1" dirty="0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E42C2378-A29C-4D0E-296C-70AE86F2FFE1}"/>
              </a:ext>
            </a:extLst>
          </p:cNvPr>
          <p:cNvSpPr/>
          <p:nvPr/>
        </p:nvSpPr>
        <p:spPr>
          <a:xfrm>
            <a:off x="436644" y="3768290"/>
            <a:ext cx="3068034" cy="367056"/>
          </a:xfrm>
          <a:prstGeom prst="rect">
            <a:avLst/>
          </a:prstGeom>
          <a:solidFill>
            <a:schemeClr val="accent1"/>
          </a:solidFill>
          <a:ln w="3175">
            <a:solidFill>
              <a:schemeClr val="bg1"/>
            </a:solidFill>
          </a:ln>
          <a:effectLst>
            <a:softEdge rad="12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1600" b="1" dirty="0"/>
              <a:t>REPORTABILIDAD GG 01/09/2026</a:t>
            </a:r>
            <a:endParaRPr lang="es-CL" sz="1600" b="1" dirty="0"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D01E27B5-DD2F-F277-EA5E-D2CCE64D3220}"/>
              </a:ext>
            </a:extLst>
          </p:cNvPr>
          <p:cNvSpPr/>
          <p:nvPr/>
        </p:nvSpPr>
        <p:spPr>
          <a:xfrm>
            <a:off x="436644" y="1454119"/>
            <a:ext cx="3068034" cy="319515"/>
          </a:xfrm>
          <a:prstGeom prst="rect">
            <a:avLst/>
          </a:prstGeom>
          <a:solidFill>
            <a:schemeClr val="accent1"/>
          </a:solidFill>
          <a:ln w="3175">
            <a:solidFill>
              <a:schemeClr val="bg1"/>
            </a:solidFill>
          </a:ln>
          <a:effectLst>
            <a:softEdge rad="12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1600" b="1" dirty="0"/>
              <a:t>REPORTABILIDAD GG 30/08/2026</a:t>
            </a:r>
            <a:endParaRPr lang="es-CL" sz="1600" b="1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2092BD8F-0713-3512-B0B2-AAE8002417BC}"/>
              </a:ext>
            </a:extLst>
          </p:cNvPr>
          <p:cNvPicPr>
            <a:picLocks noChangeAspect="1"/>
          </p:cNvPicPr>
          <p:nvPr/>
        </p:nvPicPr>
        <p:blipFill>
          <a:blip r:embed="rIdMarcador"/>
          <a:stretch/>
        </p:blipFill>
        <p:spPr>
          <a:xfrm>
            <a:off x="6492349" y="1763525"/>
            <a:ext cx="5069423" cy="1513096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8A01F95C-C827-22DC-5B31-78AB08CCFE60}"/>
              </a:ext>
            </a:extLst>
          </p:cNvPr>
          <p:cNvPicPr>
            <a:picLocks noChangeAspect="1"/>
          </p:cNvPicPr>
          <p:nvPr/>
        </p:nvPicPr>
        <p:blipFill>
          <a:blip r:embed="rIdMarcador"/>
          <a:stretch/>
        </p:blipFill>
        <p:spPr>
          <a:xfrm>
            <a:off x="436644" y="4135346"/>
            <a:ext cx="5191894" cy="1625374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E37D3E3E-3994-937E-2610-35EA23994A74}"/>
              </a:ext>
            </a:extLst>
          </p:cNvPr>
          <p:cNvPicPr>
            <a:picLocks noChangeAspect="1"/>
          </p:cNvPicPr>
          <p:nvPr/>
        </p:nvPicPr>
        <p:blipFill>
          <a:blip r:embed="rIdMarcador"/>
          <a:stretch/>
        </p:blipFill>
        <p:spPr>
          <a:xfrm>
            <a:off x="436644" y="1783550"/>
            <a:ext cx="5191894" cy="1513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1440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3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4ADAE7-A0A8-5BAF-8269-A5291670F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584B5CCC-8F94-FA69-CA0C-EEA4A0139305}"/>
              </a:ext>
            </a:extLst>
          </p:cNvPr>
          <p:cNvSpPr/>
          <p:nvPr/>
        </p:nvSpPr>
        <p:spPr>
          <a:xfrm>
            <a:off x="2869581" y="202582"/>
            <a:ext cx="6452840" cy="6452838"/>
          </a:xfrm>
          <a:prstGeom prst="ellipse">
            <a:avLst/>
          </a:prstGeom>
          <a:solidFill>
            <a:srgbClr val="12231D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LT" sz="8000" b="1" i="0" u="none" strike="noStrike" kern="1200" cap="none" spc="-15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aleway" panose="020B0503030101060003" pitchFamily="34" charset="77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EF6600D-04CD-20B9-2BCE-09354D446E3E}"/>
              </a:ext>
            </a:extLst>
          </p:cNvPr>
          <p:cNvSpPr/>
          <p:nvPr/>
        </p:nvSpPr>
        <p:spPr>
          <a:xfrm>
            <a:off x="2947643" y="3389971"/>
            <a:ext cx="6296718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6000" b="1" i="0" u="none" strike="noStrike" kern="1200" cap="none" spc="-15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uLnTx/>
                <a:uFillTx/>
                <a:latin typeface="Raleway Black" panose="020B0503030101060003" pitchFamily="34" charset="77"/>
                <a:ea typeface="+mn-ea"/>
                <a:cs typeface="+mn-cs"/>
              </a:rPr>
              <a:t>DIFUSIONES</a:t>
            </a:r>
            <a:endParaRPr kumimoji="0" lang="en-LT" sz="6000" b="1" i="0" u="none" strike="noStrike" kern="1200" cap="none" spc="-150" normalizeH="0" baseline="0" noProof="0" dirty="0">
              <a:ln>
                <a:noFill/>
              </a:ln>
              <a:solidFill>
                <a:srgbClr val="FFFFFF"/>
              </a:solidFill>
              <a:effectLst>
                <a:outerShdw blurRad="419100" sx="102000" sy="102000" algn="ctr" rotWithShape="0">
                  <a:prstClr val="black">
                    <a:alpha val="29000"/>
                  </a:prstClr>
                </a:outerShdw>
              </a:effectLst>
              <a:uLnTx/>
              <a:uFillTx/>
              <a:latin typeface="Raleway Black" panose="020B0503030101060003" pitchFamily="34" charset="77"/>
              <a:ea typeface="+mn-ea"/>
              <a:cs typeface="+mn-cs"/>
            </a:endParaRPr>
          </a:p>
        </p:txBody>
      </p:sp>
      <p:pic>
        <p:nvPicPr>
          <p:cNvPr id="5" name="Graphic 6">
            <a:extLst>
              <a:ext uri="{FF2B5EF4-FFF2-40B4-BE49-F238E27FC236}">
                <a16:creationId xmlns:a16="http://schemas.microsoft.com/office/drawing/2014/main" id="{608DB805-6DE5-6C3D-CCF5-74B1810939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915944" y="823073"/>
            <a:ext cx="2360111" cy="236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5405576"/>
      </p:ext>
    </p:extLst>
  </p:cSld>
  <p:clrMapOvr>
    <a:masterClrMapping/>
  </p:clrMapOvr>
  <p:transition spd="slow" advTm="0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5DE32C-16F0-CA38-CBF0-FDA293A33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56D70DEF-307D-04A5-E948-D138A6AFCF7E}"/>
              </a:ext>
            </a:extLst>
          </p:cNvPr>
          <p:cNvSpPr/>
          <p:nvPr/>
        </p:nvSpPr>
        <p:spPr>
          <a:xfrm>
            <a:off x="2869581" y="202581"/>
            <a:ext cx="6452840" cy="6452838"/>
          </a:xfrm>
          <a:prstGeom prst="ellipse">
            <a:avLst/>
          </a:prstGeom>
          <a:solidFill>
            <a:srgbClr val="12231D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LT" sz="8000" b="1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aleway" panose="020B0503030101060003" pitchFamily="34" charset="77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375FA45-FA96-A3B4-C9E3-D42D4D194A5C}"/>
              </a:ext>
            </a:extLst>
          </p:cNvPr>
          <p:cNvSpPr/>
          <p:nvPr/>
        </p:nvSpPr>
        <p:spPr>
          <a:xfrm>
            <a:off x="4624033" y="521966"/>
            <a:ext cx="3159557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4000" b="1" i="0" u="none" strike="noStrike" kern="1200" cap="none" spc="-15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uLnTx/>
                <a:uFillTx/>
                <a:latin typeface="Raleway Black" panose="020B0503030101060003" pitchFamily="34" charset="77"/>
                <a:ea typeface="+mn-ea"/>
                <a:cs typeface="+mn-cs"/>
              </a:rPr>
              <a:t>DIFUSIONES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4000" b="1" i="0" u="none" strike="noStrike" kern="1200" cap="none" spc="-15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uLnTx/>
                <a:uFillTx/>
                <a:latin typeface="Raleway Black" panose="020B0503030101060003" pitchFamily="34" charset="77"/>
                <a:ea typeface="+mn-ea"/>
                <a:cs typeface="+mn-cs"/>
              </a:rPr>
              <a:t> </a:t>
            </a:r>
            <a:r>
              <a:rPr lang="es-CL" sz="4000" b="1" spc="-150" dirty="0"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latin typeface="Raleway Black" panose="020B0503030101060003" pitchFamily="34" charset="77"/>
              </a:rPr>
              <a:t>26 AGOSTO</a:t>
            </a:r>
            <a:endParaRPr kumimoji="0" lang="en-LT" sz="4000" b="1" i="0" u="none" strike="noStrike" kern="1200" cap="none" spc="-150" normalizeH="0" baseline="0" noProof="0" dirty="0">
              <a:ln>
                <a:noFill/>
              </a:ln>
              <a:solidFill>
                <a:srgbClr val="FFFFFF"/>
              </a:solidFill>
              <a:effectLst>
                <a:outerShdw blurRad="419100" sx="102000" sy="102000" algn="ctr" rotWithShape="0">
                  <a:prstClr val="black">
                    <a:alpha val="29000"/>
                  </a:prstClr>
                </a:outerShdw>
              </a:effectLst>
              <a:uLnTx/>
              <a:uFillTx/>
              <a:latin typeface="Raleway Black" panose="020B0503030101060003" pitchFamily="34" charset="77"/>
              <a:ea typeface="+mn-ea"/>
              <a:cs typeface="+mn-cs"/>
            </a:endParaRPr>
          </a:p>
        </p:txBody>
      </p:sp>
      <p:grpSp>
        <p:nvGrpSpPr>
          <p:cNvPr id="34" name="Grupo 33">
            <a:extLst>
              <a:ext uri="{FF2B5EF4-FFF2-40B4-BE49-F238E27FC236}">
                <a16:creationId xmlns:a16="http://schemas.microsoft.com/office/drawing/2014/main" id="{515A25BC-8DBF-7891-1D2D-8A2ACFA26DDE}"/>
              </a:ext>
            </a:extLst>
          </p:cNvPr>
          <p:cNvGrpSpPr/>
          <p:nvPr/>
        </p:nvGrpSpPr>
        <p:grpSpPr>
          <a:xfrm>
            <a:off x="8123127" y="1363197"/>
            <a:ext cx="2876727" cy="3780302"/>
            <a:chOff x="1152397" y="1478436"/>
            <a:chExt cx="2292860" cy="3293982"/>
          </a:xfrm>
        </p:grpSpPr>
        <p:pic>
          <p:nvPicPr>
            <p:cNvPr id="32" name="Imagen 31">
              <a:extLst>
                <a:ext uri="{FF2B5EF4-FFF2-40B4-BE49-F238E27FC236}">
                  <a16:creationId xmlns:a16="http://schemas.microsoft.com/office/drawing/2014/main" id="{60CD43A9-077F-D504-ADDA-FF50FB7FCF61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1351450" y="1478436"/>
              <a:ext cx="2093807" cy="3293982"/>
            </a:xfrm>
            <a:prstGeom prst="rect">
              <a:avLst/>
            </a:prstGeom>
          </p:spPr>
        </p:pic>
        <p:sp>
          <p:nvSpPr>
            <p:cNvPr id="33" name="Rectángulo 32">
              <a:extLst>
                <a:ext uri="{FF2B5EF4-FFF2-40B4-BE49-F238E27FC236}">
                  <a16:creationId xmlns:a16="http://schemas.microsoft.com/office/drawing/2014/main" id="{722962B9-ED37-4ABD-FB72-395C76D5E430}"/>
                </a:ext>
              </a:extLst>
            </p:cNvPr>
            <p:cNvSpPr/>
            <p:nvPr/>
          </p:nvSpPr>
          <p:spPr>
            <a:xfrm rot="16200000">
              <a:off x="-372748" y="3003581"/>
              <a:ext cx="3293981" cy="243691"/>
            </a:xfrm>
            <a:prstGeom prst="rect">
              <a:avLst/>
            </a:prstGeom>
            <a:solidFill>
              <a:schemeClr val="accent1">
                <a:alpha val="95000"/>
              </a:schemeClr>
            </a:solidFill>
            <a:ln w="3175">
              <a:solidFill>
                <a:schemeClr val="bg1"/>
              </a:solidFill>
            </a:ln>
            <a:effectLst>
              <a:softEdge rad="12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900" dirty="0"/>
                <a:t>ART: CONDUCCION DE VEHICULO LIVIANO.</a:t>
              </a:r>
              <a:endParaRPr lang="es-CL" sz="900" dirty="0"/>
            </a:p>
          </p:txBody>
        </p:sp>
      </p:grpSp>
      <p:pic>
        <p:nvPicPr>
          <p:cNvPr id="50" name="Imagen 49" descr="Imagen que contiene botella, edificio, naranja, alimentos&#10;&#10;El contenido generado por IA puede ser incorrecto.">
            <a:extLst>
              <a:ext uri="{FF2B5EF4-FFF2-40B4-BE49-F238E27FC236}">
                <a16:creationId xmlns:a16="http://schemas.microsoft.com/office/drawing/2014/main" id="{BE40A5AD-F4EF-9DCC-46A7-652EBF3C7F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4978" y="503206"/>
            <a:ext cx="1390747" cy="1390747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396E7141-2970-3589-2512-990DE6035678}"/>
              </a:ext>
            </a:extLst>
          </p:cNvPr>
          <p:cNvPicPr>
            <a:picLocks noChangeAspect="1"/>
          </p:cNvPicPr>
          <p:nvPr/>
        </p:nvPicPr>
        <p:blipFill>
          <a:blip r:embed="rIdMarcador"/>
          <a:stretch/>
        </p:blipFill>
        <p:spPr>
          <a:xfrm>
            <a:off x="4322382" y="4066419"/>
            <a:ext cx="2907198" cy="253535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4D165E22-DCD6-5CEA-6099-E905EFF5C07A}"/>
              </a:ext>
            </a:extLst>
          </p:cNvPr>
          <p:cNvSpPr txBox="1"/>
          <p:nvPr/>
        </p:nvSpPr>
        <p:spPr>
          <a:xfrm>
            <a:off x="3459559" y="2222306"/>
            <a:ext cx="461553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600" b="1" dirty="0">
                <a:solidFill>
                  <a:schemeClr val="bg1"/>
                </a:solidFill>
              </a:rPr>
              <a:t>DIFUSIÓN POR STREAMING FLORA Y FAUNA EL SALVADOR CHILE.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6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600" b="1" dirty="0">
                <a:solidFill>
                  <a:schemeClr val="bg1"/>
                </a:solidFill>
              </a:rPr>
              <a:t>REUNIÓN CON SSO/ADC SOBRE RF1.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6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600" b="1" dirty="0">
                <a:solidFill>
                  <a:schemeClr val="bg1"/>
                </a:solidFill>
              </a:rPr>
              <a:t>REUNIÓN MENSUAL DE SSO.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200" b="1" dirty="0">
              <a:solidFill>
                <a:schemeClr val="bg1"/>
              </a:solidFill>
            </a:endParaRPr>
          </a:p>
        </p:txBody>
      </p:sp>
      <p:grpSp>
        <p:nvGrpSpPr>
          <p:cNvPr id="27" name="Grupo 26">
            <a:extLst>
              <a:ext uri="{FF2B5EF4-FFF2-40B4-BE49-F238E27FC236}">
                <a16:creationId xmlns:a16="http://schemas.microsoft.com/office/drawing/2014/main" id="{C772F296-2387-5CE9-3607-0AEE7400356E}"/>
              </a:ext>
            </a:extLst>
          </p:cNvPr>
          <p:cNvGrpSpPr/>
          <p:nvPr/>
        </p:nvGrpSpPr>
        <p:grpSpPr>
          <a:xfrm>
            <a:off x="255420" y="1266682"/>
            <a:ext cx="2882929" cy="4383317"/>
            <a:chOff x="205028" y="959019"/>
            <a:chExt cx="2296215" cy="2964273"/>
          </a:xfrm>
        </p:grpSpPr>
        <p:sp>
          <p:nvSpPr>
            <p:cNvPr id="28" name="Rectángulo 27">
              <a:extLst>
                <a:ext uri="{FF2B5EF4-FFF2-40B4-BE49-F238E27FC236}">
                  <a16:creationId xmlns:a16="http://schemas.microsoft.com/office/drawing/2014/main" id="{54C356D1-9AA5-DFAD-9C09-6575EC4642D8}"/>
                </a:ext>
              </a:extLst>
            </p:cNvPr>
            <p:cNvSpPr/>
            <p:nvPr/>
          </p:nvSpPr>
          <p:spPr>
            <a:xfrm>
              <a:off x="205028" y="959019"/>
              <a:ext cx="2296215" cy="300625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900" b="1" dirty="0"/>
                <a:t>DIFUSIÓN POR STREAMING FLORA Y FAUNA EL SALVADOR CHILE.</a:t>
              </a:r>
            </a:p>
          </p:txBody>
        </p:sp>
        <p:pic>
          <p:nvPicPr>
            <p:cNvPr id="29" name="Imagen 28">
              <a:extLst>
                <a:ext uri="{FF2B5EF4-FFF2-40B4-BE49-F238E27FC236}">
                  <a16:creationId xmlns:a16="http://schemas.microsoft.com/office/drawing/2014/main" id="{BBEFE864-C1D9-861D-FB65-84FE56A7FCB8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205028" y="1259644"/>
              <a:ext cx="2296215" cy="2663648"/>
            </a:xfrm>
            <a:prstGeom prst="rect">
              <a:avLst/>
            </a:prstGeom>
          </p:spPr>
        </p:pic>
      </p:grpSp>
      <p:grpSp>
        <p:nvGrpSpPr>
          <p:cNvPr id="3" name="Grupo 2">
            <a:extLst>
              <a:ext uri="{FF2B5EF4-FFF2-40B4-BE49-F238E27FC236}">
                <a16:creationId xmlns:a16="http://schemas.microsoft.com/office/drawing/2014/main" id="{3121EBD4-044C-AF43-8884-76FCC4897F46}"/>
              </a:ext>
            </a:extLst>
          </p:cNvPr>
          <p:cNvGrpSpPr/>
          <p:nvPr/>
        </p:nvGrpSpPr>
        <p:grpSpPr>
          <a:xfrm>
            <a:off x="8422846" y="1772396"/>
            <a:ext cx="2950770" cy="3877603"/>
            <a:chOff x="1152397" y="1478436"/>
            <a:chExt cx="2292860" cy="3293982"/>
          </a:xfrm>
        </p:grpSpPr>
        <p:pic>
          <p:nvPicPr>
            <p:cNvPr id="5" name="Imagen 4">
              <a:extLst>
                <a:ext uri="{FF2B5EF4-FFF2-40B4-BE49-F238E27FC236}">
                  <a16:creationId xmlns:a16="http://schemas.microsoft.com/office/drawing/2014/main" id="{2799B632-3B15-1D76-0CC2-B91A500DDB23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1351450" y="1478437"/>
              <a:ext cx="2093807" cy="3293981"/>
            </a:xfrm>
            <a:prstGeom prst="rect">
              <a:avLst/>
            </a:prstGeom>
          </p:spPr>
        </p:pic>
        <p:sp>
          <p:nvSpPr>
            <p:cNvPr id="6" name="Rectángulo 5">
              <a:extLst>
                <a:ext uri="{FF2B5EF4-FFF2-40B4-BE49-F238E27FC236}">
                  <a16:creationId xmlns:a16="http://schemas.microsoft.com/office/drawing/2014/main" id="{7C2F451B-460D-BB83-4190-209171279F87}"/>
                </a:ext>
              </a:extLst>
            </p:cNvPr>
            <p:cNvSpPr/>
            <p:nvPr/>
          </p:nvSpPr>
          <p:spPr>
            <a:xfrm rot="16200000">
              <a:off x="-372748" y="3003581"/>
              <a:ext cx="3293981" cy="243691"/>
            </a:xfrm>
            <a:prstGeom prst="rect">
              <a:avLst/>
            </a:prstGeom>
            <a:solidFill>
              <a:schemeClr val="accent1">
                <a:alpha val="95000"/>
              </a:schemeClr>
            </a:solidFill>
            <a:ln w="3175">
              <a:solidFill>
                <a:schemeClr val="bg1"/>
              </a:solidFill>
            </a:ln>
            <a:effectLst>
              <a:softEdge rad="12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900" dirty="0"/>
                <a:t>ART: MANTENIMIENTO PREVENTIVO LTE_CMM_07.</a:t>
              </a:r>
              <a:endParaRPr lang="es-CL" sz="900" dirty="0"/>
            </a:p>
          </p:txBody>
        </p:sp>
      </p:grpSp>
      <p:grpSp>
        <p:nvGrpSpPr>
          <p:cNvPr id="7" name="Grupo 6">
            <a:extLst>
              <a:ext uri="{FF2B5EF4-FFF2-40B4-BE49-F238E27FC236}">
                <a16:creationId xmlns:a16="http://schemas.microsoft.com/office/drawing/2014/main" id="{653C706E-4BB2-8976-556A-FBA9A2590FFA}"/>
              </a:ext>
            </a:extLst>
          </p:cNvPr>
          <p:cNvGrpSpPr/>
          <p:nvPr/>
        </p:nvGrpSpPr>
        <p:grpSpPr>
          <a:xfrm>
            <a:off x="534033" y="1650065"/>
            <a:ext cx="2907198" cy="2785679"/>
            <a:chOff x="205028" y="959019"/>
            <a:chExt cx="2315545" cy="1883851"/>
          </a:xfrm>
        </p:grpSpPr>
        <p:sp>
          <p:nvSpPr>
            <p:cNvPr id="8" name="Rectángulo 7">
              <a:extLst>
                <a:ext uri="{FF2B5EF4-FFF2-40B4-BE49-F238E27FC236}">
                  <a16:creationId xmlns:a16="http://schemas.microsoft.com/office/drawing/2014/main" id="{72453AEB-86D2-E74E-EF77-3E8493DC137D}"/>
                </a:ext>
              </a:extLst>
            </p:cNvPr>
            <p:cNvSpPr/>
            <p:nvPr/>
          </p:nvSpPr>
          <p:spPr>
            <a:xfrm>
              <a:off x="205028" y="959019"/>
              <a:ext cx="2296215" cy="300625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000" b="1" dirty="0"/>
                <a:t>REUNIÓN MENSUAL DE SSO.</a:t>
              </a:r>
            </a:p>
          </p:txBody>
        </p:sp>
        <p:pic>
          <p:nvPicPr>
            <p:cNvPr id="9" name="Imagen 8">
              <a:extLst>
                <a:ext uri="{FF2B5EF4-FFF2-40B4-BE49-F238E27FC236}">
                  <a16:creationId xmlns:a16="http://schemas.microsoft.com/office/drawing/2014/main" id="{120BB4FD-5659-5ECE-9EF3-E102BA4835C1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224358" y="1265361"/>
              <a:ext cx="2296215" cy="1577509"/>
            </a:xfrm>
            <a:prstGeom prst="rect">
              <a:avLst/>
            </a:prstGeom>
          </p:spPr>
        </p:pic>
      </p:grpSp>
      <p:grpSp>
        <p:nvGrpSpPr>
          <p:cNvPr id="10" name="Grupo 9">
            <a:extLst>
              <a:ext uri="{FF2B5EF4-FFF2-40B4-BE49-F238E27FC236}">
                <a16:creationId xmlns:a16="http://schemas.microsoft.com/office/drawing/2014/main" id="{CBF23DE4-DF70-3CBF-51DF-4A6EA3D676F2}"/>
              </a:ext>
            </a:extLst>
          </p:cNvPr>
          <p:cNvGrpSpPr/>
          <p:nvPr/>
        </p:nvGrpSpPr>
        <p:grpSpPr>
          <a:xfrm>
            <a:off x="8728593" y="2352662"/>
            <a:ext cx="3008217" cy="3877602"/>
            <a:chOff x="1152397" y="1478436"/>
            <a:chExt cx="2337499" cy="3293981"/>
          </a:xfrm>
        </p:grpSpPr>
        <p:pic>
          <p:nvPicPr>
            <p:cNvPr id="13" name="Imagen 12">
              <a:extLst>
                <a:ext uri="{FF2B5EF4-FFF2-40B4-BE49-F238E27FC236}">
                  <a16:creationId xmlns:a16="http://schemas.microsoft.com/office/drawing/2014/main" id="{BE0452AC-BFC6-459C-6359-EA707C47EA8A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1396089" y="1491318"/>
              <a:ext cx="2093807" cy="3268216"/>
            </a:xfrm>
            <a:prstGeom prst="rect">
              <a:avLst/>
            </a:prstGeom>
          </p:spPr>
        </p:pic>
        <p:sp>
          <p:nvSpPr>
            <p:cNvPr id="17" name="Rectángulo 16">
              <a:extLst>
                <a:ext uri="{FF2B5EF4-FFF2-40B4-BE49-F238E27FC236}">
                  <a16:creationId xmlns:a16="http://schemas.microsoft.com/office/drawing/2014/main" id="{BE43752D-ED4F-6FD2-CB6F-378841AC1475}"/>
                </a:ext>
              </a:extLst>
            </p:cNvPr>
            <p:cNvSpPr/>
            <p:nvPr/>
          </p:nvSpPr>
          <p:spPr>
            <a:xfrm rot="16200000">
              <a:off x="-372748" y="3003581"/>
              <a:ext cx="3293981" cy="243691"/>
            </a:xfrm>
            <a:prstGeom prst="rect">
              <a:avLst/>
            </a:prstGeom>
            <a:solidFill>
              <a:schemeClr val="accent1">
                <a:alpha val="95000"/>
              </a:schemeClr>
            </a:solidFill>
            <a:ln w="3175">
              <a:solidFill>
                <a:schemeClr val="bg1"/>
              </a:solidFill>
            </a:ln>
            <a:effectLst>
              <a:softEdge rad="12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900" dirty="0"/>
                <a:t>ART: CAMBIO DE BATERÍA DE GENERADOR LTE_MMOO_01</a:t>
              </a:r>
              <a:endParaRPr lang="es-CL" sz="900" dirty="0"/>
            </a:p>
          </p:txBody>
        </p:sp>
      </p:grpSp>
      <p:grpSp>
        <p:nvGrpSpPr>
          <p:cNvPr id="18" name="Grupo 17">
            <a:extLst>
              <a:ext uri="{FF2B5EF4-FFF2-40B4-BE49-F238E27FC236}">
                <a16:creationId xmlns:a16="http://schemas.microsoft.com/office/drawing/2014/main" id="{387ADFC0-07F8-1559-C8F1-B1CCD8CDC965}"/>
              </a:ext>
            </a:extLst>
          </p:cNvPr>
          <p:cNvGrpSpPr/>
          <p:nvPr/>
        </p:nvGrpSpPr>
        <p:grpSpPr>
          <a:xfrm>
            <a:off x="9036181" y="2718378"/>
            <a:ext cx="3008217" cy="3877602"/>
            <a:chOff x="1152397" y="1478436"/>
            <a:chExt cx="2337499" cy="3293981"/>
          </a:xfrm>
        </p:grpSpPr>
        <p:pic>
          <p:nvPicPr>
            <p:cNvPr id="19" name="Imagen 18">
              <a:extLst>
                <a:ext uri="{FF2B5EF4-FFF2-40B4-BE49-F238E27FC236}">
                  <a16:creationId xmlns:a16="http://schemas.microsoft.com/office/drawing/2014/main" id="{42B46F60-0DAA-5EC0-A456-7B57BB418BFF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1396089" y="1504200"/>
              <a:ext cx="2093807" cy="3268216"/>
            </a:xfrm>
            <a:prstGeom prst="rect">
              <a:avLst/>
            </a:prstGeom>
          </p:spPr>
        </p:pic>
        <p:sp>
          <p:nvSpPr>
            <p:cNvPr id="20" name="Rectángulo 19">
              <a:extLst>
                <a:ext uri="{FF2B5EF4-FFF2-40B4-BE49-F238E27FC236}">
                  <a16:creationId xmlns:a16="http://schemas.microsoft.com/office/drawing/2014/main" id="{0563CE83-6126-CDCA-3140-9F642921E228}"/>
                </a:ext>
              </a:extLst>
            </p:cNvPr>
            <p:cNvSpPr/>
            <p:nvPr/>
          </p:nvSpPr>
          <p:spPr>
            <a:xfrm rot="16200000">
              <a:off x="-372748" y="3003581"/>
              <a:ext cx="3293981" cy="243691"/>
            </a:xfrm>
            <a:prstGeom prst="rect">
              <a:avLst/>
            </a:prstGeom>
            <a:solidFill>
              <a:schemeClr val="accent1">
                <a:alpha val="95000"/>
              </a:schemeClr>
            </a:solidFill>
            <a:ln w="3175">
              <a:solidFill>
                <a:schemeClr val="bg1"/>
              </a:solidFill>
            </a:ln>
            <a:effectLst>
              <a:softEdge rad="12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900" dirty="0"/>
                <a:t>ART: ATENCIÓN FALLA CARRO LIGHT LTE_12</a:t>
              </a:r>
              <a:endParaRPr lang="es-CL" sz="9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674825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3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08BB87-2EA6-C52C-B31E-6DE89264B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BDBD5D22-1A0B-10B6-6C7C-AE73F57685F1}"/>
              </a:ext>
            </a:extLst>
          </p:cNvPr>
          <p:cNvSpPr/>
          <p:nvPr/>
        </p:nvSpPr>
        <p:spPr>
          <a:xfrm>
            <a:off x="2869581" y="202582"/>
            <a:ext cx="6452840" cy="6452838"/>
          </a:xfrm>
          <a:prstGeom prst="ellipse">
            <a:avLst/>
          </a:prstGeom>
          <a:solidFill>
            <a:srgbClr val="12231D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LT" sz="8000" b="1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aleway" panose="020B0503030101060003" pitchFamily="34" charset="77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98BEEA-A132-CA74-5A39-332801B4A5F0}"/>
              </a:ext>
            </a:extLst>
          </p:cNvPr>
          <p:cNvSpPr/>
          <p:nvPr/>
        </p:nvSpPr>
        <p:spPr>
          <a:xfrm>
            <a:off x="4549482" y="551403"/>
            <a:ext cx="3105083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4000" b="1" i="0" u="none" strike="noStrike" kern="1200" cap="none" spc="-15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uLnTx/>
                <a:uFillTx/>
                <a:latin typeface="Raleway Black" panose="020B0503030101060003" pitchFamily="34" charset="77"/>
                <a:ea typeface="+mn-ea"/>
                <a:cs typeface="+mn-cs"/>
              </a:rPr>
              <a:t>DIFUSIONES</a:t>
            </a:r>
          </a:p>
          <a:p>
            <a:pPr>
              <a:defRPr/>
            </a:pPr>
            <a:r>
              <a:rPr lang="es-CL" sz="4000" b="1" spc="-150" dirty="0"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latin typeface="Raleway Black" panose="020B0503030101060003" pitchFamily="34" charset="77"/>
              </a:rPr>
              <a:t>27 AGOSTO</a:t>
            </a:r>
            <a:endParaRPr kumimoji="0" lang="en-LT" sz="4000" b="1" i="0" u="none" strike="noStrike" kern="1200" cap="none" spc="-150" normalizeH="0" baseline="0" noProof="0" dirty="0">
              <a:ln>
                <a:noFill/>
              </a:ln>
              <a:solidFill>
                <a:srgbClr val="FFFFFF"/>
              </a:solidFill>
              <a:effectLst>
                <a:outerShdw blurRad="419100" sx="102000" sy="102000" algn="ctr" rotWithShape="0">
                  <a:prstClr val="black">
                    <a:alpha val="29000"/>
                  </a:prstClr>
                </a:outerShdw>
              </a:effectLst>
              <a:uLnTx/>
              <a:uFillTx/>
              <a:latin typeface="Raleway Black" panose="020B0503030101060003" pitchFamily="34" charset="77"/>
              <a:ea typeface="+mn-ea"/>
              <a:cs typeface="+mn-cs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26F2AF7F-0F76-820F-1E4E-BDE5F7A0F586}"/>
              </a:ext>
            </a:extLst>
          </p:cNvPr>
          <p:cNvSpPr txBox="1"/>
          <p:nvPr/>
        </p:nvSpPr>
        <p:spPr>
          <a:xfrm>
            <a:off x="3446608" y="2108715"/>
            <a:ext cx="5130289" cy="27699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b="1" dirty="0">
                <a:solidFill>
                  <a:schemeClr val="bg1"/>
                </a:solidFill>
              </a:rPr>
              <a:t>DIFUSIÓN POR STREAMING EFICIENCIA ENERGÉTICA.</a:t>
            </a:r>
          </a:p>
          <a:p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b="1" dirty="0">
                <a:solidFill>
                  <a:schemeClr val="bg1"/>
                </a:solidFill>
              </a:rPr>
              <a:t>REUNIÓN ONLINE DE INICIO DE TFDS</a:t>
            </a:r>
          </a:p>
          <a:p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b="1" dirty="0">
                <a:solidFill>
                  <a:schemeClr val="bg1"/>
                </a:solidFill>
              </a:rPr>
              <a:t>REUNIÓN DE TRONADURA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2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2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2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CL" sz="1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CL" sz="1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CL" sz="8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CL" sz="8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</p:txBody>
      </p:sp>
      <p:grpSp>
        <p:nvGrpSpPr>
          <p:cNvPr id="56" name="Grupo 55">
            <a:extLst>
              <a:ext uri="{FF2B5EF4-FFF2-40B4-BE49-F238E27FC236}">
                <a16:creationId xmlns:a16="http://schemas.microsoft.com/office/drawing/2014/main" id="{D2840836-C760-B10B-8858-0C885F494BAA}"/>
              </a:ext>
            </a:extLst>
          </p:cNvPr>
          <p:cNvGrpSpPr/>
          <p:nvPr/>
        </p:nvGrpSpPr>
        <p:grpSpPr>
          <a:xfrm>
            <a:off x="54054" y="1333500"/>
            <a:ext cx="2572070" cy="3639128"/>
            <a:chOff x="205028" y="975723"/>
            <a:chExt cx="2296215" cy="3144816"/>
          </a:xfrm>
        </p:grpSpPr>
        <p:sp>
          <p:nvSpPr>
            <p:cNvPr id="63" name="Rectángulo 62">
              <a:extLst>
                <a:ext uri="{FF2B5EF4-FFF2-40B4-BE49-F238E27FC236}">
                  <a16:creationId xmlns:a16="http://schemas.microsoft.com/office/drawing/2014/main" id="{6FE142F1-CD54-5262-C450-928D6CCE4F8A}"/>
                </a:ext>
              </a:extLst>
            </p:cNvPr>
            <p:cNvSpPr/>
            <p:nvPr/>
          </p:nvSpPr>
          <p:spPr>
            <a:xfrm>
              <a:off x="205028" y="975723"/>
              <a:ext cx="2296215" cy="283920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800" b="1" dirty="0">
                  <a:latin typeface="Arial MT"/>
                  <a:ea typeface="Arial MT"/>
                  <a:cs typeface="Arial MT"/>
                </a:rPr>
                <a:t>Difusión por Streaming Eficiencia Energética.</a:t>
              </a:r>
            </a:p>
          </p:txBody>
        </p:sp>
        <p:pic>
          <p:nvPicPr>
            <p:cNvPr id="55" name="Imagen 54">
              <a:extLst>
                <a:ext uri="{FF2B5EF4-FFF2-40B4-BE49-F238E27FC236}">
                  <a16:creationId xmlns:a16="http://schemas.microsoft.com/office/drawing/2014/main" id="{49745696-2E24-AA6F-207F-1A5F0C0369C2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221793" y="1259643"/>
              <a:ext cx="2275291" cy="2860896"/>
            </a:xfrm>
            <a:prstGeom prst="rect">
              <a:avLst/>
            </a:prstGeom>
          </p:spPr>
        </p:pic>
      </p:grpSp>
      <p:pic>
        <p:nvPicPr>
          <p:cNvPr id="21" name="Imagen 20" descr="Imagen que contiene botella, edificio, naranja, alimentos&#10;&#10;El contenido generado por IA puede ser incorrecto.">
            <a:extLst>
              <a:ext uri="{FF2B5EF4-FFF2-40B4-BE49-F238E27FC236}">
                <a16:creationId xmlns:a16="http://schemas.microsoft.com/office/drawing/2014/main" id="{19AD1D23-7645-6BDE-4B46-DFBCB1903D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0922" y="466776"/>
            <a:ext cx="1390747" cy="1390747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0FD5C422-FA8D-0F36-6426-2DCE78869407}"/>
              </a:ext>
            </a:extLst>
          </p:cNvPr>
          <p:cNvPicPr>
            <a:picLocks noChangeAspect="1"/>
          </p:cNvPicPr>
          <p:nvPr/>
        </p:nvPicPr>
        <p:blipFill>
          <a:blip r:embed="rIdMarcador">
            <a:lum contrast="20000"/>
          </a:blip>
          <a:stretch>
            <a:fillRect/>
          </a:stretch>
        </p:blipFill>
        <p:spPr>
          <a:xfrm>
            <a:off x="4171406" y="4392090"/>
            <a:ext cx="3843230" cy="227198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grpSp>
        <p:nvGrpSpPr>
          <p:cNvPr id="7" name="Grupo 6">
            <a:extLst>
              <a:ext uri="{FF2B5EF4-FFF2-40B4-BE49-F238E27FC236}">
                <a16:creationId xmlns:a16="http://schemas.microsoft.com/office/drawing/2014/main" id="{61F8E6EA-E2E2-B627-2DFE-C71EA55BA4DC}"/>
              </a:ext>
            </a:extLst>
          </p:cNvPr>
          <p:cNvGrpSpPr/>
          <p:nvPr/>
        </p:nvGrpSpPr>
        <p:grpSpPr>
          <a:xfrm>
            <a:off x="8553112" y="1162149"/>
            <a:ext cx="2814785" cy="3541070"/>
            <a:chOff x="5715277" y="559848"/>
            <a:chExt cx="2343799" cy="2677401"/>
          </a:xfrm>
        </p:grpSpPr>
        <p:pic>
          <p:nvPicPr>
            <p:cNvPr id="17" name="Imagen 16">
              <a:extLst>
                <a:ext uri="{FF2B5EF4-FFF2-40B4-BE49-F238E27FC236}">
                  <a16:creationId xmlns:a16="http://schemas.microsoft.com/office/drawing/2014/main" id="{3A57CF8A-16E3-9868-4233-45940F1EF706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5907487" y="559848"/>
              <a:ext cx="2151589" cy="2670855"/>
            </a:xfrm>
            <a:prstGeom prst="rect">
              <a:avLst/>
            </a:prstGeom>
          </p:spPr>
        </p:pic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AA9EBED0-C33E-5EAC-D7CB-F44F36AE20C9}"/>
                </a:ext>
              </a:extLst>
            </p:cNvPr>
            <p:cNvSpPr txBox="1"/>
            <p:nvPr/>
          </p:nvSpPr>
          <p:spPr>
            <a:xfrm rot="16200000">
              <a:off x="4475954" y="1805718"/>
              <a:ext cx="2670854" cy="192208"/>
            </a:xfrm>
            <a:prstGeom prst="rect">
              <a:avLst/>
            </a:prstGeom>
            <a:solidFill>
              <a:srgbClr val="364383">
                <a:alpha val="95000"/>
              </a:srgb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900" dirty="0">
                  <a:solidFill>
                    <a:schemeClr val="bg1"/>
                  </a:solidFill>
                </a:rPr>
                <a:t>ART: CONDUCCION DE VEHICULO LIVIANO</a:t>
              </a:r>
              <a:endParaRPr lang="es-MX" sz="9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3" name="Grupo 2">
            <a:extLst>
              <a:ext uri="{FF2B5EF4-FFF2-40B4-BE49-F238E27FC236}">
                <a16:creationId xmlns:a16="http://schemas.microsoft.com/office/drawing/2014/main" id="{E320AD37-B1B2-131B-7B5E-56784CA26AD5}"/>
              </a:ext>
            </a:extLst>
          </p:cNvPr>
          <p:cNvGrpSpPr/>
          <p:nvPr/>
        </p:nvGrpSpPr>
        <p:grpSpPr>
          <a:xfrm>
            <a:off x="8739434" y="1431558"/>
            <a:ext cx="2814785" cy="3541070"/>
            <a:chOff x="5715277" y="559848"/>
            <a:chExt cx="2343799" cy="2677401"/>
          </a:xfrm>
        </p:grpSpPr>
        <p:pic>
          <p:nvPicPr>
            <p:cNvPr id="5" name="Imagen 4">
              <a:extLst>
                <a:ext uri="{FF2B5EF4-FFF2-40B4-BE49-F238E27FC236}">
                  <a16:creationId xmlns:a16="http://schemas.microsoft.com/office/drawing/2014/main" id="{7C3C00C6-B56E-532D-14B6-3C8D69CAC0EC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5907487" y="559848"/>
              <a:ext cx="2151589" cy="2670855"/>
            </a:xfrm>
            <a:prstGeom prst="rect">
              <a:avLst/>
            </a:prstGeom>
          </p:spPr>
        </p:pic>
        <p:sp>
          <p:nvSpPr>
            <p:cNvPr id="6" name="CuadroTexto 5">
              <a:extLst>
                <a:ext uri="{FF2B5EF4-FFF2-40B4-BE49-F238E27FC236}">
                  <a16:creationId xmlns:a16="http://schemas.microsoft.com/office/drawing/2014/main" id="{4D4F4DEB-89FC-A5D9-D1CC-5503AB9C9C1F}"/>
                </a:ext>
              </a:extLst>
            </p:cNvPr>
            <p:cNvSpPr txBox="1"/>
            <p:nvPr/>
          </p:nvSpPr>
          <p:spPr>
            <a:xfrm rot="16200000">
              <a:off x="4475954" y="1805718"/>
              <a:ext cx="2670854" cy="192208"/>
            </a:xfrm>
            <a:prstGeom prst="rect">
              <a:avLst/>
            </a:prstGeom>
            <a:solidFill>
              <a:srgbClr val="364383">
                <a:alpha val="95000"/>
              </a:srgb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900" dirty="0">
                  <a:solidFill>
                    <a:schemeClr val="bg1"/>
                  </a:solidFill>
                </a:rPr>
                <a:t>ART: MANTENIMIENTO GENERADOR LTE_CMF_04</a:t>
              </a:r>
              <a:endParaRPr lang="es-MX" sz="9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" name="Grupo 7">
            <a:extLst>
              <a:ext uri="{FF2B5EF4-FFF2-40B4-BE49-F238E27FC236}">
                <a16:creationId xmlns:a16="http://schemas.microsoft.com/office/drawing/2014/main" id="{86E72B48-F90C-D1B4-B9C0-B020E217D2BC}"/>
              </a:ext>
            </a:extLst>
          </p:cNvPr>
          <p:cNvGrpSpPr/>
          <p:nvPr/>
        </p:nvGrpSpPr>
        <p:grpSpPr>
          <a:xfrm>
            <a:off x="297509" y="1674145"/>
            <a:ext cx="2572072" cy="1749111"/>
            <a:chOff x="205026" y="975723"/>
            <a:chExt cx="2296217" cy="1511525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B1EED112-2ED5-9555-BFFA-65500DB12C08}"/>
                </a:ext>
              </a:extLst>
            </p:cNvPr>
            <p:cNvSpPr/>
            <p:nvPr/>
          </p:nvSpPr>
          <p:spPr>
            <a:xfrm>
              <a:off x="205028" y="975723"/>
              <a:ext cx="2296215" cy="283920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800" b="1" dirty="0">
                  <a:latin typeface="Arial MT"/>
                  <a:ea typeface="Arial MT"/>
                  <a:cs typeface="Arial MT"/>
                </a:rPr>
                <a:t>Reunión online de inicio de TFDS</a:t>
              </a:r>
            </a:p>
          </p:txBody>
        </p:sp>
        <p:pic>
          <p:nvPicPr>
            <p:cNvPr id="12" name="Imagen 11">
              <a:extLst>
                <a:ext uri="{FF2B5EF4-FFF2-40B4-BE49-F238E27FC236}">
                  <a16:creationId xmlns:a16="http://schemas.microsoft.com/office/drawing/2014/main" id="{8BE0D6DA-272C-66C6-B61F-42E5393E0325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205026" y="1249188"/>
              <a:ext cx="2275291" cy="1238060"/>
            </a:xfrm>
            <a:prstGeom prst="rect">
              <a:avLst/>
            </a:prstGeom>
          </p:spPr>
        </p:pic>
      </p:grpSp>
      <p:grpSp>
        <p:nvGrpSpPr>
          <p:cNvPr id="13" name="Grupo 12">
            <a:extLst>
              <a:ext uri="{FF2B5EF4-FFF2-40B4-BE49-F238E27FC236}">
                <a16:creationId xmlns:a16="http://schemas.microsoft.com/office/drawing/2014/main" id="{CDE7F75A-6E48-393D-E811-72D7A454D6D5}"/>
              </a:ext>
            </a:extLst>
          </p:cNvPr>
          <p:cNvGrpSpPr/>
          <p:nvPr/>
        </p:nvGrpSpPr>
        <p:grpSpPr>
          <a:xfrm>
            <a:off x="498747" y="1990594"/>
            <a:ext cx="2572070" cy="3634944"/>
            <a:chOff x="205028" y="975723"/>
            <a:chExt cx="2296215" cy="3141200"/>
          </a:xfrm>
        </p:grpSpPr>
        <p:sp>
          <p:nvSpPr>
            <p:cNvPr id="14" name="Rectángulo 13">
              <a:extLst>
                <a:ext uri="{FF2B5EF4-FFF2-40B4-BE49-F238E27FC236}">
                  <a16:creationId xmlns:a16="http://schemas.microsoft.com/office/drawing/2014/main" id="{F5F86604-B689-8D3F-4DC2-265CC4128C0D}"/>
                </a:ext>
              </a:extLst>
            </p:cNvPr>
            <p:cNvSpPr/>
            <p:nvPr/>
          </p:nvSpPr>
          <p:spPr>
            <a:xfrm>
              <a:off x="205028" y="975723"/>
              <a:ext cx="2296215" cy="283920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800" b="1" dirty="0">
                  <a:latin typeface="Arial MT"/>
                  <a:ea typeface="Arial MT"/>
                  <a:cs typeface="Arial MT"/>
                </a:rPr>
                <a:t>Reunión de Tronadura</a:t>
              </a:r>
            </a:p>
          </p:txBody>
        </p:sp>
        <p:pic>
          <p:nvPicPr>
            <p:cNvPr id="15" name="Imagen 14">
              <a:extLst>
                <a:ext uri="{FF2B5EF4-FFF2-40B4-BE49-F238E27FC236}">
                  <a16:creationId xmlns:a16="http://schemas.microsoft.com/office/drawing/2014/main" id="{863D9B9D-643B-5B63-50AF-96F278BE33CF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221793" y="1263257"/>
              <a:ext cx="2275291" cy="2853666"/>
            </a:xfrm>
            <a:prstGeom prst="rect">
              <a:avLst/>
            </a:prstGeom>
          </p:spPr>
        </p:pic>
      </p:grpSp>
      <p:grpSp>
        <p:nvGrpSpPr>
          <p:cNvPr id="16" name="Grupo 15">
            <a:extLst>
              <a:ext uri="{FF2B5EF4-FFF2-40B4-BE49-F238E27FC236}">
                <a16:creationId xmlns:a16="http://schemas.microsoft.com/office/drawing/2014/main" id="{BDA36E71-E4EC-F112-7975-85A902A4105B}"/>
              </a:ext>
            </a:extLst>
          </p:cNvPr>
          <p:cNvGrpSpPr/>
          <p:nvPr/>
        </p:nvGrpSpPr>
        <p:grpSpPr>
          <a:xfrm>
            <a:off x="8970269" y="1735798"/>
            <a:ext cx="2814785" cy="3541070"/>
            <a:chOff x="5715277" y="559848"/>
            <a:chExt cx="2343799" cy="2677401"/>
          </a:xfrm>
        </p:grpSpPr>
        <p:pic>
          <p:nvPicPr>
            <p:cNvPr id="18" name="Imagen 17">
              <a:extLst>
                <a:ext uri="{FF2B5EF4-FFF2-40B4-BE49-F238E27FC236}">
                  <a16:creationId xmlns:a16="http://schemas.microsoft.com/office/drawing/2014/main" id="{33E504E1-E69A-D43B-B398-E339FEB42C65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5907487" y="559848"/>
              <a:ext cx="2151589" cy="2670855"/>
            </a:xfrm>
            <a:prstGeom prst="rect">
              <a:avLst/>
            </a:prstGeom>
          </p:spPr>
        </p:pic>
        <p:sp>
          <p:nvSpPr>
            <p:cNvPr id="20" name="CuadroTexto 19">
              <a:extLst>
                <a:ext uri="{FF2B5EF4-FFF2-40B4-BE49-F238E27FC236}">
                  <a16:creationId xmlns:a16="http://schemas.microsoft.com/office/drawing/2014/main" id="{E8CF8158-D8DF-8A36-ADC5-C713BC65947B}"/>
                </a:ext>
              </a:extLst>
            </p:cNvPr>
            <p:cNvSpPr txBox="1"/>
            <p:nvPr/>
          </p:nvSpPr>
          <p:spPr>
            <a:xfrm rot="16200000">
              <a:off x="4475954" y="1805718"/>
              <a:ext cx="2670854" cy="192208"/>
            </a:xfrm>
            <a:prstGeom prst="rect">
              <a:avLst/>
            </a:prstGeom>
            <a:solidFill>
              <a:srgbClr val="364383">
                <a:alpha val="95000"/>
              </a:srgb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900" dirty="0">
                  <a:solidFill>
                    <a:schemeClr val="bg1"/>
                  </a:solidFill>
                </a:rPr>
                <a:t>ART: ATENCIÓN FALLA CARRO LIGHT LTE_12</a:t>
              </a:r>
              <a:endParaRPr lang="es-MX" sz="900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092056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3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991F92-C89B-AF1A-5A3E-F51644D16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EEE13CAB-D69E-0217-B895-EF86C1DD252D}"/>
              </a:ext>
            </a:extLst>
          </p:cNvPr>
          <p:cNvSpPr/>
          <p:nvPr/>
        </p:nvSpPr>
        <p:spPr>
          <a:xfrm>
            <a:off x="2869581" y="179562"/>
            <a:ext cx="6452840" cy="6452838"/>
          </a:xfrm>
          <a:prstGeom prst="ellipse">
            <a:avLst/>
          </a:prstGeom>
          <a:solidFill>
            <a:srgbClr val="12231D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LT" sz="8000" b="1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aleway" panose="020B0503030101060003" pitchFamily="34" charset="77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06EB26B-0C7C-78BA-CDB2-E59912F12CBC}"/>
              </a:ext>
            </a:extLst>
          </p:cNvPr>
          <p:cNvSpPr/>
          <p:nvPr/>
        </p:nvSpPr>
        <p:spPr>
          <a:xfrm>
            <a:off x="4329615" y="626801"/>
            <a:ext cx="3871706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4000" b="1" i="0" u="none" strike="noStrike" kern="1200" cap="none" spc="-15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uLnTx/>
                <a:uFillTx/>
                <a:latin typeface="Raleway Black" panose="020B0503030101060003" pitchFamily="34" charset="77"/>
                <a:ea typeface="+mn-ea"/>
                <a:cs typeface="+mn-cs"/>
              </a:rPr>
              <a:t>DIFUSIONES</a:t>
            </a:r>
          </a:p>
          <a:p>
            <a:pPr>
              <a:defRPr/>
            </a:pPr>
            <a:r>
              <a:rPr lang="es-CL" sz="4000" b="1" spc="-150" dirty="0"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latin typeface="Raleway Black" panose="020B0503030101060003" pitchFamily="34" charset="77"/>
              </a:rPr>
              <a:t>28 AGOSTO</a:t>
            </a:r>
            <a:endParaRPr kumimoji="0" lang="en-LT" sz="4000" b="1" i="0" u="none" strike="noStrike" kern="1200" cap="none" spc="-150" normalizeH="0" baseline="0" noProof="0" dirty="0">
              <a:ln>
                <a:noFill/>
              </a:ln>
              <a:solidFill>
                <a:srgbClr val="FFFFFF"/>
              </a:solidFill>
              <a:effectLst>
                <a:outerShdw blurRad="419100" sx="102000" sy="102000" algn="ctr" rotWithShape="0">
                  <a:prstClr val="black">
                    <a:alpha val="29000"/>
                  </a:prstClr>
                </a:outerShdw>
              </a:effectLst>
              <a:uLnTx/>
              <a:uFillTx/>
              <a:latin typeface="Raleway Black" panose="020B0503030101060003" pitchFamily="34" charset="77"/>
              <a:ea typeface="+mn-ea"/>
              <a:cs typeface="+mn-cs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08F235E8-04B8-9E2C-31FC-CB796E5955F1}"/>
              </a:ext>
            </a:extLst>
          </p:cNvPr>
          <p:cNvSpPr txBox="1"/>
          <p:nvPr/>
        </p:nvSpPr>
        <p:spPr>
          <a:xfrm>
            <a:off x="3607643" y="2136361"/>
            <a:ext cx="4805680" cy="5324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1400" b="1" dirty="0">
                <a:solidFill>
                  <a:schemeClr val="bg1"/>
                </a:solidFill>
              </a:rPr>
              <a:t>DIFUSIÓN PROCEDIMIENTO USO INSPECCIÓN REEMPLAZO ALTA VISIBILIDAD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1400" b="1" dirty="0">
                <a:solidFill>
                  <a:schemeClr val="bg1"/>
                </a:solidFill>
              </a:rPr>
              <a:t>REUNIÓN DE TRONADURA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1400" b="1" dirty="0">
                <a:solidFill>
                  <a:schemeClr val="bg1"/>
                </a:solidFill>
              </a:rPr>
              <a:t>DIFUSION INFORME FLASH N°42 - REPORTE PREVENTIVO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1400" b="1" dirty="0">
                <a:solidFill>
                  <a:schemeClr val="bg1"/>
                </a:solidFill>
              </a:rPr>
              <a:t>DIFUSION INFORME FLASH N°43 DSAL – REPORTE PREVENTIVO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600" b="1" dirty="0">
              <a:solidFill>
                <a:schemeClr val="bg1"/>
              </a:solidFill>
            </a:endParaRPr>
          </a:p>
          <a:p>
            <a:endParaRPr lang="es-ES" sz="16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</p:txBody>
      </p:sp>
      <p:pic>
        <p:nvPicPr>
          <p:cNvPr id="49" name="Imagen 48" descr="Imagen que contiene botella, edificio, naranja, alimentos&#10;&#10;El contenido generado por IA puede ser incorrecto.">
            <a:extLst>
              <a:ext uri="{FF2B5EF4-FFF2-40B4-BE49-F238E27FC236}">
                <a16:creationId xmlns:a16="http://schemas.microsoft.com/office/drawing/2014/main" id="{C59D2F35-4DB9-A5FE-F503-263136488B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7123" y="462588"/>
            <a:ext cx="1390747" cy="1390747"/>
          </a:xfrm>
          <a:prstGeom prst="rect">
            <a:avLst/>
          </a:prstGeom>
        </p:spPr>
      </p:pic>
      <p:grpSp>
        <p:nvGrpSpPr>
          <p:cNvPr id="45" name="Grupo 44">
            <a:extLst>
              <a:ext uri="{FF2B5EF4-FFF2-40B4-BE49-F238E27FC236}">
                <a16:creationId xmlns:a16="http://schemas.microsoft.com/office/drawing/2014/main" id="{5C26937D-8A5E-8349-E449-79A829100CA1}"/>
              </a:ext>
            </a:extLst>
          </p:cNvPr>
          <p:cNvGrpSpPr/>
          <p:nvPr/>
        </p:nvGrpSpPr>
        <p:grpSpPr>
          <a:xfrm>
            <a:off x="8505107" y="1022834"/>
            <a:ext cx="2706170" cy="3686688"/>
            <a:chOff x="8849928" y="1276985"/>
            <a:chExt cx="2200575" cy="2772243"/>
          </a:xfrm>
        </p:grpSpPr>
        <p:pic>
          <p:nvPicPr>
            <p:cNvPr id="43" name="Imagen 42">
              <a:extLst>
                <a:ext uri="{FF2B5EF4-FFF2-40B4-BE49-F238E27FC236}">
                  <a16:creationId xmlns:a16="http://schemas.microsoft.com/office/drawing/2014/main" id="{778B3DE1-E979-BAC4-C59E-D85629665576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9093618" y="1276985"/>
              <a:ext cx="1956885" cy="2772243"/>
            </a:xfrm>
            <a:prstGeom prst="rect">
              <a:avLst/>
            </a:prstGeom>
          </p:spPr>
        </p:pic>
        <p:sp>
          <p:nvSpPr>
            <p:cNvPr id="44" name="Rectángulo 43">
              <a:extLst>
                <a:ext uri="{FF2B5EF4-FFF2-40B4-BE49-F238E27FC236}">
                  <a16:creationId xmlns:a16="http://schemas.microsoft.com/office/drawing/2014/main" id="{B25EF921-FF0A-DDA9-5A5D-FED70A8818F2}"/>
                </a:ext>
              </a:extLst>
            </p:cNvPr>
            <p:cNvSpPr/>
            <p:nvPr/>
          </p:nvSpPr>
          <p:spPr>
            <a:xfrm rot="16200000">
              <a:off x="7585652" y="2541261"/>
              <a:ext cx="2772243" cy="243691"/>
            </a:xfrm>
            <a:prstGeom prst="rect">
              <a:avLst/>
            </a:prstGeom>
            <a:solidFill>
              <a:schemeClr val="accent1">
                <a:alpha val="95000"/>
              </a:schemeClr>
            </a:solidFill>
            <a:ln w="3175">
              <a:solidFill>
                <a:schemeClr val="bg1"/>
              </a:solidFill>
            </a:ln>
            <a:effectLst>
              <a:softEdge rad="12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000" dirty="0"/>
                <a:t>ART: CONDUCCION DE VEHICULO LIVIANO</a:t>
              </a:r>
              <a:endParaRPr lang="es-CL" sz="1000" dirty="0"/>
            </a:p>
          </p:txBody>
        </p:sp>
      </p:grpSp>
      <p:pic>
        <p:nvPicPr>
          <p:cNvPr id="18" name="Imagen 17">
            <a:extLst>
              <a:ext uri="{FF2B5EF4-FFF2-40B4-BE49-F238E27FC236}">
                <a16:creationId xmlns:a16="http://schemas.microsoft.com/office/drawing/2014/main" id="{409FEDD5-91AD-CDB4-6209-C99E0FEE8718}"/>
              </a:ext>
            </a:extLst>
          </p:cNvPr>
          <p:cNvPicPr>
            <a:picLocks noChangeAspect="1"/>
          </p:cNvPicPr>
          <p:nvPr/>
        </p:nvPicPr>
        <p:blipFill>
          <a:blip r:embed="rIdMarcador"/>
          <a:stretch/>
        </p:blipFill>
        <p:spPr>
          <a:xfrm>
            <a:off x="4369107" y="4460240"/>
            <a:ext cx="3069792" cy="214925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grpSp>
        <p:nvGrpSpPr>
          <p:cNvPr id="10" name="Grupo 9">
            <a:extLst>
              <a:ext uri="{FF2B5EF4-FFF2-40B4-BE49-F238E27FC236}">
                <a16:creationId xmlns:a16="http://schemas.microsoft.com/office/drawing/2014/main" id="{32602496-7E3B-FC16-89C2-DE3893789EAB}"/>
              </a:ext>
            </a:extLst>
          </p:cNvPr>
          <p:cNvGrpSpPr/>
          <p:nvPr/>
        </p:nvGrpSpPr>
        <p:grpSpPr>
          <a:xfrm>
            <a:off x="219373" y="918004"/>
            <a:ext cx="2352058" cy="3542236"/>
            <a:chOff x="1050763" y="2463255"/>
            <a:chExt cx="2281484" cy="3104759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088EBAEC-BBE8-E03B-973F-0EB321B46004}"/>
                </a:ext>
              </a:extLst>
            </p:cNvPr>
            <p:cNvSpPr/>
            <p:nvPr/>
          </p:nvSpPr>
          <p:spPr>
            <a:xfrm>
              <a:off x="1050763" y="2463255"/>
              <a:ext cx="2281484" cy="300625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800" b="1" dirty="0"/>
                <a:t>DIFUSIÓN PROCEDIMIENTO USO INSPECCIÓN REEMPLAZO ALTA VISIBILIDAD</a:t>
              </a:r>
              <a:endParaRPr lang="es-CL" sz="800" b="1" dirty="0"/>
            </a:p>
          </p:txBody>
        </p:sp>
        <p:pic>
          <p:nvPicPr>
            <p:cNvPr id="12" name="Imagen 11">
              <a:extLst>
                <a:ext uri="{FF2B5EF4-FFF2-40B4-BE49-F238E27FC236}">
                  <a16:creationId xmlns:a16="http://schemas.microsoft.com/office/drawing/2014/main" id="{3C412BC3-8D0F-AAEC-005E-89B47B6991DD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1050763" y="2763880"/>
              <a:ext cx="2281484" cy="2804134"/>
            </a:xfrm>
            <a:prstGeom prst="rect">
              <a:avLst/>
            </a:prstGeom>
          </p:spPr>
        </p:pic>
      </p:grpSp>
      <p:grpSp>
        <p:nvGrpSpPr>
          <p:cNvPr id="3" name="Grupo 2">
            <a:extLst>
              <a:ext uri="{FF2B5EF4-FFF2-40B4-BE49-F238E27FC236}">
                <a16:creationId xmlns:a16="http://schemas.microsoft.com/office/drawing/2014/main" id="{A1D06063-A2B6-5A9C-D654-AA11318A8A07}"/>
              </a:ext>
            </a:extLst>
          </p:cNvPr>
          <p:cNvGrpSpPr/>
          <p:nvPr/>
        </p:nvGrpSpPr>
        <p:grpSpPr>
          <a:xfrm>
            <a:off x="521106" y="1260989"/>
            <a:ext cx="2352058" cy="3541723"/>
            <a:chOff x="1050763" y="2463255"/>
            <a:chExt cx="2281484" cy="3104309"/>
          </a:xfrm>
        </p:grpSpPr>
        <p:sp>
          <p:nvSpPr>
            <p:cNvPr id="5" name="Rectángulo 4">
              <a:extLst>
                <a:ext uri="{FF2B5EF4-FFF2-40B4-BE49-F238E27FC236}">
                  <a16:creationId xmlns:a16="http://schemas.microsoft.com/office/drawing/2014/main" id="{1A8EB5F9-38DF-7CD0-92C4-4ECFDA9371E5}"/>
                </a:ext>
              </a:extLst>
            </p:cNvPr>
            <p:cNvSpPr/>
            <p:nvPr/>
          </p:nvSpPr>
          <p:spPr>
            <a:xfrm>
              <a:off x="1050763" y="2463255"/>
              <a:ext cx="2281484" cy="300625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800" b="1" dirty="0"/>
                <a:t>REUNIÓN DE TRONADURA</a:t>
              </a:r>
            </a:p>
          </p:txBody>
        </p:sp>
        <p:pic>
          <p:nvPicPr>
            <p:cNvPr id="6" name="Imagen 5">
              <a:extLst>
                <a:ext uri="{FF2B5EF4-FFF2-40B4-BE49-F238E27FC236}">
                  <a16:creationId xmlns:a16="http://schemas.microsoft.com/office/drawing/2014/main" id="{78839A50-1040-5ACD-E5EF-763DD48FB9B0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1050763" y="2764330"/>
              <a:ext cx="2281484" cy="2803234"/>
            </a:xfrm>
            <a:prstGeom prst="rect">
              <a:avLst/>
            </a:prstGeom>
          </p:spPr>
        </p:pic>
      </p:grpSp>
      <p:grpSp>
        <p:nvGrpSpPr>
          <p:cNvPr id="13" name="Grupo 12">
            <a:extLst>
              <a:ext uri="{FF2B5EF4-FFF2-40B4-BE49-F238E27FC236}">
                <a16:creationId xmlns:a16="http://schemas.microsoft.com/office/drawing/2014/main" id="{ADC5891A-B5B0-F1CD-CFDE-7DF2473D95DA}"/>
              </a:ext>
            </a:extLst>
          </p:cNvPr>
          <p:cNvGrpSpPr/>
          <p:nvPr/>
        </p:nvGrpSpPr>
        <p:grpSpPr>
          <a:xfrm>
            <a:off x="813837" y="1603974"/>
            <a:ext cx="2352058" cy="3649538"/>
            <a:chOff x="1050763" y="2463255"/>
            <a:chExt cx="2281484" cy="3198809"/>
          </a:xfrm>
        </p:grpSpPr>
        <p:sp>
          <p:nvSpPr>
            <p:cNvPr id="14" name="Rectángulo 13">
              <a:extLst>
                <a:ext uri="{FF2B5EF4-FFF2-40B4-BE49-F238E27FC236}">
                  <a16:creationId xmlns:a16="http://schemas.microsoft.com/office/drawing/2014/main" id="{29DE9C7B-35EE-94FD-3673-D9CB709CEB2E}"/>
                </a:ext>
              </a:extLst>
            </p:cNvPr>
            <p:cNvSpPr/>
            <p:nvPr/>
          </p:nvSpPr>
          <p:spPr>
            <a:xfrm>
              <a:off x="1050763" y="2463255"/>
              <a:ext cx="2281484" cy="300625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800" b="1" dirty="0"/>
                <a:t>REPORTE INFORME FLASH N°42: REPORTE PREVENTIVO</a:t>
              </a:r>
            </a:p>
          </p:txBody>
        </p:sp>
        <p:pic>
          <p:nvPicPr>
            <p:cNvPr id="15" name="Imagen 14">
              <a:extLst>
                <a:ext uri="{FF2B5EF4-FFF2-40B4-BE49-F238E27FC236}">
                  <a16:creationId xmlns:a16="http://schemas.microsoft.com/office/drawing/2014/main" id="{F3C6DFD6-E630-7556-09B6-E74B1D7E7F1F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1050763" y="2766756"/>
              <a:ext cx="2281484" cy="2895308"/>
            </a:xfrm>
            <a:prstGeom prst="rect">
              <a:avLst/>
            </a:prstGeom>
          </p:spPr>
        </p:pic>
      </p:grpSp>
      <p:grpSp>
        <p:nvGrpSpPr>
          <p:cNvPr id="16" name="Grupo 15">
            <a:extLst>
              <a:ext uri="{FF2B5EF4-FFF2-40B4-BE49-F238E27FC236}">
                <a16:creationId xmlns:a16="http://schemas.microsoft.com/office/drawing/2014/main" id="{C91EFBC5-2D31-AEAE-BC87-E823CE4B3A5F}"/>
              </a:ext>
            </a:extLst>
          </p:cNvPr>
          <p:cNvGrpSpPr/>
          <p:nvPr/>
        </p:nvGrpSpPr>
        <p:grpSpPr>
          <a:xfrm>
            <a:off x="1163801" y="1946959"/>
            <a:ext cx="2352058" cy="3654668"/>
            <a:chOff x="1050763" y="2463255"/>
            <a:chExt cx="2281484" cy="3203305"/>
          </a:xfrm>
        </p:grpSpPr>
        <p:sp>
          <p:nvSpPr>
            <p:cNvPr id="17" name="Rectángulo 16">
              <a:extLst>
                <a:ext uri="{FF2B5EF4-FFF2-40B4-BE49-F238E27FC236}">
                  <a16:creationId xmlns:a16="http://schemas.microsoft.com/office/drawing/2014/main" id="{60CADF09-2B79-EA83-1E24-130BC9129091}"/>
                </a:ext>
              </a:extLst>
            </p:cNvPr>
            <p:cNvSpPr/>
            <p:nvPr/>
          </p:nvSpPr>
          <p:spPr>
            <a:xfrm>
              <a:off x="1050763" y="2463255"/>
              <a:ext cx="2281484" cy="300625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800" b="1" dirty="0"/>
                <a:t>REPORTE INFORME FLASH N°43 – REPORTE PREVENTIVO</a:t>
              </a:r>
            </a:p>
          </p:txBody>
        </p:sp>
        <p:pic>
          <p:nvPicPr>
            <p:cNvPr id="19" name="Imagen 18">
              <a:extLst>
                <a:ext uri="{FF2B5EF4-FFF2-40B4-BE49-F238E27FC236}">
                  <a16:creationId xmlns:a16="http://schemas.microsoft.com/office/drawing/2014/main" id="{66F6BBEC-FD2F-1CA9-2A18-F95C77D8F7D0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1050763" y="2763431"/>
              <a:ext cx="2281484" cy="2903129"/>
            </a:xfrm>
            <a:prstGeom prst="rect">
              <a:avLst/>
            </a:prstGeom>
          </p:spPr>
        </p:pic>
      </p:grpSp>
      <p:grpSp>
        <p:nvGrpSpPr>
          <p:cNvPr id="20" name="Grupo 19">
            <a:extLst>
              <a:ext uri="{FF2B5EF4-FFF2-40B4-BE49-F238E27FC236}">
                <a16:creationId xmlns:a16="http://schemas.microsoft.com/office/drawing/2014/main" id="{2081451F-74FC-8820-CC88-727909C14F37}"/>
              </a:ext>
            </a:extLst>
          </p:cNvPr>
          <p:cNvGrpSpPr/>
          <p:nvPr/>
        </p:nvGrpSpPr>
        <p:grpSpPr>
          <a:xfrm>
            <a:off x="8783092" y="1516616"/>
            <a:ext cx="2706170" cy="3686688"/>
            <a:chOff x="8849928" y="1276985"/>
            <a:chExt cx="2200575" cy="2772243"/>
          </a:xfrm>
        </p:grpSpPr>
        <p:pic>
          <p:nvPicPr>
            <p:cNvPr id="21" name="Imagen 20">
              <a:extLst>
                <a:ext uri="{FF2B5EF4-FFF2-40B4-BE49-F238E27FC236}">
                  <a16:creationId xmlns:a16="http://schemas.microsoft.com/office/drawing/2014/main" id="{EEF716E2-9B53-7DA3-402E-A3135378D1C2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9093618" y="1276985"/>
              <a:ext cx="1956885" cy="2772243"/>
            </a:xfrm>
            <a:prstGeom prst="rect">
              <a:avLst/>
            </a:prstGeom>
          </p:spPr>
        </p:pic>
        <p:sp>
          <p:nvSpPr>
            <p:cNvPr id="22" name="Rectángulo 21">
              <a:extLst>
                <a:ext uri="{FF2B5EF4-FFF2-40B4-BE49-F238E27FC236}">
                  <a16:creationId xmlns:a16="http://schemas.microsoft.com/office/drawing/2014/main" id="{6621BF0F-D236-320D-A56B-836425FA26EE}"/>
                </a:ext>
              </a:extLst>
            </p:cNvPr>
            <p:cNvSpPr/>
            <p:nvPr/>
          </p:nvSpPr>
          <p:spPr>
            <a:xfrm rot="16200000">
              <a:off x="7585652" y="2541261"/>
              <a:ext cx="2772243" cy="243691"/>
            </a:xfrm>
            <a:prstGeom prst="rect">
              <a:avLst/>
            </a:prstGeom>
            <a:solidFill>
              <a:schemeClr val="accent1">
                <a:alpha val="95000"/>
              </a:schemeClr>
            </a:solidFill>
            <a:ln w="3175">
              <a:solidFill>
                <a:schemeClr val="bg1"/>
              </a:solidFill>
            </a:ln>
            <a:effectLst>
              <a:softEdge rad="12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000" dirty="0"/>
                <a:t>Atención cambio de correa de carro LTE_CMM_07</a:t>
              </a:r>
            </a:p>
          </p:txBody>
        </p:sp>
      </p:grpSp>
      <p:grpSp>
        <p:nvGrpSpPr>
          <p:cNvPr id="23" name="Grupo 22">
            <a:extLst>
              <a:ext uri="{FF2B5EF4-FFF2-40B4-BE49-F238E27FC236}">
                <a16:creationId xmlns:a16="http://schemas.microsoft.com/office/drawing/2014/main" id="{68FA695F-4BDF-A2BD-5849-7056526ACCEE}"/>
              </a:ext>
            </a:extLst>
          </p:cNvPr>
          <p:cNvGrpSpPr/>
          <p:nvPr/>
        </p:nvGrpSpPr>
        <p:grpSpPr>
          <a:xfrm>
            <a:off x="9074452" y="2118451"/>
            <a:ext cx="2706170" cy="3686689"/>
            <a:chOff x="8849928" y="1276985"/>
            <a:chExt cx="2200575" cy="2772244"/>
          </a:xfrm>
        </p:grpSpPr>
        <p:pic>
          <p:nvPicPr>
            <p:cNvPr id="24" name="Imagen 23">
              <a:extLst>
                <a:ext uri="{FF2B5EF4-FFF2-40B4-BE49-F238E27FC236}">
                  <a16:creationId xmlns:a16="http://schemas.microsoft.com/office/drawing/2014/main" id="{8B3E0E38-8689-DC3D-D959-B5D0C2DE7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9093618" y="1276986"/>
              <a:ext cx="1956885" cy="2772243"/>
            </a:xfrm>
            <a:prstGeom prst="rect">
              <a:avLst/>
            </a:prstGeom>
          </p:spPr>
        </p:pic>
        <p:sp>
          <p:nvSpPr>
            <p:cNvPr id="25" name="Rectángulo 24">
              <a:extLst>
                <a:ext uri="{FF2B5EF4-FFF2-40B4-BE49-F238E27FC236}">
                  <a16:creationId xmlns:a16="http://schemas.microsoft.com/office/drawing/2014/main" id="{83B433E2-D05A-0FBE-1C96-07D284EC299C}"/>
                </a:ext>
              </a:extLst>
            </p:cNvPr>
            <p:cNvSpPr/>
            <p:nvPr/>
          </p:nvSpPr>
          <p:spPr>
            <a:xfrm rot="16200000">
              <a:off x="7585652" y="2541261"/>
              <a:ext cx="2772243" cy="243691"/>
            </a:xfrm>
            <a:prstGeom prst="rect">
              <a:avLst/>
            </a:prstGeom>
            <a:solidFill>
              <a:schemeClr val="accent1">
                <a:alpha val="95000"/>
              </a:schemeClr>
            </a:solidFill>
            <a:ln w="3175">
              <a:solidFill>
                <a:schemeClr val="bg1"/>
              </a:solidFill>
            </a:ln>
            <a:effectLst>
              <a:softEdge rad="12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000" dirty="0"/>
                <a:t>ART: MANTENIMIENTO GENERADOR LTE_CMF_02</a:t>
              </a:r>
              <a:endParaRPr lang="es-CL" sz="1000" dirty="0"/>
            </a:p>
          </p:txBody>
        </p:sp>
      </p:grpSp>
      <p:grpSp>
        <p:nvGrpSpPr>
          <p:cNvPr id="28" name="Grupo 27">
            <a:extLst>
              <a:ext uri="{FF2B5EF4-FFF2-40B4-BE49-F238E27FC236}">
                <a16:creationId xmlns:a16="http://schemas.microsoft.com/office/drawing/2014/main" id="{2F7A1F3C-82CD-24A5-0533-7A2728177D35}"/>
              </a:ext>
            </a:extLst>
          </p:cNvPr>
          <p:cNvGrpSpPr/>
          <p:nvPr/>
        </p:nvGrpSpPr>
        <p:grpSpPr>
          <a:xfrm>
            <a:off x="9360757" y="2720285"/>
            <a:ext cx="2706170" cy="3686688"/>
            <a:chOff x="8849928" y="1276985"/>
            <a:chExt cx="2200575" cy="2772243"/>
          </a:xfrm>
        </p:grpSpPr>
        <p:pic>
          <p:nvPicPr>
            <p:cNvPr id="29" name="Imagen 28">
              <a:extLst>
                <a:ext uri="{FF2B5EF4-FFF2-40B4-BE49-F238E27FC236}">
                  <a16:creationId xmlns:a16="http://schemas.microsoft.com/office/drawing/2014/main" id="{A0DFDB84-86BB-1CAD-A8C9-28FAF59BE561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9093618" y="1276985"/>
              <a:ext cx="1956885" cy="2772243"/>
            </a:xfrm>
            <a:prstGeom prst="rect">
              <a:avLst/>
            </a:prstGeom>
          </p:spPr>
        </p:pic>
        <p:sp>
          <p:nvSpPr>
            <p:cNvPr id="30" name="Rectángulo 29">
              <a:extLst>
                <a:ext uri="{FF2B5EF4-FFF2-40B4-BE49-F238E27FC236}">
                  <a16:creationId xmlns:a16="http://schemas.microsoft.com/office/drawing/2014/main" id="{ABDD87E9-F4B9-7AE2-E055-DD9391F9C7F1}"/>
                </a:ext>
              </a:extLst>
            </p:cNvPr>
            <p:cNvSpPr/>
            <p:nvPr/>
          </p:nvSpPr>
          <p:spPr>
            <a:xfrm rot="16200000">
              <a:off x="7585652" y="2541261"/>
              <a:ext cx="2772243" cy="243691"/>
            </a:xfrm>
            <a:prstGeom prst="rect">
              <a:avLst/>
            </a:prstGeom>
            <a:solidFill>
              <a:schemeClr val="accent1">
                <a:alpha val="95000"/>
              </a:schemeClr>
            </a:solidFill>
            <a:ln w="3175">
              <a:solidFill>
                <a:schemeClr val="bg1"/>
              </a:solidFill>
            </a:ln>
            <a:effectLst>
              <a:softEdge rad="12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000" dirty="0"/>
                <a:t>ART: MANTENIMIENTO GENERADOR LTE_CMF_03</a:t>
              </a:r>
              <a:endParaRPr lang="es-CL" sz="10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605049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3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D44D7B-B8ED-DA13-CC72-9064A5B232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5B7EC858-BBF0-817D-F73A-7B0D15DD11FC}"/>
              </a:ext>
            </a:extLst>
          </p:cNvPr>
          <p:cNvSpPr/>
          <p:nvPr/>
        </p:nvSpPr>
        <p:spPr>
          <a:xfrm>
            <a:off x="2896688" y="202581"/>
            <a:ext cx="6452840" cy="6452838"/>
          </a:xfrm>
          <a:prstGeom prst="ellipse">
            <a:avLst/>
          </a:prstGeom>
          <a:solidFill>
            <a:srgbClr val="12231D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LT" sz="8000" b="1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aleway" panose="020B0503030101060003" pitchFamily="34" charset="77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5E68A2-5764-D88F-D18D-73F3D0FBBE4E}"/>
              </a:ext>
            </a:extLst>
          </p:cNvPr>
          <p:cNvSpPr/>
          <p:nvPr/>
        </p:nvSpPr>
        <p:spPr>
          <a:xfrm>
            <a:off x="4547586" y="459447"/>
            <a:ext cx="5523497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4000" b="1" i="0" u="none" strike="noStrike" kern="1200" cap="none" spc="-15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uLnTx/>
                <a:uFillTx/>
                <a:latin typeface="Raleway Black" panose="020B0503030101060003" pitchFamily="34" charset="77"/>
                <a:ea typeface="+mn-ea"/>
                <a:cs typeface="+mn-cs"/>
              </a:rPr>
              <a:t>DIFUSIONES</a:t>
            </a:r>
          </a:p>
          <a:p>
            <a:pPr>
              <a:defRPr/>
            </a:pPr>
            <a:r>
              <a:rPr lang="es-CL" sz="4000" b="1" spc="-150" dirty="0"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latin typeface="Raleway Black" panose="020B0503030101060003" pitchFamily="34" charset="77"/>
              </a:rPr>
              <a:t>29 AGOSTO</a:t>
            </a:r>
            <a:endParaRPr kumimoji="0" lang="en-LT" sz="4000" b="1" i="0" u="none" strike="noStrike" kern="1200" cap="none" spc="-150" normalizeH="0" baseline="0" noProof="0" dirty="0">
              <a:ln>
                <a:noFill/>
              </a:ln>
              <a:solidFill>
                <a:srgbClr val="FFFFFF"/>
              </a:solidFill>
              <a:effectLst>
                <a:outerShdw blurRad="419100" sx="102000" sy="102000" algn="ctr" rotWithShape="0">
                  <a:prstClr val="black">
                    <a:alpha val="29000"/>
                  </a:prstClr>
                </a:outerShdw>
              </a:effectLst>
              <a:uLnTx/>
              <a:uFillTx/>
              <a:latin typeface="Raleway Black" panose="020B0503030101060003" pitchFamily="34" charset="77"/>
              <a:ea typeface="+mn-ea"/>
              <a:cs typeface="+mn-cs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F9A17EB5-C4B5-2D4B-294A-378226E32F30}"/>
              </a:ext>
            </a:extLst>
          </p:cNvPr>
          <p:cNvSpPr txBox="1"/>
          <p:nvPr/>
        </p:nvSpPr>
        <p:spPr>
          <a:xfrm>
            <a:off x="4304368" y="1874728"/>
            <a:ext cx="461998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b="1" dirty="0">
                <a:solidFill>
                  <a:schemeClr val="bg1"/>
                </a:solidFill>
              </a:rPr>
              <a:t>Difusión Nota interna 02/2026 – Minería – 02.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b="1" dirty="0">
                <a:solidFill>
                  <a:schemeClr val="bg1"/>
                </a:solidFill>
              </a:rPr>
              <a:t>Difusión Flash N°41 GMM, ESSL, 23 de Agosto 2026, Empresas Codelco, Fase 3, Bajando a circunvalación 1.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b="1" dirty="0">
                <a:solidFill>
                  <a:schemeClr val="bg1"/>
                </a:solidFill>
              </a:rPr>
              <a:t>Difusión Informe Flash 322/26 ESSL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b="1" dirty="0">
                <a:solidFill>
                  <a:schemeClr val="bg1"/>
                </a:solidFill>
              </a:rPr>
              <a:t>Difusión Informe Flash 323/26 ESSL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b="1" dirty="0">
                <a:solidFill>
                  <a:schemeClr val="bg1"/>
                </a:solidFill>
              </a:rPr>
              <a:t>Difusión Informe Flash N°112 ESSL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b="1" dirty="0">
                <a:solidFill>
                  <a:schemeClr val="bg1"/>
                </a:solidFill>
              </a:rPr>
              <a:t>Reunión de Tronadura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</p:txBody>
      </p:sp>
      <p:grpSp>
        <p:nvGrpSpPr>
          <p:cNvPr id="41" name="Grupo 40">
            <a:extLst>
              <a:ext uri="{FF2B5EF4-FFF2-40B4-BE49-F238E27FC236}">
                <a16:creationId xmlns:a16="http://schemas.microsoft.com/office/drawing/2014/main" id="{1CC3CCC1-8C5C-955E-5D2D-804244620FE0}"/>
              </a:ext>
            </a:extLst>
          </p:cNvPr>
          <p:cNvGrpSpPr/>
          <p:nvPr/>
        </p:nvGrpSpPr>
        <p:grpSpPr>
          <a:xfrm>
            <a:off x="128169" y="1157139"/>
            <a:ext cx="2526175" cy="3709501"/>
            <a:chOff x="1050763" y="2463255"/>
            <a:chExt cx="2281485" cy="1780410"/>
          </a:xfrm>
        </p:grpSpPr>
        <p:sp>
          <p:nvSpPr>
            <p:cNvPr id="42" name="Rectángulo 41">
              <a:extLst>
                <a:ext uri="{FF2B5EF4-FFF2-40B4-BE49-F238E27FC236}">
                  <a16:creationId xmlns:a16="http://schemas.microsoft.com/office/drawing/2014/main" id="{45BA9574-0496-95DE-A8DE-B7941CE29EB7}"/>
                </a:ext>
              </a:extLst>
            </p:cNvPr>
            <p:cNvSpPr/>
            <p:nvPr/>
          </p:nvSpPr>
          <p:spPr>
            <a:xfrm>
              <a:off x="1050763" y="2463255"/>
              <a:ext cx="2281484" cy="159642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800" b="1" dirty="0">
                  <a:solidFill>
                    <a:schemeClr val="bg1"/>
                  </a:solidFill>
                </a:rPr>
                <a:t>DIFUSION NOTA INTERNA 02/2026 – MINERIA - 2</a:t>
              </a:r>
              <a:endParaRPr lang="es-ES" sz="800" b="1" dirty="0">
                <a:solidFill>
                  <a:schemeClr val="bg1"/>
                </a:solidFill>
              </a:endParaRPr>
            </a:p>
          </p:txBody>
        </p:sp>
        <p:pic>
          <p:nvPicPr>
            <p:cNvPr id="43" name="Imagen 42">
              <a:extLst>
                <a:ext uri="{FF2B5EF4-FFF2-40B4-BE49-F238E27FC236}">
                  <a16:creationId xmlns:a16="http://schemas.microsoft.com/office/drawing/2014/main" id="{502BA165-BA36-0CE6-D97B-07E1E4F4E658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1050764" y="2622897"/>
              <a:ext cx="2281484" cy="1620768"/>
            </a:xfrm>
            <a:prstGeom prst="rect">
              <a:avLst/>
            </a:prstGeom>
          </p:spPr>
        </p:pic>
      </p:grpSp>
      <p:grpSp>
        <p:nvGrpSpPr>
          <p:cNvPr id="13" name="Grupo 12">
            <a:extLst>
              <a:ext uri="{FF2B5EF4-FFF2-40B4-BE49-F238E27FC236}">
                <a16:creationId xmlns:a16="http://schemas.microsoft.com/office/drawing/2014/main" id="{A677E138-CE1A-AA8B-C1AD-481AB809A077}"/>
              </a:ext>
            </a:extLst>
          </p:cNvPr>
          <p:cNvGrpSpPr/>
          <p:nvPr/>
        </p:nvGrpSpPr>
        <p:grpSpPr>
          <a:xfrm>
            <a:off x="8458854" y="1275531"/>
            <a:ext cx="2777657" cy="3809737"/>
            <a:chOff x="8849928" y="1276985"/>
            <a:chExt cx="2111014" cy="2772243"/>
          </a:xfrm>
        </p:grpSpPr>
        <p:pic>
          <p:nvPicPr>
            <p:cNvPr id="15" name="Imagen 14">
              <a:extLst>
                <a:ext uri="{FF2B5EF4-FFF2-40B4-BE49-F238E27FC236}">
                  <a16:creationId xmlns:a16="http://schemas.microsoft.com/office/drawing/2014/main" id="{0794BDB1-2B0A-5A45-318B-3C92914F9E68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9093619" y="1276985"/>
              <a:ext cx="1867323" cy="2772243"/>
            </a:xfrm>
            <a:prstGeom prst="rect">
              <a:avLst/>
            </a:prstGeom>
          </p:spPr>
        </p:pic>
        <p:sp>
          <p:nvSpPr>
            <p:cNvPr id="25" name="Rectángulo 24">
              <a:extLst>
                <a:ext uri="{FF2B5EF4-FFF2-40B4-BE49-F238E27FC236}">
                  <a16:creationId xmlns:a16="http://schemas.microsoft.com/office/drawing/2014/main" id="{3F948795-6941-9505-919E-5065E256959F}"/>
                </a:ext>
              </a:extLst>
            </p:cNvPr>
            <p:cNvSpPr/>
            <p:nvPr/>
          </p:nvSpPr>
          <p:spPr>
            <a:xfrm rot="16200000">
              <a:off x="7585652" y="2541261"/>
              <a:ext cx="2772243" cy="243691"/>
            </a:xfrm>
            <a:prstGeom prst="rect">
              <a:avLst/>
            </a:prstGeom>
            <a:solidFill>
              <a:schemeClr val="accent1">
                <a:alpha val="95000"/>
              </a:schemeClr>
            </a:solidFill>
            <a:ln w="3175">
              <a:solidFill>
                <a:schemeClr val="bg1"/>
              </a:solidFill>
            </a:ln>
            <a:effectLst>
              <a:softEdge rad="12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900" dirty="0"/>
                <a:t>ART: CONDUCCIÓN VEHÍCULO LIVIANO.</a:t>
              </a:r>
              <a:endParaRPr lang="es-CL" sz="900" dirty="0"/>
            </a:p>
          </p:txBody>
        </p:sp>
      </p:grpSp>
      <p:pic>
        <p:nvPicPr>
          <p:cNvPr id="20" name="Imagen 19" descr="Imagen que contiene botella, edificio, naranja, alimentos&#10;&#10;El contenido generado por IA puede ser incorrecto.">
            <a:extLst>
              <a:ext uri="{FF2B5EF4-FFF2-40B4-BE49-F238E27FC236}">
                <a16:creationId xmlns:a16="http://schemas.microsoft.com/office/drawing/2014/main" id="{5A359758-80DD-63E9-E86F-31828AD2A3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54622" y="328994"/>
            <a:ext cx="1390747" cy="1390747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D3A68BFE-8A59-41D3-4B11-3158FA572060}"/>
              </a:ext>
            </a:extLst>
          </p:cNvPr>
          <p:cNvPicPr>
            <a:picLocks noChangeAspect="1"/>
          </p:cNvPicPr>
          <p:nvPr/>
        </p:nvPicPr>
        <p:blipFill>
          <a:blip r:embed="rIdMarcador"/>
          <a:stretch/>
        </p:blipFill>
        <p:spPr>
          <a:xfrm>
            <a:off x="5133225" y="4727251"/>
            <a:ext cx="3179587" cy="201044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grpSp>
        <p:nvGrpSpPr>
          <p:cNvPr id="3" name="Grupo 2">
            <a:extLst>
              <a:ext uri="{FF2B5EF4-FFF2-40B4-BE49-F238E27FC236}">
                <a16:creationId xmlns:a16="http://schemas.microsoft.com/office/drawing/2014/main" id="{71E1BE8B-B935-F895-E073-54C268712A03}"/>
              </a:ext>
            </a:extLst>
          </p:cNvPr>
          <p:cNvGrpSpPr/>
          <p:nvPr/>
        </p:nvGrpSpPr>
        <p:grpSpPr>
          <a:xfrm>
            <a:off x="385512" y="1489755"/>
            <a:ext cx="2526175" cy="3709501"/>
            <a:chOff x="1050763" y="2463255"/>
            <a:chExt cx="2281485" cy="1780410"/>
          </a:xfrm>
        </p:grpSpPr>
        <p:sp>
          <p:nvSpPr>
            <p:cNvPr id="5" name="Rectángulo 4">
              <a:extLst>
                <a:ext uri="{FF2B5EF4-FFF2-40B4-BE49-F238E27FC236}">
                  <a16:creationId xmlns:a16="http://schemas.microsoft.com/office/drawing/2014/main" id="{83709F2D-C830-8F5D-79F5-DBCA464BBA80}"/>
                </a:ext>
              </a:extLst>
            </p:cNvPr>
            <p:cNvSpPr/>
            <p:nvPr/>
          </p:nvSpPr>
          <p:spPr>
            <a:xfrm>
              <a:off x="1050763" y="2463255"/>
              <a:ext cx="2281484" cy="159642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700" b="1" dirty="0">
                  <a:solidFill>
                    <a:schemeClr val="bg1"/>
                  </a:solidFill>
                </a:rPr>
                <a:t>DIFUSIÓN FLASH N°41 GMM, ESSL, 23 DE AGOSTO 2026, EMPRESAS CODELCO, FASE 3, BAJANDO A CIRCUNVALACIÓN 1</a:t>
              </a:r>
              <a:endParaRPr lang="es-ES" sz="700" b="1" dirty="0">
                <a:solidFill>
                  <a:schemeClr val="bg1"/>
                </a:solidFill>
              </a:endParaRPr>
            </a:p>
          </p:txBody>
        </p:sp>
        <p:pic>
          <p:nvPicPr>
            <p:cNvPr id="6" name="Imagen 5">
              <a:extLst>
                <a:ext uri="{FF2B5EF4-FFF2-40B4-BE49-F238E27FC236}">
                  <a16:creationId xmlns:a16="http://schemas.microsoft.com/office/drawing/2014/main" id="{4CE4ACA0-EE13-F346-7413-B7486F5298BB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1050764" y="2622897"/>
              <a:ext cx="2281484" cy="1620768"/>
            </a:xfrm>
            <a:prstGeom prst="rect">
              <a:avLst/>
            </a:prstGeom>
          </p:spPr>
        </p:pic>
      </p:grpSp>
      <p:grpSp>
        <p:nvGrpSpPr>
          <p:cNvPr id="7" name="Grupo 6">
            <a:extLst>
              <a:ext uri="{FF2B5EF4-FFF2-40B4-BE49-F238E27FC236}">
                <a16:creationId xmlns:a16="http://schemas.microsoft.com/office/drawing/2014/main" id="{95A512F1-C4FE-CE6D-FA8A-2D917584DE61}"/>
              </a:ext>
            </a:extLst>
          </p:cNvPr>
          <p:cNvGrpSpPr/>
          <p:nvPr/>
        </p:nvGrpSpPr>
        <p:grpSpPr>
          <a:xfrm>
            <a:off x="627855" y="1822371"/>
            <a:ext cx="2526175" cy="3709501"/>
            <a:chOff x="1050763" y="2463255"/>
            <a:chExt cx="2281485" cy="1780410"/>
          </a:xfrm>
        </p:grpSpPr>
        <p:sp>
          <p:nvSpPr>
            <p:cNvPr id="8" name="Rectángulo 7">
              <a:extLst>
                <a:ext uri="{FF2B5EF4-FFF2-40B4-BE49-F238E27FC236}">
                  <a16:creationId xmlns:a16="http://schemas.microsoft.com/office/drawing/2014/main" id="{330F2144-8801-FFD1-5561-B7F95B390AFE}"/>
                </a:ext>
              </a:extLst>
            </p:cNvPr>
            <p:cNvSpPr/>
            <p:nvPr/>
          </p:nvSpPr>
          <p:spPr>
            <a:xfrm>
              <a:off x="1050763" y="2463255"/>
              <a:ext cx="2281484" cy="159642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800" b="1" dirty="0">
                  <a:solidFill>
                    <a:schemeClr val="bg1"/>
                  </a:solidFill>
                </a:rPr>
                <a:t>DIFUSIÓN INFORME FLASH 323/26 ESSL</a:t>
              </a:r>
            </a:p>
          </p:txBody>
        </p:sp>
        <p:pic>
          <p:nvPicPr>
            <p:cNvPr id="10" name="Imagen 9">
              <a:extLst>
                <a:ext uri="{FF2B5EF4-FFF2-40B4-BE49-F238E27FC236}">
                  <a16:creationId xmlns:a16="http://schemas.microsoft.com/office/drawing/2014/main" id="{EBF0A8ED-82A7-72D8-3F96-12D8ABF41899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1050764" y="2622897"/>
              <a:ext cx="2281484" cy="1620768"/>
            </a:xfrm>
            <a:prstGeom prst="rect">
              <a:avLst/>
            </a:prstGeom>
          </p:spPr>
        </p:pic>
      </p:grpSp>
      <p:grpSp>
        <p:nvGrpSpPr>
          <p:cNvPr id="11" name="Grupo 10">
            <a:extLst>
              <a:ext uri="{FF2B5EF4-FFF2-40B4-BE49-F238E27FC236}">
                <a16:creationId xmlns:a16="http://schemas.microsoft.com/office/drawing/2014/main" id="{D2C14738-A077-E376-7BB6-3ED407EDE111}"/>
              </a:ext>
            </a:extLst>
          </p:cNvPr>
          <p:cNvGrpSpPr/>
          <p:nvPr/>
        </p:nvGrpSpPr>
        <p:grpSpPr>
          <a:xfrm>
            <a:off x="877412" y="2154987"/>
            <a:ext cx="2526175" cy="3709501"/>
            <a:chOff x="1050763" y="2463255"/>
            <a:chExt cx="2281485" cy="1780410"/>
          </a:xfrm>
        </p:grpSpPr>
        <p:sp>
          <p:nvSpPr>
            <p:cNvPr id="14" name="Rectángulo 13">
              <a:extLst>
                <a:ext uri="{FF2B5EF4-FFF2-40B4-BE49-F238E27FC236}">
                  <a16:creationId xmlns:a16="http://schemas.microsoft.com/office/drawing/2014/main" id="{D06879EA-FEE0-94A7-E2EF-799323FF83D4}"/>
                </a:ext>
              </a:extLst>
            </p:cNvPr>
            <p:cNvSpPr/>
            <p:nvPr/>
          </p:nvSpPr>
          <p:spPr>
            <a:xfrm>
              <a:off x="1050763" y="2463255"/>
              <a:ext cx="2281484" cy="159642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800" b="1" dirty="0">
                  <a:solidFill>
                    <a:schemeClr val="bg1"/>
                  </a:solidFill>
                </a:rPr>
                <a:t>DIFUSIÓN INFORME FLASH 322/26 ESSL</a:t>
              </a:r>
            </a:p>
          </p:txBody>
        </p:sp>
        <p:pic>
          <p:nvPicPr>
            <p:cNvPr id="16" name="Imagen 15">
              <a:extLst>
                <a:ext uri="{FF2B5EF4-FFF2-40B4-BE49-F238E27FC236}">
                  <a16:creationId xmlns:a16="http://schemas.microsoft.com/office/drawing/2014/main" id="{D8046930-A929-D26D-7A4C-903C426DD69E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1050764" y="2622897"/>
              <a:ext cx="2281484" cy="1620768"/>
            </a:xfrm>
            <a:prstGeom prst="rect">
              <a:avLst/>
            </a:prstGeom>
          </p:spPr>
        </p:pic>
      </p:grpSp>
      <p:grpSp>
        <p:nvGrpSpPr>
          <p:cNvPr id="17" name="Grupo 16">
            <a:extLst>
              <a:ext uri="{FF2B5EF4-FFF2-40B4-BE49-F238E27FC236}">
                <a16:creationId xmlns:a16="http://schemas.microsoft.com/office/drawing/2014/main" id="{FD0137D7-F5A8-E1D2-5290-D154FC6E25B4}"/>
              </a:ext>
            </a:extLst>
          </p:cNvPr>
          <p:cNvGrpSpPr/>
          <p:nvPr/>
        </p:nvGrpSpPr>
        <p:grpSpPr>
          <a:xfrm>
            <a:off x="1200615" y="2487602"/>
            <a:ext cx="2526175" cy="3812130"/>
            <a:chOff x="1050763" y="2463255"/>
            <a:chExt cx="2281485" cy="1829668"/>
          </a:xfrm>
        </p:grpSpPr>
        <p:sp>
          <p:nvSpPr>
            <p:cNvPr id="18" name="Rectángulo 17">
              <a:extLst>
                <a:ext uri="{FF2B5EF4-FFF2-40B4-BE49-F238E27FC236}">
                  <a16:creationId xmlns:a16="http://schemas.microsoft.com/office/drawing/2014/main" id="{41EE432C-D713-CA80-E64C-E7AAE0F9A5DF}"/>
                </a:ext>
              </a:extLst>
            </p:cNvPr>
            <p:cNvSpPr/>
            <p:nvPr/>
          </p:nvSpPr>
          <p:spPr>
            <a:xfrm>
              <a:off x="1050763" y="2463255"/>
              <a:ext cx="2281484" cy="159642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800" b="1" dirty="0">
                  <a:solidFill>
                    <a:schemeClr val="bg1"/>
                  </a:solidFill>
                </a:rPr>
                <a:t>DIFUSIÓN INFORME FLASH N°112 ESSL</a:t>
              </a:r>
            </a:p>
          </p:txBody>
        </p:sp>
        <p:pic>
          <p:nvPicPr>
            <p:cNvPr id="19" name="Imagen 18">
              <a:extLst>
                <a:ext uri="{FF2B5EF4-FFF2-40B4-BE49-F238E27FC236}">
                  <a16:creationId xmlns:a16="http://schemas.microsoft.com/office/drawing/2014/main" id="{0ECB5783-75DE-BAA3-F650-1487FB689929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1050764" y="2602120"/>
              <a:ext cx="2281484" cy="1690803"/>
            </a:xfrm>
            <a:prstGeom prst="rect">
              <a:avLst/>
            </a:prstGeom>
          </p:spPr>
        </p:pic>
      </p:grpSp>
      <p:grpSp>
        <p:nvGrpSpPr>
          <p:cNvPr id="21" name="Grupo 20">
            <a:extLst>
              <a:ext uri="{FF2B5EF4-FFF2-40B4-BE49-F238E27FC236}">
                <a16:creationId xmlns:a16="http://schemas.microsoft.com/office/drawing/2014/main" id="{6277C224-BDAE-8B92-2CF5-C3294E9409BE}"/>
              </a:ext>
            </a:extLst>
          </p:cNvPr>
          <p:cNvGrpSpPr/>
          <p:nvPr/>
        </p:nvGrpSpPr>
        <p:grpSpPr>
          <a:xfrm>
            <a:off x="1570334" y="2776928"/>
            <a:ext cx="2526175" cy="3855420"/>
            <a:chOff x="1050763" y="2463255"/>
            <a:chExt cx="2281485" cy="1850445"/>
          </a:xfrm>
        </p:grpSpPr>
        <p:sp>
          <p:nvSpPr>
            <p:cNvPr id="22" name="Rectángulo 21">
              <a:extLst>
                <a:ext uri="{FF2B5EF4-FFF2-40B4-BE49-F238E27FC236}">
                  <a16:creationId xmlns:a16="http://schemas.microsoft.com/office/drawing/2014/main" id="{9D1AB38D-7B7C-F8DD-E343-6EEB1279D63B}"/>
                </a:ext>
              </a:extLst>
            </p:cNvPr>
            <p:cNvSpPr/>
            <p:nvPr/>
          </p:nvSpPr>
          <p:spPr>
            <a:xfrm>
              <a:off x="1050763" y="2463255"/>
              <a:ext cx="2281484" cy="159642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800" b="1" dirty="0">
                  <a:solidFill>
                    <a:schemeClr val="bg1"/>
                  </a:solidFill>
                </a:rPr>
                <a:t>REUNION DE TRONADURA</a:t>
              </a:r>
            </a:p>
          </p:txBody>
        </p:sp>
        <p:pic>
          <p:nvPicPr>
            <p:cNvPr id="23" name="Imagen 22">
              <a:extLst>
                <a:ext uri="{FF2B5EF4-FFF2-40B4-BE49-F238E27FC236}">
                  <a16:creationId xmlns:a16="http://schemas.microsoft.com/office/drawing/2014/main" id="{3868CD15-0711-518A-2CAE-8E2A8B524232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1050764" y="2622897"/>
              <a:ext cx="2281484" cy="1690803"/>
            </a:xfrm>
            <a:prstGeom prst="rect">
              <a:avLst/>
            </a:prstGeom>
          </p:spPr>
        </p:pic>
      </p:grpSp>
      <p:grpSp>
        <p:nvGrpSpPr>
          <p:cNvPr id="24" name="Grupo 23">
            <a:extLst>
              <a:ext uri="{FF2B5EF4-FFF2-40B4-BE49-F238E27FC236}">
                <a16:creationId xmlns:a16="http://schemas.microsoft.com/office/drawing/2014/main" id="{DD06C65A-3C4C-DCDD-D569-FB06045E9398}"/>
              </a:ext>
            </a:extLst>
          </p:cNvPr>
          <p:cNvGrpSpPr/>
          <p:nvPr/>
        </p:nvGrpSpPr>
        <p:grpSpPr>
          <a:xfrm>
            <a:off x="8672922" y="1529209"/>
            <a:ext cx="2312506" cy="3228201"/>
            <a:chOff x="8849928" y="1276985"/>
            <a:chExt cx="2111014" cy="2772243"/>
          </a:xfrm>
        </p:grpSpPr>
        <p:pic>
          <p:nvPicPr>
            <p:cNvPr id="26" name="Imagen 25">
              <a:extLst>
                <a:ext uri="{FF2B5EF4-FFF2-40B4-BE49-F238E27FC236}">
                  <a16:creationId xmlns:a16="http://schemas.microsoft.com/office/drawing/2014/main" id="{4F84DBAD-DA6E-3E59-20CA-7CC2BEA7CC9D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9093619" y="1276985"/>
              <a:ext cx="1867323" cy="2746344"/>
            </a:xfrm>
            <a:prstGeom prst="rect">
              <a:avLst/>
            </a:prstGeom>
          </p:spPr>
        </p:pic>
        <p:sp>
          <p:nvSpPr>
            <p:cNvPr id="27" name="Rectángulo 26">
              <a:extLst>
                <a:ext uri="{FF2B5EF4-FFF2-40B4-BE49-F238E27FC236}">
                  <a16:creationId xmlns:a16="http://schemas.microsoft.com/office/drawing/2014/main" id="{863D30EE-20A3-DE86-3B32-68218630BC75}"/>
                </a:ext>
              </a:extLst>
            </p:cNvPr>
            <p:cNvSpPr/>
            <p:nvPr/>
          </p:nvSpPr>
          <p:spPr>
            <a:xfrm rot="16200000">
              <a:off x="7585652" y="2541261"/>
              <a:ext cx="2772243" cy="243691"/>
            </a:xfrm>
            <a:prstGeom prst="rect">
              <a:avLst/>
            </a:prstGeom>
            <a:solidFill>
              <a:schemeClr val="accent1">
                <a:alpha val="95000"/>
              </a:schemeClr>
            </a:solidFill>
            <a:ln w="3175">
              <a:solidFill>
                <a:schemeClr val="bg1"/>
              </a:solidFill>
            </a:ln>
            <a:effectLst>
              <a:softEdge rad="12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900" dirty="0"/>
                <a:t>ART: MANTENIMIENTO GENERADOR CARRO LTE_CMF_08</a:t>
              </a:r>
              <a:endParaRPr lang="es-CL" sz="900" dirty="0"/>
            </a:p>
          </p:txBody>
        </p:sp>
      </p:grpSp>
      <p:grpSp>
        <p:nvGrpSpPr>
          <p:cNvPr id="28" name="Grupo 27">
            <a:extLst>
              <a:ext uri="{FF2B5EF4-FFF2-40B4-BE49-F238E27FC236}">
                <a16:creationId xmlns:a16="http://schemas.microsoft.com/office/drawing/2014/main" id="{8FD0B6E7-0771-439E-F43A-F955CEC460EA}"/>
              </a:ext>
            </a:extLst>
          </p:cNvPr>
          <p:cNvGrpSpPr/>
          <p:nvPr/>
        </p:nvGrpSpPr>
        <p:grpSpPr>
          <a:xfrm>
            <a:off x="8924347" y="1828196"/>
            <a:ext cx="2777657" cy="3831823"/>
            <a:chOff x="8849928" y="1276985"/>
            <a:chExt cx="2111014" cy="2788315"/>
          </a:xfrm>
        </p:grpSpPr>
        <p:pic>
          <p:nvPicPr>
            <p:cNvPr id="29" name="Imagen 28">
              <a:extLst>
                <a:ext uri="{FF2B5EF4-FFF2-40B4-BE49-F238E27FC236}">
                  <a16:creationId xmlns:a16="http://schemas.microsoft.com/office/drawing/2014/main" id="{91396E19-E3E1-698F-B0F4-A7079054055F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9093619" y="1293057"/>
              <a:ext cx="1867323" cy="2772243"/>
            </a:xfrm>
            <a:prstGeom prst="rect">
              <a:avLst/>
            </a:prstGeom>
          </p:spPr>
        </p:pic>
        <p:sp>
          <p:nvSpPr>
            <p:cNvPr id="30" name="Rectángulo 29">
              <a:extLst>
                <a:ext uri="{FF2B5EF4-FFF2-40B4-BE49-F238E27FC236}">
                  <a16:creationId xmlns:a16="http://schemas.microsoft.com/office/drawing/2014/main" id="{EBD9A3E4-6614-4D8A-7B01-BD77FBFF7C4B}"/>
                </a:ext>
              </a:extLst>
            </p:cNvPr>
            <p:cNvSpPr/>
            <p:nvPr/>
          </p:nvSpPr>
          <p:spPr>
            <a:xfrm rot="16200000">
              <a:off x="7585652" y="2541261"/>
              <a:ext cx="2772243" cy="243691"/>
            </a:xfrm>
            <a:prstGeom prst="rect">
              <a:avLst/>
            </a:prstGeom>
            <a:solidFill>
              <a:schemeClr val="accent1">
                <a:alpha val="95000"/>
              </a:schemeClr>
            </a:solidFill>
            <a:ln w="3175">
              <a:solidFill>
                <a:schemeClr val="bg1"/>
              </a:solidFill>
            </a:ln>
            <a:effectLst>
              <a:softEdge rad="12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900" dirty="0"/>
                <a:t>ART: TRASLADO DE CARRO LTE_12 POR TRONADURA</a:t>
              </a:r>
              <a:endParaRPr lang="es-CL" sz="900" dirty="0"/>
            </a:p>
          </p:txBody>
        </p:sp>
      </p:grpSp>
    </p:spTree>
    <p:extLst>
      <p:ext uri="{BB962C8B-B14F-4D97-AF65-F5344CB8AC3E}">
        <p14:creationId xmlns:p14="http://schemas.microsoft.com/office/powerpoint/2010/main" val="23850071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3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1F9BF5-8951-3B90-E4E7-A879AAAA9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2153710A-E2B0-1114-DE32-D18BEDDE055F}"/>
              </a:ext>
            </a:extLst>
          </p:cNvPr>
          <p:cNvSpPr/>
          <p:nvPr/>
        </p:nvSpPr>
        <p:spPr>
          <a:xfrm>
            <a:off x="2869581" y="202582"/>
            <a:ext cx="6452840" cy="6452838"/>
          </a:xfrm>
          <a:prstGeom prst="ellipse">
            <a:avLst/>
          </a:prstGeom>
          <a:solidFill>
            <a:srgbClr val="12231D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LT" sz="8000" b="1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aleway" panose="020B0503030101060003" pitchFamily="34" charset="77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49EA0B-395C-15F4-92BC-12C7429A6D4F}"/>
              </a:ext>
            </a:extLst>
          </p:cNvPr>
          <p:cNvSpPr/>
          <p:nvPr/>
        </p:nvSpPr>
        <p:spPr>
          <a:xfrm>
            <a:off x="4399135" y="590919"/>
            <a:ext cx="5376928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4000" b="1" i="0" u="none" strike="noStrike" kern="1200" cap="none" spc="-15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uLnTx/>
                <a:uFillTx/>
                <a:latin typeface="Raleway Black" panose="020B0503030101060003" pitchFamily="34" charset="77"/>
                <a:ea typeface="+mn-ea"/>
                <a:cs typeface="+mn-cs"/>
              </a:rPr>
              <a:t>DIFUSIONES</a:t>
            </a:r>
          </a:p>
          <a:p>
            <a:pPr>
              <a:defRPr/>
            </a:pPr>
            <a:r>
              <a:rPr lang="es-CL" sz="4000" b="1" spc="-150" dirty="0"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latin typeface="Raleway Black" panose="020B0503030101060003" pitchFamily="34" charset="77"/>
              </a:rPr>
              <a:t>30 AGOSTO</a:t>
            </a:r>
            <a:endParaRPr kumimoji="0" lang="en-LT" sz="4000" b="1" i="0" u="none" strike="noStrike" kern="1200" cap="none" spc="-150" normalizeH="0" baseline="0" noProof="0" dirty="0">
              <a:ln>
                <a:noFill/>
              </a:ln>
              <a:solidFill>
                <a:srgbClr val="FFFFFF"/>
              </a:solidFill>
              <a:effectLst>
                <a:outerShdw blurRad="419100" sx="102000" sy="102000" algn="ctr" rotWithShape="0">
                  <a:prstClr val="black">
                    <a:alpha val="29000"/>
                  </a:prstClr>
                </a:outerShdw>
              </a:effectLst>
              <a:uLnTx/>
              <a:uFillTx/>
              <a:latin typeface="Raleway Black" panose="020B0503030101060003" pitchFamily="34" charset="77"/>
              <a:ea typeface="+mn-ea"/>
              <a:cs typeface="+mn-cs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FA7B7202-E044-FA7E-8FE1-E4FA71BC499F}"/>
              </a:ext>
            </a:extLst>
          </p:cNvPr>
          <p:cNvSpPr txBox="1"/>
          <p:nvPr/>
        </p:nvSpPr>
        <p:spPr>
          <a:xfrm>
            <a:off x="3494275" y="2098968"/>
            <a:ext cx="4984779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b="1" dirty="0">
                <a:solidFill>
                  <a:schemeClr val="bg1"/>
                </a:solidFill>
              </a:rPr>
              <a:t>Bajada comunicacional – Reunión Mensual CPHS – delegado SST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b="1" dirty="0">
                <a:solidFill>
                  <a:schemeClr val="bg1"/>
                </a:solidFill>
              </a:rPr>
              <a:t>Capacitación Uso, Limpieza, Desinfección y Almacenamiento de Protección Respiratoria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b="1" dirty="0">
                <a:solidFill>
                  <a:schemeClr val="bg1"/>
                </a:solidFill>
              </a:rPr>
              <a:t>Difusión Informe Flash 324/26 ESSL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b="1" dirty="0">
                <a:solidFill>
                  <a:schemeClr val="bg1"/>
                </a:solidFill>
              </a:rPr>
              <a:t>Difusión Incidentes TFDS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b="1" dirty="0">
                <a:solidFill>
                  <a:schemeClr val="bg1"/>
                </a:solidFill>
              </a:rPr>
              <a:t>Reunión de Cierre TDFS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CL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200" b="1" dirty="0">
              <a:solidFill>
                <a:schemeClr val="bg1"/>
              </a:solidFill>
            </a:endParaRPr>
          </a:p>
        </p:txBody>
      </p:sp>
      <p:grpSp>
        <p:nvGrpSpPr>
          <p:cNvPr id="25" name="Grupo 24">
            <a:extLst>
              <a:ext uri="{FF2B5EF4-FFF2-40B4-BE49-F238E27FC236}">
                <a16:creationId xmlns:a16="http://schemas.microsoft.com/office/drawing/2014/main" id="{3D3A603F-FB11-1B53-0076-8C6041D3AA9E}"/>
              </a:ext>
            </a:extLst>
          </p:cNvPr>
          <p:cNvGrpSpPr/>
          <p:nvPr/>
        </p:nvGrpSpPr>
        <p:grpSpPr>
          <a:xfrm>
            <a:off x="8749922" y="629458"/>
            <a:ext cx="2836661" cy="4058384"/>
            <a:chOff x="8849928" y="1276985"/>
            <a:chExt cx="1968760" cy="2772244"/>
          </a:xfrm>
        </p:grpSpPr>
        <p:pic>
          <p:nvPicPr>
            <p:cNvPr id="31" name="Imagen 30">
              <a:extLst>
                <a:ext uri="{FF2B5EF4-FFF2-40B4-BE49-F238E27FC236}">
                  <a16:creationId xmlns:a16="http://schemas.microsoft.com/office/drawing/2014/main" id="{DACC9EE1-8D61-7E08-EB70-0713578FFA03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9093619" y="1276985"/>
              <a:ext cx="1725069" cy="2772244"/>
            </a:xfrm>
            <a:prstGeom prst="rect">
              <a:avLst/>
            </a:prstGeom>
          </p:spPr>
        </p:pic>
        <p:sp>
          <p:nvSpPr>
            <p:cNvPr id="32" name="Rectángulo 31">
              <a:extLst>
                <a:ext uri="{FF2B5EF4-FFF2-40B4-BE49-F238E27FC236}">
                  <a16:creationId xmlns:a16="http://schemas.microsoft.com/office/drawing/2014/main" id="{D0FC8287-6CA6-C6C2-1238-D186479C0C9D}"/>
                </a:ext>
              </a:extLst>
            </p:cNvPr>
            <p:cNvSpPr/>
            <p:nvPr/>
          </p:nvSpPr>
          <p:spPr>
            <a:xfrm rot="16200000">
              <a:off x="7585652" y="2541261"/>
              <a:ext cx="2772243" cy="243691"/>
            </a:xfrm>
            <a:prstGeom prst="rect">
              <a:avLst/>
            </a:prstGeom>
            <a:solidFill>
              <a:schemeClr val="accent1">
                <a:alpha val="95000"/>
              </a:schemeClr>
            </a:solidFill>
            <a:ln w="3175">
              <a:solidFill>
                <a:schemeClr val="bg1"/>
              </a:solidFill>
            </a:ln>
            <a:effectLst>
              <a:softEdge rad="12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000" b="1" dirty="0"/>
                <a:t>REGISTRO ART CONDUCCIÓN VEHÍCULO LIVIANO.</a:t>
              </a:r>
              <a:endParaRPr lang="es-CL" sz="1000" b="1" dirty="0"/>
            </a:p>
          </p:txBody>
        </p:sp>
      </p:grpSp>
      <p:pic>
        <p:nvPicPr>
          <p:cNvPr id="5" name="Imagen 4" descr="Imagen que contiene botella, edificio, naranja, alimentos&#10;&#10;El contenido generado por IA puede ser incorrecto.">
            <a:extLst>
              <a:ext uri="{FF2B5EF4-FFF2-40B4-BE49-F238E27FC236}">
                <a16:creationId xmlns:a16="http://schemas.microsoft.com/office/drawing/2014/main" id="{8122353B-8A1F-29DC-377A-495EE63AF9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7599" y="629458"/>
            <a:ext cx="1423737" cy="1423737"/>
          </a:xfrm>
          <a:prstGeom prst="rect">
            <a:avLst/>
          </a:prstGeom>
        </p:spPr>
      </p:pic>
      <p:grpSp>
        <p:nvGrpSpPr>
          <p:cNvPr id="11" name="Grupo 10">
            <a:extLst>
              <a:ext uri="{FF2B5EF4-FFF2-40B4-BE49-F238E27FC236}">
                <a16:creationId xmlns:a16="http://schemas.microsoft.com/office/drawing/2014/main" id="{B82C2F6D-730B-A3E9-BA3D-16354871DD57}"/>
              </a:ext>
            </a:extLst>
          </p:cNvPr>
          <p:cNvGrpSpPr/>
          <p:nvPr/>
        </p:nvGrpSpPr>
        <p:grpSpPr>
          <a:xfrm>
            <a:off x="145793" y="1341076"/>
            <a:ext cx="2281484" cy="3249777"/>
            <a:chOff x="1050763" y="2463255"/>
            <a:chExt cx="2281484" cy="2850429"/>
          </a:xfrm>
        </p:grpSpPr>
        <p:sp>
          <p:nvSpPr>
            <p:cNvPr id="12" name="Rectángulo 11">
              <a:extLst>
                <a:ext uri="{FF2B5EF4-FFF2-40B4-BE49-F238E27FC236}">
                  <a16:creationId xmlns:a16="http://schemas.microsoft.com/office/drawing/2014/main" id="{58C8522D-F0DE-7FE4-EDEB-7739C443C989}"/>
                </a:ext>
              </a:extLst>
            </p:cNvPr>
            <p:cNvSpPr/>
            <p:nvPr/>
          </p:nvSpPr>
          <p:spPr>
            <a:xfrm>
              <a:off x="1050763" y="2463255"/>
              <a:ext cx="2281484" cy="300625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900" b="1" dirty="0"/>
                <a:t>BAJADA COMUNICACIONAL – REUNIÓN MENSUAL CPHS – DELEGADO SST</a:t>
              </a:r>
              <a:endParaRPr lang="es-CL" sz="900" b="1" dirty="0"/>
            </a:p>
          </p:txBody>
        </p:sp>
        <p:pic>
          <p:nvPicPr>
            <p:cNvPr id="20" name="Imagen 19">
              <a:extLst>
                <a:ext uri="{FF2B5EF4-FFF2-40B4-BE49-F238E27FC236}">
                  <a16:creationId xmlns:a16="http://schemas.microsoft.com/office/drawing/2014/main" id="{1E01863B-2839-3B1A-A7B4-D3B5A3620479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>
              <a:fillRect/>
            </a:stretch>
          </p:blipFill>
          <p:spPr>
            <a:xfrm>
              <a:off x="1050763" y="2763880"/>
              <a:ext cx="2270144" cy="2549804"/>
            </a:xfrm>
            <a:prstGeom prst="rect">
              <a:avLst/>
            </a:prstGeom>
          </p:spPr>
        </p:pic>
      </p:grpSp>
      <p:pic>
        <p:nvPicPr>
          <p:cNvPr id="38" name="Imagen 37">
            <a:extLst>
              <a:ext uri="{FF2B5EF4-FFF2-40B4-BE49-F238E27FC236}">
                <a16:creationId xmlns:a16="http://schemas.microsoft.com/office/drawing/2014/main" id="{D8E8E94B-5FAE-2570-C210-702E31203EE2}"/>
              </a:ext>
            </a:extLst>
          </p:cNvPr>
          <p:cNvPicPr>
            <a:picLocks noChangeAspect="1"/>
          </p:cNvPicPr>
          <p:nvPr/>
        </p:nvPicPr>
        <p:blipFill>
          <a:blip r:embed="rIdMarcador"/>
          <a:stretch/>
        </p:blipFill>
        <p:spPr>
          <a:xfrm>
            <a:off x="5781980" y="4358640"/>
            <a:ext cx="2923895" cy="224736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grpSp>
        <p:nvGrpSpPr>
          <p:cNvPr id="3" name="Grupo 2">
            <a:extLst>
              <a:ext uri="{FF2B5EF4-FFF2-40B4-BE49-F238E27FC236}">
                <a16:creationId xmlns:a16="http://schemas.microsoft.com/office/drawing/2014/main" id="{9374E41F-A285-77E8-DF44-9BA130F931BC}"/>
              </a:ext>
            </a:extLst>
          </p:cNvPr>
          <p:cNvGrpSpPr/>
          <p:nvPr/>
        </p:nvGrpSpPr>
        <p:grpSpPr>
          <a:xfrm>
            <a:off x="9037822" y="923798"/>
            <a:ext cx="2836661" cy="4058384"/>
            <a:chOff x="8849928" y="1276985"/>
            <a:chExt cx="1968760" cy="2772244"/>
          </a:xfrm>
        </p:grpSpPr>
        <p:pic>
          <p:nvPicPr>
            <p:cNvPr id="6" name="Imagen 5">
              <a:extLst>
                <a:ext uri="{FF2B5EF4-FFF2-40B4-BE49-F238E27FC236}">
                  <a16:creationId xmlns:a16="http://schemas.microsoft.com/office/drawing/2014/main" id="{BE502230-2907-43B1-F456-D43428E2C877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9093619" y="1276985"/>
              <a:ext cx="1725069" cy="2772244"/>
            </a:xfrm>
            <a:prstGeom prst="rect">
              <a:avLst/>
            </a:prstGeom>
          </p:spPr>
        </p:pic>
        <p:sp>
          <p:nvSpPr>
            <p:cNvPr id="8" name="Rectángulo 7">
              <a:extLst>
                <a:ext uri="{FF2B5EF4-FFF2-40B4-BE49-F238E27FC236}">
                  <a16:creationId xmlns:a16="http://schemas.microsoft.com/office/drawing/2014/main" id="{D388029D-2488-4A2A-114C-8696FD580546}"/>
                </a:ext>
              </a:extLst>
            </p:cNvPr>
            <p:cNvSpPr/>
            <p:nvPr/>
          </p:nvSpPr>
          <p:spPr>
            <a:xfrm rot="16200000">
              <a:off x="7585652" y="2541261"/>
              <a:ext cx="2772243" cy="243691"/>
            </a:xfrm>
            <a:prstGeom prst="rect">
              <a:avLst/>
            </a:prstGeom>
            <a:solidFill>
              <a:schemeClr val="accent1">
                <a:alpha val="95000"/>
              </a:schemeClr>
            </a:solidFill>
            <a:ln w="3175">
              <a:solidFill>
                <a:schemeClr val="bg1"/>
              </a:solidFill>
            </a:ln>
            <a:effectLst>
              <a:softEdge rad="12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000" b="1" dirty="0"/>
                <a:t>ART: MANTENIMIENTO GENERADOR CARRO LTE_CMF_09</a:t>
              </a:r>
              <a:endParaRPr lang="es-CL" sz="1000" b="1" dirty="0"/>
            </a:p>
          </p:txBody>
        </p:sp>
      </p:grpSp>
      <p:grpSp>
        <p:nvGrpSpPr>
          <p:cNvPr id="9" name="Grupo 8">
            <a:extLst>
              <a:ext uri="{FF2B5EF4-FFF2-40B4-BE49-F238E27FC236}">
                <a16:creationId xmlns:a16="http://schemas.microsoft.com/office/drawing/2014/main" id="{18331149-8C9D-E80B-E06F-7881155CB0C4}"/>
              </a:ext>
            </a:extLst>
          </p:cNvPr>
          <p:cNvGrpSpPr/>
          <p:nvPr/>
        </p:nvGrpSpPr>
        <p:grpSpPr>
          <a:xfrm>
            <a:off x="402280" y="1683819"/>
            <a:ext cx="2281484" cy="3249777"/>
            <a:chOff x="1050763" y="2463255"/>
            <a:chExt cx="2281484" cy="2850429"/>
          </a:xfrm>
        </p:grpSpPr>
        <p:sp>
          <p:nvSpPr>
            <p:cNvPr id="10" name="Rectángulo 9">
              <a:extLst>
                <a:ext uri="{FF2B5EF4-FFF2-40B4-BE49-F238E27FC236}">
                  <a16:creationId xmlns:a16="http://schemas.microsoft.com/office/drawing/2014/main" id="{D2848B01-A0C4-651E-B241-590B955451D6}"/>
                </a:ext>
              </a:extLst>
            </p:cNvPr>
            <p:cNvSpPr/>
            <p:nvPr/>
          </p:nvSpPr>
          <p:spPr>
            <a:xfrm>
              <a:off x="1050763" y="2463255"/>
              <a:ext cx="2281484" cy="300625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800" b="1" dirty="0"/>
                <a:t>CAPACITACIÓN USO, LIMPIEZA, DESINFECCIÓN Y ALMACENAMIENTO DE PROTECCIÓN RESPIRATORIA</a:t>
              </a:r>
              <a:endParaRPr lang="es-CL" sz="800" b="1" dirty="0"/>
            </a:p>
          </p:txBody>
        </p:sp>
        <p:pic>
          <p:nvPicPr>
            <p:cNvPr id="13" name="Imagen 12">
              <a:extLst>
                <a:ext uri="{FF2B5EF4-FFF2-40B4-BE49-F238E27FC236}">
                  <a16:creationId xmlns:a16="http://schemas.microsoft.com/office/drawing/2014/main" id="{A53DD98E-622C-0A74-AB84-DF266645A6FA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>
              <a:fillRect/>
            </a:stretch>
          </p:blipFill>
          <p:spPr>
            <a:xfrm>
              <a:off x="1050763" y="2763880"/>
              <a:ext cx="2270144" cy="2549804"/>
            </a:xfrm>
            <a:prstGeom prst="rect">
              <a:avLst/>
            </a:prstGeom>
          </p:spPr>
        </p:pic>
      </p:grpSp>
      <p:grpSp>
        <p:nvGrpSpPr>
          <p:cNvPr id="17" name="Grupo 16">
            <a:extLst>
              <a:ext uri="{FF2B5EF4-FFF2-40B4-BE49-F238E27FC236}">
                <a16:creationId xmlns:a16="http://schemas.microsoft.com/office/drawing/2014/main" id="{9DE2D6DD-2A6C-3A8A-1CA8-4E6C5AF2A323}"/>
              </a:ext>
            </a:extLst>
          </p:cNvPr>
          <p:cNvGrpSpPr/>
          <p:nvPr/>
        </p:nvGrpSpPr>
        <p:grpSpPr>
          <a:xfrm>
            <a:off x="647427" y="2026562"/>
            <a:ext cx="2281484" cy="3249777"/>
            <a:chOff x="1050763" y="2463255"/>
            <a:chExt cx="2281484" cy="2850429"/>
          </a:xfrm>
        </p:grpSpPr>
        <p:sp>
          <p:nvSpPr>
            <p:cNvPr id="18" name="Rectángulo 17">
              <a:extLst>
                <a:ext uri="{FF2B5EF4-FFF2-40B4-BE49-F238E27FC236}">
                  <a16:creationId xmlns:a16="http://schemas.microsoft.com/office/drawing/2014/main" id="{190313BB-5C3E-DD5C-D1D3-9D5E81F028BF}"/>
                </a:ext>
              </a:extLst>
            </p:cNvPr>
            <p:cNvSpPr/>
            <p:nvPr/>
          </p:nvSpPr>
          <p:spPr>
            <a:xfrm>
              <a:off x="1050763" y="2463255"/>
              <a:ext cx="2281484" cy="300625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900" b="1" dirty="0"/>
                <a:t>DIFUSIÓN INFORME FLASH 324/26 ESSL</a:t>
              </a:r>
              <a:endParaRPr lang="es-CL" sz="900" b="1" dirty="0"/>
            </a:p>
          </p:txBody>
        </p:sp>
        <p:pic>
          <p:nvPicPr>
            <p:cNvPr id="19" name="Imagen 18">
              <a:extLst>
                <a:ext uri="{FF2B5EF4-FFF2-40B4-BE49-F238E27FC236}">
                  <a16:creationId xmlns:a16="http://schemas.microsoft.com/office/drawing/2014/main" id="{9AD114CF-B556-2B72-A4E0-2E6DD1E302E3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>
              <a:fillRect/>
            </a:stretch>
          </p:blipFill>
          <p:spPr>
            <a:xfrm>
              <a:off x="1050763" y="2763880"/>
              <a:ext cx="2270144" cy="2549804"/>
            </a:xfrm>
            <a:prstGeom prst="rect">
              <a:avLst/>
            </a:prstGeom>
          </p:spPr>
        </p:pic>
      </p:grpSp>
      <p:grpSp>
        <p:nvGrpSpPr>
          <p:cNvPr id="21" name="Grupo 20">
            <a:extLst>
              <a:ext uri="{FF2B5EF4-FFF2-40B4-BE49-F238E27FC236}">
                <a16:creationId xmlns:a16="http://schemas.microsoft.com/office/drawing/2014/main" id="{1C2DEE3E-F7E8-35D4-5705-7F0FCB720244}"/>
              </a:ext>
            </a:extLst>
          </p:cNvPr>
          <p:cNvGrpSpPr/>
          <p:nvPr/>
        </p:nvGrpSpPr>
        <p:grpSpPr>
          <a:xfrm>
            <a:off x="956304" y="2369305"/>
            <a:ext cx="2281484" cy="3249777"/>
            <a:chOff x="1050763" y="2463255"/>
            <a:chExt cx="2281484" cy="2850429"/>
          </a:xfrm>
        </p:grpSpPr>
        <p:sp>
          <p:nvSpPr>
            <p:cNvPr id="22" name="Rectángulo 21">
              <a:extLst>
                <a:ext uri="{FF2B5EF4-FFF2-40B4-BE49-F238E27FC236}">
                  <a16:creationId xmlns:a16="http://schemas.microsoft.com/office/drawing/2014/main" id="{8AD27AEF-3B91-3F0E-86DB-4C89175DF3E6}"/>
                </a:ext>
              </a:extLst>
            </p:cNvPr>
            <p:cNvSpPr/>
            <p:nvPr/>
          </p:nvSpPr>
          <p:spPr>
            <a:xfrm>
              <a:off x="1050763" y="2463255"/>
              <a:ext cx="2281484" cy="300625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000" b="1" dirty="0"/>
                <a:t>DIFUSIÓN INCIDENTES TFDS</a:t>
              </a:r>
              <a:endParaRPr lang="es-CL" sz="1000" b="1" dirty="0"/>
            </a:p>
          </p:txBody>
        </p:sp>
        <p:pic>
          <p:nvPicPr>
            <p:cNvPr id="23" name="Imagen 22">
              <a:extLst>
                <a:ext uri="{FF2B5EF4-FFF2-40B4-BE49-F238E27FC236}">
                  <a16:creationId xmlns:a16="http://schemas.microsoft.com/office/drawing/2014/main" id="{13AAA344-69E0-C8D1-A388-35F243ACA8CA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>
              <a:fillRect/>
            </a:stretch>
          </p:blipFill>
          <p:spPr>
            <a:xfrm>
              <a:off x="1050763" y="2763880"/>
              <a:ext cx="2270144" cy="2549804"/>
            </a:xfrm>
            <a:prstGeom prst="rect">
              <a:avLst/>
            </a:prstGeom>
          </p:spPr>
        </p:pic>
      </p:grpSp>
      <p:grpSp>
        <p:nvGrpSpPr>
          <p:cNvPr id="24" name="Grupo 23">
            <a:extLst>
              <a:ext uri="{FF2B5EF4-FFF2-40B4-BE49-F238E27FC236}">
                <a16:creationId xmlns:a16="http://schemas.microsoft.com/office/drawing/2014/main" id="{232FBDA5-7EEB-CC45-DBB8-31B75AD6B702}"/>
              </a:ext>
            </a:extLst>
          </p:cNvPr>
          <p:cNvGrpSpPr/>
          <p:nvPr/>
        </p:nvGrpSpPr>
        <p:grpSpPr>
          <a:xfrm>
            <a:off x="1231214" y="2705504"/>
            <a:ext cx="2281484" cy="3249777"/>
            <a:chOff x="1050763" y="2463255"/>
            <a:chExt cx="2281484" cy="2850429"/>
          </a:xfrm>
        </p:grpSpPr>
        <p:sp>
          <p:nvSpPr>
            <p:cNvPr id="26" name="Rectángulo 25">
              <a:extLst>
                <a:ext uri="{FF2B5EF4-FFF2-40B4-BE49-F238E27FC236}">
                  <a16:creationId xmlns:a16="http://schemas.microsoft.com/office/drawing/2014/main" id="{1276612B-E55F-AC92-93F6-1ED1686D1186}"/>
                </a:ext>
              </a:extLst>
            </p:cNvPr>
            <p:cNvSpPr/>
            <p:nvPr/>
          </p:nvSpPr>
          <p:spPr>
            <a:xfrm>
              <a:off x="1050763" y="2463255"/>
              <a:ext cx="2281484" cy="300625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000" b="1" dirty="0"/>
                <a:t>REGISTRO REUNION TFDS</a:t>
              </a:r>
              <a:endParaRPr lang="es-CL" sz="1000" b="1" dirty="0"/>
            </a:p>
          </p:txBody>
        </p:sp>
        <p:pic>
          <p:nvPicPr>
            <p:cNvPr id="27" name="Imagen 26">
              <a:extLst>
                <a:ext uri="{FF2B5EF4-FFF2-40B4-BE49-F238E27FC236}">
                  <a16:creationId xmlns:a16="http://schemas.microsoft.com/office/drawing/2014/main" id="{21E42CAD-A7F4-48F8-BC63-89D7BAC7CE86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>
              <a:fillRect/>
            </a:stretch>
          </p:blipFill>
          <p:spPr>
            <a:xfrm>
              <a:off x="1050763" y="2763880"/>
              <a:ext cx="2270144" cy="254980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071342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3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BD9145-856D-EAC4-2A06-C668D4674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3387D901-1D6D-FF7B-6681-325ACE1540F3}"/>
              </a:ext>
            </a:extLst>
          </p:cNvPr>
          <p:cNvSpPr/>
          <p:nvPr/>
        </p:nvSpPr>
        <p:spPr>
          <a:xfrm>
            <a:off x="2869580" y="202581"/>
            <a:ext cx="6452840" cy="6452838"/>
          </a:xfrm>
          <a:prstGeom prst="ellipse">
            <a:avLst/>
          </a:prstGeom>
          <a:solidFill>
            <a:srgbClr val="12231D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LT" sz="8000" b="1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aleway" panose="020B0503030101060003" pitchFamily="34" charset="77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9C72665-C825-063C-8BFE-D73C0490ED18}"/>
              </a:ext>
            </a:extLst>
          </p:cNvPr>
          <p:cNvSpPr/>
          <p:nvPr/>
        </p:nvSpPr>
        <p:spPr>
          <a:xfrm>
            <a:off x="4399135" y="570784"/>
            <a:ext cx="5376928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4000" b="1" i="0" u="none" strike="noStrike" kern="1200" cap="none" spc="-15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uLnTx/>
                <a:uFillTx/>
                <a:latin typeface="Raleway Black" panose="020B0503030101060003" pitchFamily="34" charset="77"/>
                <a:ea typeface="+mn-ea"/>
                <a:cs typeface="+mn-cs"/>
              </a:rPr>
              <a:t>DIFUSIONES</a:t>
            </a:r>
          </a:p>
          <a:p>
            <a:pPr>
              <a:defRPr/>
            </a:pPr>
            <a:r>
              <a:rPr lang="es-CL" sz="4000" b="1" spc="-150" dirty="0"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latin typeface="Raleway Black" panose="020B0503030101060003" pitchFamily="34" charset="77"/>
              </a:rPr>
              <a:t>31 AGOSTO</a:t>
            </a:r>
            <a:endParaRPr lang="en-LT" sz="4000" b="1" spc="-150" dirty="0">
              <a:solidFill>
                <a:srgbClr val="FFFFFF"/>
              </a:solidFill>
              <a:effectLst>
                <a:outerShdw blurRad="419100" sx="102000" sy="102000" algn="ctr" rotWithShape="0">
                  <a:prstClr val="black">
                    <a:alpha val="29000"/>
                  </a:prstClr>
                </a:outerShdw>
              </a:effectLst>
              <a:latin typeface="Raleway Black" panose="020B0503030101060003" pitchFamily="34" charset="77"/>
            </a:endParaRPr>
          </a:p>
        </p:txBody>
      </p:sp>
      <p:grpSp>
        <p:nvGrpSpPr>
          <p:cNvPr id="16" name="Grupo 15">
            <a:extLst>
              <a:ext uri="{FF2B5EF4-FFF2-40B4-BE49-F238E27FC236}">
                <a16:creationId xmlns:a16="http://schemas.microsoft.com/office/drawing/2014/main" id="{4D3604C8-DEE3-BD0C-BAE8-002A4C074079}"/>
              </a:ext>
            </a:extLst>
          </p:cNvPr>
          <p:cNvGrpSpPr/>
          <p:nvPr/>
        </p:nvGrpSpPr>
        <p:grpSpPr>
          <a:xfrm>
            <a:off x="8186931" y="1036555"/>
            <a:ext cx="3021496" cy="3898201"/>
            <a:chOff x="8759655" y="1276985"/>
            <a:chExt cx="2304738" cy="2772244"/>
          </a:xfrm>
        </p:grpSpPr>
        <p:pic>
          <p:nvPicPr>
            <p:cNvPr id="27" name="Imagen 26">
              <a:extLst>
                <a:ext uri="{FF2B5EF4-FFF2-40B4-BE49-F238E27FC236}">
                  <a16:creationId xmlns:a16="http://schemas.microsoft.com/office/drawing/2014/main" id="{3F813F60-17EC-2D92-21FE-09402029EC8C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9093619" y="1276985"/>
              <a:ext cx="1970774" cy="2772244"/>
            </a:xfrm>
            <a:prstGeom prst="rect">
              <a:avLst/>
            </a:prstGeom>
          </p:spPr>
        </p:pic>
        <p:sp>
          <p:nvSpPr>
            <p:cNvPr id="28" name="Rectángulo 27">
              <a:extLst>
                <a:ext uri="{FF2B5EF4-FFF2-40B4-BE49-F238E27FC236}">
                  <a16:creationId xmlns:a16="http://schemas.microsoft.com/office/drawing/2014/main" id="{103DC835-E6CC-B87C-C827-27A394B955E3}"/>
                </a:ext>
              </a:extLst>
            </p:cNvPr>
            <p:cNvSpPr/>
            <p:nvPr/>
          </p:nvSpPr>
          <p:spPr>
            <a:xfrm rot="16200000">
              <a:off x="7540516" y="2496125"/>
              <a:ext cx="2772243" cy="333965"/>
            </a:xfrm>
            <a:prstGeom prst="rect">
              <a:avLst/>
            </a:prstGeom>
            <a:solidFill>
              <a:schemeClr val="accent1">
                <a:alpha val="95000"/>
              </a:schemeClr>
            </a:solidFill>
            <a:ln w="3175">
              <a:solidFill>
                <a:schemeClr val="bg1"/>
              </a:solidFill>
            </a:ln>
            <a:effectLst>
              <a:softEdge rad="12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000" b="1" dirty="0"/>
                <a:t>REGISTRO ART CONDUCCIÓN VEHÍCULO LIVIANO.</a:t>
              </a:r>
              <a:endParaRPr lang="es-CL" sz="1000" b="1" dirty="0"/>
            </a:p>
          </p:txBody>
        </p:sp>
      </p:grpSp>
      <p:pic>
        <p:nvPicPr>
          <p:cNvPr id="5" name="Imagen 4" descr="Imagen que contiene botella, edificio, naranja, alimentos&#10;&#10;El contenido generado por IA puede ser incorrecto.">
            <a:extLst>
              <a:ext uri="{FF2B5EF4-FFF2-40B4-BE49-F238E27FC236}">
                <a16:creationId xmlns:a16="http://schemas.microsoft.com/office/drawing/2014/main" id="{5D318E16-2650-E0B3-BD40-0CBA982872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8486" y="446287"/>
            <a:ext cx="1390747" cy="1390747"/>
          </a:xfrm>
          <a:prstGeom prst="rect">
            <a:avLst/>
          </a:prstGeom>
        </p:spPr>
      </p:pic>
      <p:pic>
        <p:nvPicPr>
          <p:cNvPr id="54" name="Imagen 53">
            <a:extLst>
              <a:ext uri="{FF2B5EF4-FFF2-40B4-BE49-F238E27FC236}">
                <a16:creationId xmlns:a16="http://schemas.microsoft.com/office/drawing/2014/main" id="{E5097420-1FA6-D09F-D565-F720AF224B90}"/>
              </a:ext>
            </a:extLst>
          </p:cNvPr>
          <p:cNvPicPr>
            <a:picLocks noChangeAspect="1"/>
          </p:cNvPicPr>
          <p:nvPr/>
        </p:nvPicPr>
        <p:blipFill>
          <a:blip r:embed="rIdMarcador"/>
          <a:stretch/>
        </p:blipFill>
        <p:spPr>
          <a:xfrm>
            <a:off x="4108028" y="3964959"/>
            <a:ext cx="3180476" cy="252876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grpSp>
        <p:nvGrpSpPr>
          <p:cNvPr id="9" name="Grupo 8">
            <a:extLst>
              <a:ext uri="{FF2B5EF4-FFF2-40B4-BE49-F238E27FC236}">
                <a16:creationId xmlns:a16="http://schemas.microsoft.com/office/drawing/2014/main" id="{73ED85FF-486E-0B0E-870B-D7B3D94AEE04}"/>
              </a:ext>
            </a:extLst>
          </p:cNvPr>
          <p:cNvGrpSpPr/>
          <p:nvPr/>
        </p:nvGrpSpPr>
        <p:grpSpPr>
          <a:xfrm>
            <a:off x="228978" y="1216360"/>
            <a:ext cx="2894966" cy="4061696"/>
            <a:chOff x="1050763" y="2463255"/>
            <a:chExt cx="2281484" cy="2896149"/>
          </a:xfrm>
        </p:grpSpPr>
        <p:sp>
          <p:nvSpPr>
            <p:cNvPr id="10" name="Rectángulo 9">
              <a:extLst>
                <a:ext uri="{FF2B5EF4-FFF2-40B4-BE49-F238E27FC236}">
                  <a16:creationId xmlns:a16="http://schemas.microsoft.com/office/drawing/2014/main" id="{D9D112A4-58B6-5BF6-84F0-7CFD4C632555}"/>
                </a:ext>
              </a:extLst>
            </p:cNvPr>
            <p:cNvSpPr/>
            <p:nvPr/>
          </p:nvSpPr>
          <p:spPr>
            <a:xfrm>
              <a:off x="1050763" y="2463255"/>
              <a:ext cx="2281484" cy="300625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900" b="1" dirty="0"/>
                <a:t>Difusión Procedimiento de Higiene Ocupacional GSSO-LTE-P-HO-DSAL-07 Ver:02</a:t>
              </a:r>
            </a:p>
          </p:txBody>
        </p:sp>
        <p:pic>
          <p:nvPicPr>
            <p:cNvPr id="11" name="Imagen 10">
              <a:extLst>
                <a:ext uri="{FF2B5EF4-FFF2-40B4-BE49-F238E27FC236}">
                  <a16:creationId xmlns:a16="http://schemas.microsoft.com/office/drawing/2014/main" id="{B248C0B7-2C1B-B30A-628B-40E3968E3A08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1050763" y="2748243"/>
              <a:ext cx="2281483" cy="2611161"/>
            </a:xfrm>
            <a:prstGeom prst="rect">
              <a:avLst/>
            </a:prstGeom>
          </p:spPr>
        </p:pic>
      </p:grpSp>
      <p:sp>
        <p:nvSpPr>
          <p:cNvPr id="29" name="CuadroTexto 28">
            <a:extLst>
              <a:ext uri="{FF2B5EF4-FFF2-40B4-BE49-F238E27FC236}">
                <a16:creationId xmlns:a16="http://schemas.microsoft.com/office/drawing/2014/main" id="{2DE52AFF-2402-0D96-0661-1BC90F1D0F18}"/>
              </a:ext>
            </a:extLst>
          </p:cNvPr>
          <p:cNvSpPr txBox="1"/>
          <p:nvPr/>
        </p:nvSpPr>
        <p:spPr>
          <a:xfrm>
            <a:off x="3463187" y="1951308"/>
            <a:ext cx="4591100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b="1" dirty="0">
                <a:solidFill>
                  <a:schemeClr val="bg1"/>
                </a:solidFill>
              </a:rPr>
              <a:t>DIFUSIÓN PROCEDIMIENTO DE HIGIENE OCUPACIONAL GSSO-LTE-P-HO-DSAL-07 VER:02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b="1" dirty="0">
                <a:solidFill>
                  <a:schemeClr val="bg1"/>
                </a:solidFill>
              </a:rPr>
              <a:t>REUNIÓN DE TRONADURA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CL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200" b="1" dirty="0">
              <a:solidFill>
                <a:schemeClr val="bg1"/>
              </a:solidFill>
            </a:endParaRPr>
          </a:p>
        </p:txBody>
      </p:sp>
      <p:grpSp>
        <p:nvGrpSpPr>
          <p:cNvPr id="8" name="Grupo 7">
            <a:extLst>
              <a:ext uri="{FF2B5EF4-FFF2-40B4-BE49-F238E27FC236}">
                <a16:creationId xmlns:a16="http://schemas.microsoft.com/office/drawing/2014/main" id="{D0841ACF-960B-157C-1333-F1E4A8FFB8E1}"/>
              </a:ext>
            </a:extLst>
          </p:cNvPr>
          <p:cNvGrpSpPr/>
          <p:nvPr/>
        </p:nvGrpSpPr>
        <p:grpSpPr>
          <a:xfrm>
            <a:off x="8479959" y="1379855"/>
            <a:ext cx="3021499" cy="3898201"/>
            <a:chOff x="8759655" y="1276985"/>
            <a:chExt cx="2304740" cy="2772244"/>
          </a:xfrm>
        </p:grpSpPr>
        <p:pic>
          <p:nvPicPr>
            <p:cNvPr id="12" name="Imagen 11">
              <a:extLst>
                <a:ext uri="{FF2B5EF4-FFF2-40B4-BE49-F238E27FC236}">
                  <a16:creationId xmlns:a16="http://schemas.microsoft.com/office/drawing/2014/main" id="{B2FD2548-CB7E-7448-3FE0-BF55CC4D800B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9093621" y="1276985"/>
              <a:ext cx="1970774" cy="2772243"/>
            </a:xfrm>
            <a:prstGeom prst="rect">
              <a:avLst/>
            </a:prstGeom>
          </p:spPr>
        </p:pic>
        <p:sp>
          <p:nvSpPr>
            <p:cNvPr id="13" name="Rectángulo 12">
              <a:extLst>
                <a:ext uri="{FF2B5EF4-FFF2-40B4-BE49-F238E27FC236}">
                  <a16:creationId xmlns:a16="http://schemas.microsoft.com/office/drawing/2014/main" id="{0F213081-3C7F-1858-5D94-1E51883B39B1}"/>
                </a:ext>
              </a:extLst>
            </p:cNvPr>
            <p:cNvSpPr/>
            <p:nvPr/>
          </p:nvSpPr>
          <p:spPr>
            <a:xfrm rot="16200000">
              <a:off x="7540516" y="2496125"/>
              <a:ext cx="2772243" cy="333965"/>
            </a:xfrm>
            <a:prstGeom prst="rect">
              <a:avLst/>
            </a:prstGeom>
            <a:solidFill>
              <a:schemeClr val="accent1">
                <a:alpha val="95000"/>
              </a:schemeClr>
            </a:solidFill>
            <a:ln w="3175">
              <a:solidFill>
                <a:schemeClr val="bg1"/>
              </a:solidFill>
            </a:ln>
            <a:effectLst>
              <a:softEdge rad="12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000" b="1" dirty="0"/>
                <a:t>MANTENIMIENTO GENERADOR LTE_CMM_06</a:t>
              </a:r>
              <a:endParaRPr lang="es-CL" sz="1000" b="1" dirty="0"/>
            </a:p>
          </p:txBody>
        </p:sp>
      </p:grpSp>
      <p:grpSp>
        <p:nvGrpSpPr>
          <p:cNvPr id="18" name="Grupo 17">
            <a:extLst>
              <a:ext uri="{FF2B5EF4-FFF2-40B4-BE49-F238E27FC236}">
                <a16:creationId xmlns:a16="http://schemas.microsoft.com/office/drawing/2014/main" id="{E53AD239-333F-FE54-E132-573D1E249BD9}"/>
              </a:ext>
            </a:extLst>
          </p:cNvPr>
          <p:cNvGrpSpPr/>
          <p:nvPr/>
        </p:nvGrpSpPr>
        <p:grpSpPr>
          <a:xfrm>
            <a:off x="501899" y="1616041"/>
            <a:ext cx="2894966" cy="3971634"/>
            <a:chOff x="1050763" y="2463255"/>
            <a:chExt cx="2281484" cy="2831931"/>
          </a:xfrm>
        </p:grpSpPr>
        <p:sp>
          <p:nvSpPr>
            <p:cNvPr id="19" name="Rectángulo 18">
              <a:extLst>
                <a:ext uri="{FF2B5EF4-FFF2-40B4-BE49-F238E27FC236}">
                  <a16:creationId xmlns:a16="http://schemas.microsoft.com/office/drawing/2014/main" id="{D79759D0-D41F-3374-C2D2-9E235BE9923B}"/>
                </a:ext>
              </a:extLst>
            </p:cNvPr>
            <p:cNvSpPr/>
            <p:nvPr/>
          </p:nvSpPr>
          <p:spPr>
            <a:xfrm>
              <a:off x="1050763" y="2463255"/>
              <a:ext cx="2281484" cy="300625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900" b="1" dirty="0"/>
                <a:t>Reunión de Tronadura</a:t>
              </a:r>
            </a:p>
          </p:txBody>
        </p:sp>
        <p:pic>
          <p:nvPicPr>
            <p:cNvPr id="20" name="Imagen 19">
              <a:extLst>
                <a:ext uri="{FF2B5EF4-FFF2-40B4-BE49-F238E27FC236}">
                  <a16:creationId xmlns:a16="http://schemas.microsoft.com/office/drawing/2014/main" id="{98E1AD21-1086-E73A-B683-47062BEC8780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1050763" y="2763880"/>
              <a:ext cx="2281483" cy="253130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758772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3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A07C77-B846-7311-CF79-F7FB08670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E80DF44F-6D07-7819-1E3D-9AEAFF13D48A}"/>
              </a:ext>
            </a:extLst>
          </p:cNvPr>
          <p:cNvSpPr/>
          <p:nvPr/>
        </p:nvSpPr>
        <p:spPr>
          <a:xfrm>
            <a:off x="2870258" y="118314"/>
            <a:ext cx="6452840" cy="6452838"/>
          </a:xfrm>
          <a:prstGeom prst="ellipse">
            <a:avLst/>
          </a:prstGeom>
          <a:solidFill>
            <a:srgbClr val="12231D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LT" sz="8000" b="1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aleway" panose="020B0503030101060003" pitchFamily="34" charset="77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C288299-6A58-B718-07A1-27639CAC167F}"/>
              </a:ext>
            </a:extLst>
          </p:cNvPr>
          <p:cNvSpPr/>
          <p:nvPr/>
        </p:nvSpPr>
        <p:spPr>
          <a:xfrm>
            <a:off x="4399135" y="590919"/>
            <a:ext cx="5376928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4000" b="1" i="0" u="none" strike="noStrike" kern="1200" cap="none" spc="-15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uLnTx/>
                <a:uFillTx/>
                <a:latin typeface="Raleway Black" panose="020B0503030101060003" pitchFamily="34" charset="77"/>
                <a:ea typeface="+mn-ea"/>
                <a:cs typeface="+mn-cs"/>
              </a:rPr>
              <a:t>DIFUSIONES</a:t>
            </a:r>
          </a:p>
          <a:p>
            <a:pPr>
              <a:defRPr/>
            </a:pPr>
            <a:r>
              <a:rPr lang="es-CL" sz="4000" b="1" spc="-150" dirty="0"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latin typeface="Raleway Black" panose="020B0503030101060003" pitchFamily="34" charset="77"/>
              </a:rPr>
              <a:t>01 SEPTIEMBRE</a:t>
            </a:r>
            <a:endParaRPr kumimoji="0" lang="en-LT" sz="4000" b="1" i="0" u="none" strike="noStrike" kern="1200" cap="none" spc="-150" normalizeH="0" baseline="0" noProof="0" dirty="0">
              <a:ln>
                <a:noFill/>
              </a:ln>
              <a:solidFill>
                <a:srgbClr val="FFFFFF"/>
              </a:solidFill>
              <a:effectLst>
                <a:outerShdw blurRad="419100" sx="102000" sy="102000" algn="ctr" rotWithShape="0">
                  <a:prstClr val="black">
                    <a:alpha val="29000"/>
                  </a:prstClr>
                </a:outerShdw>
              </a:effectLst>
              <a:uLnTx/>
              <a:uFillTx/>
              <a:latin typeface="Raleway Black" panose="020B0503030101060003" pitchFamily="34" charset="77"/>
              <a:ea typeface="+mn-ea"/>
              <a:cs typeface="+mn-cs"/>
            </a:endParaRPr>
          </a:p>
        </p:txBody>
      </p:sp>
      <p:pic>
        <p:nvPicPr>
          <p:cNvPr id="3" name="Imagen 2" descr="Imagen que contiene botella, edificio, naranja, alimentos&#10;&#10;El contenido generado por IA puede ser incorrecto.">
            <a:extLst>
              <a:ext uri="{FF2B5EF4-FFF2-40B4-BE49-F238E27FC236}">
                <a16:creationId xmlns:a16="http://schemas.microsoft.com/office/drawing/2014/main" id="{EC451B9A-CE05-260A-4622-D0B9F26E54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4561" y="-46100"/>
            <a:ext cx="1390747" cy="1390747"/>
          </a:xfrm>
          <a:prstGeom prst="rect">
            <a:avLst/>
          </a:prstGeom>
        </p:spPr>
      </p:pic>
      <p:grpSp>
        <p:nvGrpSpPr>
          <p:cNvPr id="9" name="Grupo 8">
            <a:extLst>
              <a:ext uri="{FF2B5EF4-FFF2-40B4-BE49-F238E27FC236}">
                <a16:creationId xmlns:a16="http://schemas.microsoft.com/office/drawing/2014/main" id="{B392338F-4AC7-AFEC-6EEA-818BEAFC0BB0}"/>
              </a:ext>
            </a:extLst>
          </p:cNvPr>
          <p:cNvGrpSpPr/>
          <p:nvPr/>
        </p:nvGrpSpPr>
        <p:grpSpPr>
          <a:xfrm>
            <a:off x="8921702" y="1639191"/>
            <a:ext cx="2943321" cy="4252324"/>
            <a:chOff x="8849928" y="1276984"/>
            <a:chExt cx="2105124" cy="2772244"/>
          </a:xfrm>
        </p:grpSpPr>
        <p:pic>
          <p:nvPicPr>
            <p:cNvPr id="10" name="Imagen 9">
              <a:extLst>
                <a:ext uri="{FF2B5EF4-FFF2-40B4-BE49-F238E27FC236}">
                  <a16:creationId xmlns:a16="http://schemas.microsoft.com/office/drawing/2014/main" id="{1187C874-CDA1-FCE8-D78A-FEDEEDCFD6A7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9093618" y="1276984"/>
              <a:ext cx="1861434" cy="2772243"/>
            </a:xfrm>
            <a:prstGeom prst="rect">
              <a:avLst/>
            </a:prstGeom>
          </p:spPr>
        </p:pic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5AD10BB2-7800-FC6D-06E4-387A62819CB0}"/>
                </a:ext>
              </a:extLst>
            </p:cNvPr>
            <p:cNvSpPr/>
            <p:nvPr/>
          </p:nvSpPr>
          <p:spPr>
            <a:xfrm rot="16200000">
              <a:off x="7585652" y="2541261"/>
              <a:ext cx="2772243" cy="243691"/>
            </a:xfrm>
            <a:prstGeom prst="rect">
              <a:avLst/>
            </a:prstGeom>
            <a:solidFill>
              <a:schemeClr val="accent1">
                <a:alpha val="95000"/>
              </a:schemeClr>
            </a:solidFill>
            <a:ln w="3175">
              <a:solidFill>
                <a:schemeClr val="bg1"/>
              </a:solidFill>
            </a:ln>
            <a:effectLst>
              <a:softEdge rad="12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900" b="1" dirty="0"/>
                <a:t>ART: Conducción vehículo liviano</a:t>
              </a:r>
              <a:endParaRPr lang="es-CL" sz="900" b="1" dirty="0"/>
            </a:p>
          </p:txBody>
        </p:sp>
      </p:grpSp>
      <p:grpSp>
        <p:nvGrpSpPr>
          <p:cNvPr id="5" name="Grupo 4">
            <a:extLst>
              <a:ext uri="{FF2B5EF4-FFF2-40B4-BE49-F238E27FC236}">
                <a16:creationId xmlns:a16="http://schemas.microsoft.com/office/drawing/2014/main" id="{BC35DB0C-216A-9F42-6806-E10D0F8099D5}"/>
              </a:ext>
            </a:extLst>
          </p:cNvPr>
          <p:cNvGrpSpPr/>
          <p:nvPr/>
        </p:nvGrpSpPr>
        <p:grpSpPr>
          <a:xfrm>
            <a:off x="210260" y="1541213"/>
            <a:ext cx="2893315" cy="4204090"/>
            <a:chOff x="1042915" y="2424025"/>
            <a:chExt cx="2281484" cy="2183056"/>
          </a:xfrm>
        </p:grpSpPr>
        <p:sp>
          <p:nvSpPr>
            <p:cNvPr id="19" name="Rectángulo 18">
              <a:extLst>
                <a:ext uri="{FF2B5EF4-FFF2-40B4-BE49-F238E27FC236}">
                  <a16:creationId xmlns:a16="http://schemas.microsoft.com/office/drawing/2014/main" id="{20252B30-FD39-CD56-380A-E084173C21D6}"/>
                </a:ext>
              </a:extLst>
            </p:cNvPr>
            <p:cNvSpPr/>
            <p:nvPr/>
          </p:nvSpPr>
          <p:spPr>
            <a:xfrm>
              <a:off x="1042915" y="2424025"/>
              <a:ext cx="2281484" cy="221797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100" b="1" dirty="0"/>
                <a:t>REUNIÓN DE TRONADURA</a:t>
              </a:r>
            </a:p>
            <a:p>
              <a:pPr algn="ctr"/>
              <a:endParaRPr lang="es-ES" sz="200" dirty="0"/>
            </a:p>
          </p:txBody>
        </p:sp>
        <p:pic>
          <p:nvPicPr>
            <p:cNvPr id="20" name="Imagen 19">
              <a:extLst>
                <a:ext uri="{FF2B5EF4-FFF2-40B4-BE49-F238E27FC236}">
                  <a16:creationId xmlns:a16="http://schemas.microsoft.com/office/drawing/2014/main" id="{088818AE-A4A8-AB06-AB64-57A7009F9DC7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1056122" y="2638837"/>
              <a:ext cx="2268277" cy="1968244"/>
            </a:xfrm>
            <a:prstGeom prst="rect">
              <a:avLst/>
            </a:prstGeom>
          </p:spPr>
        </p:pic>
      </p:grpSp>
      <p:pic>
        <p:nvPicPr>
          <p:cNvPr id="16" name="Imagen 15">
            <a:extLst>
              <a:ext uri="{FF2B5EF4-FFF2-40B4-BE49-F238E27FC236}">
                <a16:creationId xmlns:a16="http://schemas.microsoft.com/office/drawing/2014/main" id="{BF64879F-45BF-8BF3-B08E-5A30F79B57DB}"/>
              </a:ext>
            </a:extLst>
          </p:cNvPr>
          <p:cNvPicPr>
            <a:picLocks noChangeAspect="1"/>
          </p:cNvPicPr>
          <p:nvPr/>
        </p:nvPicPr>
        <p:blipFill>
          <a:blip r:embed="rIdMarcador"/>
          <a:stretch/>
        </p:blipFill>
        <p:spPr>
          <a:xfrm>
            <a:off x="4538143" y="3268528"/>
            <a:ext cx="2417361" cy="28198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31" name="CuadroTexto 30">
            <a:extLst>
              <a:ext uri="{FF2B5EF4-FFF2-40B4-BE49-F238E27FC236}">
                <a16:creationId xmlns:a16="http://schemas.microsoft.com/office/drawing/2014/main" id="{2AC474C9-70E7-2B06-B955-F5A20354C04F}"/>
              </a:ext>
            </a:extLst>
          </p:cNvPr>
          <p:cNvSpPr txBox="1"/>
          <p:nvPr/>
        </p:nvSpPr>
        <p:spPr>
          <a:xfrm>
            <a:off x="3517289" y="2263940"/>
            <a:ext cx="5157422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b="1" dirty="0">
                <a:solidFill>
                  <a:schemeClr val="bg1"/>
                </a:solidFill>
              </a:rPr>
              <a:t>REUNIÓN DE TRONADURA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b="1" dirty="0">
                <a:solidFill>
                  <a:schemeClr val="bg1"/>
                </a:solidFill>
              </a:rPr>
              <a:t>DIFUSIÓN ESTÁNDAR DE PREVENCIÓN DE FATALIDAD 5: EQUIPOS Y HERRAMIENTAS PORTÁTILES Y MANUALES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CL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200" b="1" dirty="0">
              <a:solidFill>
                <a:schemeClr val="bg1"/>
              </a:solidFill>
            </a:endParaRPr>
          </a:p>
        </p:txBody>
      </p:sp>
      <p:grpSp>
        <p:nvGrpSpPr>
          <p:cNvPr id="6" name="Grupo 5">
            <a:extLst>
              <a:ext uri="{FF2B5EF4-FFF2-40B4-BE49-F238E27FC236}">
                <a16:creationId xmlns:a16="http://schemas.microsoft.com/office/drawing/2014/main" id="{FEE89D82-2C99-0CF6-BD4F-6B8C9859D913}"/>
              </a:ext>
            </a:extLst>
          </p:cNvPr>
          <p:cNvGrpSpPr/>
          <p:nvPr/>
        </p:nvGrpSpPr>
        <p:grpSpPr>
          <a:xfrm>
            <a:off x="540527" y="1933106"/>
            <a:ext cx="2902348" cy="3977187"/>
            <a:chOff x="1042915" y="2424025"/>
            <a:chExt cx="2288607" cy="2065232"/>
          </a:xfrm>
        </p:grpSpPr>
        <p:sp>
          <p:nvSpPr>
            <p:cNvPr id="7" name="Rectángulo 6">
              <a:extLst>
                <a:ext uri="{FF2B5EF4-FFF2-40B4-BE49-F238E27FC236}">
                  <a16:creationId xmlns:a16="http://schemas.microsoft.com/office/drawing/2014/main" id="{947DD0C7-EB12-DD18-C3A5-33EF1C890655}"/>
                </a:ext>
              </a:extLst>
            </p:cNvPr>
            <p:cNvSpPr/>
            <p:nvPr/>
          </p:nvSpPr>
          <p:spPr>
            <a:xfrm>
              <a:off x="1042915" y="2424025"/>
              <a:ext cx="2281484" cy="221797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900" b="1" dirty="0"/>
                <a:t>DIFUSIÓN ESTÁNDAR DE PREVENCIÓN DE FATALIDAD 5: EQUIPOS Y HERRAMIENTAS PORTÁTILES Y MANUALES</a:t>
              </a:r>
            </a:p>
            <a:p>
              <a:pPr algn="ctr"/>
              <a:endParaRPr lang="es-ES" sz="200" dirty="0"/>
            </a:p>
          </p:txBody>
        </p:sp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A82B3458-D3EB-35BD-EAA2-B55200931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1077492" y="2645822"/>
              <a:ext cx="2254030" cy="1843435"/>
            </a:xfrm>
            <a:prstGeom prst="rect">
              <a:avLst/>
            </a:prstGeom>
          </p:spPr>
        </p:pic>
      </p:grpSp>
      <p:pic>
        <p:nvPicPr>
          <p:cNvPr id="13" name="Imagen 12">
            <a:extLst>
              <a:ext uri="{FF2B5EF4-FFF2-40B4-BE49-F238E27FC236}">
                <a16:creationId xmlns:a16="http://schemas.microsoft.com/office/drawing/2014/main" id="{E27CF0A5-C4F9-374E-B60F-EBDA219AF0DF}"/>
              </a:ext>
            </a:extLst>
          </p:cNvPr>
          <p:cNvPicPr>
            <a:picLocks noChangeAspect="1"/>
          </p:cNvPicPr>
          <p:nvPr/>
        </p:nvPicPr>
        <p:blipFill>
          <a:blip r:embed="rIdMarcador"/>
          <a:stretch>
            <a:fillRect/>
          </a:stretch>
        </p:blipFill>
        <p:spPr>
          <a:xfrm>
            <a:off x="584377" y="5909717"/>
            <a:ext cx="2858498" cy="825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34915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3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192000" cy="6858000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F9564D77-0573-4C8B-B550-99A49E126169}"/>
              </a:ext>
            </a:extLst>
          </p:cNvPr>
          <p:cNvSpPr txBox="1"/>
          <p:nvPr/>
        </p:nvSpPr>
        <p:spPr>
          <a:xfrm>
            <a:off x="3258900" y="2781401"/>
            <a:ext cx="317752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000" b="1" dirty="0">
                <a:solidFill>
                  <a:schemeClr val="bg1"/>
                </a:solidFill>
                <a:latin typeface="Trebuchet MS" charset="0"/>
                <a:ea typeface="Trebuchet MS" charset="0"/>
                <a:cs typeface="Trebuchet MS" charset="0"/>
              </a:rPr>
              <a:t>MINERÍA 4.0</a:t>
            </a:r>
            <a:endParaRPr lang="es-ES_tradnl" sz="3000" b="1" dirty="0">
              <a:solidFill>
                <a:schemeClr val="bg1"/>
              </a:solidFill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2" name="Rectángulo 1"/>
          <p:cNvSpPr/>
          <p:nvPr/>
        </p:nvSpPr>
        <p:spPr>
          <a:xfrm>
            <a:off x="-1" y="4449159"/>
            <a:ext cx="6436427" cy="1517179"/>
          </a:xfrm>
          <a:prstGeom prst="rect">
            <a:avLst/>
          </a:prstGeom>
          <a:solidFill>
            <a:srgbClr val="2F3771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s-ES_tradnl" dirty="0"/>
          </a:p>
        </p:txBody>
      </p:sp>
      <p:sp>
        <p:nvSpPr>
          <p:cNvPr id="7" name="Text Box 6">
            <a:extLst>
              <a:ext uri="{FF2B5EF4-FFF2-40B4-BE49-F238E27FC236}">
                <a16:creationId xmlns:a16="http://schemas.microsoft.com/office/drawing/2014/main" id="{E2D34D79-96DA-4669-BC0E-14A2030F5E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8213" y="4449161"/>
            <a:ext cx="5908213" cy="15171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CL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lnSpc>
                <a:spcPts val="3840"/>
              </a:lnSpc>
            </a:pPr>
            <a:r>
              <a:rPr lang="es-MX" altLang="es-CL" sz="3200" b="1" dirty="0">
                <a:latin typeface="Trebuchet MS" charset="0"/>
                <a:ea typeface="Trebuchet MS" charset="0"/>
                <a:cs typeface="Trebuchet MS" charset="0"/>
              </a:rPr>
              <a:t>MEJORAMIENTO CONTINUO </a:t>
            </a:r>
          </a:p>
          <a:p>
            <a:pPr algn="l">
              <a:lnSpc>
                <a:spcPts val="3840"/>
              </a:lnSpc>
            </a:pPr>
            <a:r>
              <a:rPr lang="es-MX" altLang="es-CL" sz="3200" b="1" dirty="0">
                <a:latin typeface="Trebuchet MS" charset="0"/>
                <a:ea typeface="Trebuchet MS" charset="0"/>
                <a:cs typeface="Trebuchet MS" charset="0"/>
              </a:rPr>
              <a:t>PRACTICAS OPERACIONALES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E73BFEA7-CC62-1142-BB29-C61AF27247F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445" y="305659"/>
            <a:ext cx="5821555" cy="2306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16334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Blue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>
            <a:alpha val="55000"/>
          </a:schemeClr>
        </a:solidFill>
        <a:ln w="76200">
          <a:solidFill>
            <a:schemeClr val="bg1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Blue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>
            <a:alpha val="55000"/>
          </a:schemeClr>
        </a:solidFill>
        <a:ln w="76200">
          <a:solidFill>
            <a:schemeClr val="bg1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165065</TotalTime>
  <Words>1811</Words>
  <Application>Microsoft Office PowerPoint</Application>
  <PresentationFormat>Panorámica</PresentationFormat>
  <Paragraphs>503</Paragraphs>
  <Slides>31</Slides>
  <Notes>19</Notes>
  <HiddenSlides>0</HiddenSlides>
  <MMClips>0</MMClips>
  <ScaleCrop>false</ScaleCrop>
  <HeadingPairs>
    <vt:vector size="6" baseType="variant">
      <vt:variant>
        <vt:lpstr>Fuentes usadas</vt:lpstr>
      </vt:variant>
      <vt:variant>
        <vt:i4>10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31</vt:i4>
      </vt:variant>
    </vt:vector>
  </HeadingPairs>
  <TitlesOfParts>
    <vt:vector size="43" baseType="lpstr">
      <vt:lpstr>Aptos</vt:lpstr>
      <vt:lpstr>Aptos Narrow</vt:lpstr>
      <vt:lpstr>Calibri Light</vt:lpstr>
      <vt:lpstr>Arial MT</vt:lpstr>
      <vt:lpstr>Calibri</vt:lpstr>
      <vt:lpstr>ADLaM Display</vt:lpstr>
      <vt:lpstr>Raleway Black</vt:lpstr>
      <vt:lpstr>Arial</vt:lpstr>
      <vt:lpstr>Trebuchet MS</vt:lpstr>
      <vt:lpstr>Raleway</vt:lpstr>
      <vt:lpstr>Office Theme</vt:lpstr>
      <vt:lpstr>1_Office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Vanesa Aguilar Veloso</dc:creator>
  <cp:lastModifiedBy>Williams Vicente Barraza Gallardo</cp:lastModifiedBy>
  <cp:revision>171</cp:revision>
  <cp:lastPrinted>2025-12-25T23:29:48Z</cp:lastPrinted>
  <dcterms:created xsi:type="dcterms:W3CDTF">2023-10-03T06:31:12Z</dcterms:created>
  <dcterms:modified xsi:type="dcterms:W3CDTF">2026-09-01T18:59:55Z</dcterms:modified>
</cp:coreProperties>
</file>